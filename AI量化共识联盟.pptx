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06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5468112"/>
            <a:ext cx="54864" cy="54864"/>
          </a:xfrm>
          <a:prstGeom prst="rect">
            <a:avLst/>
          </a:prstGeom>
          <a:solidFill>
            <a:srgbClr val="304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6968" y="5468112"/>
            <a:ext cx="54864" cy="54864"/>
          </a:xfrm>
          <a:prstGeom prst="rect">
            <a:avLst/>
          </a:prstGeom>
          <a:solidFill>
            <a:srgbClr val="304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07007" y="5468112"/>
            <a:ext cx="54864" cy="54864"/>
          </a:xfrm>
          <a:prstGeom prst="rect">
            <a:avLst/>
          </a:prstGeom>
          <a:solidFill>
            <a:srgbClr val="304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502920"/>
            <a:ext cx="8229600" cy="227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 dirty="0">
                <a:solidFill>
                  <a:srgbClr val="9AA8BE"/>
                </a:solidFill>
                <a:latin typeface="Noto Sans CJK SC"/>
                <a:ea typeface="Noto Sans CJK SC"/>
                <a:cs typeface="Noto Sans CJK SC"/>
              </a:rPr>
              <a:t>道一（江苏）资产管理有限公司  |  DAOYI (JIANGSU) ASSET MANAGEMENT CO., LTD.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11155680" cy="779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1" i="0" dirty="0" err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AI量化</a:t>
            </a:r>
            <a:r>
              <a:rPr lang="zh-CN" altLang="en-US" sz="4800" b="1" i="0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共识联盟</a:t>
            </a:r>
            <a:endParaRPr sz="4800" b="1" i="0" dirty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6968" y="3168031"/>
            <a:ext cx="11155680" cy="26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 dirty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AI</a:t>
            </a:r>
            <a:r>
              <a:rPr lang="en-US" sz="1600" b="0" i="0" dirty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 </a:t>
            </a:r>
            <a:r>
              <a:rPr lang="en-US" altLang="zh-CN" sz="1600" b="0" i="0" dirty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Quant Consensus Alliance</a:t>
            </a:r>
            <a:endParaRPr sz="1600" b="0" i="0" dirty="0">
              <a:solidFill>
                <a:srgbClr val="E3C55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94360" y="3858768"/>
            <a:ext cx="10515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06908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D5DDEA"/>
                </a:solidFill>
                <a:latin typeface="Noto Sans CJK SC"/>
                <a:ea typeface="Noto Sans CJK SC"/>
                <a:cs typeface="Noto Sans CJK SC"/>
              </a:rPr>
              <a:t>以数理模型为基 · 以AI智能为翼 · 以合规为界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709160"/>
            <a:ext cx="10607040" cy="658368"/>
          </a:xfrm>
          <a:prstGeom prst="roundRect">
            <a:avLst>
              <a:gd name="adj" fmla="val 50000"/>
            </a:avLst>
          </a:prstGeom>
          <a:solidFill>
            <a:srgbClr val="223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4709160"/>
            <a:ext cx="82296" cy="65836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924659"/>
            <a:ext cx="10058400" cy="2273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 dirty="0" err="1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合作诉求：</a:t>
            </a:r>
            <a:r>
              <a:rPr sz="1400" b="0" i="0" dirty="0" err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招募合伙人公司共建</a:t>
            </a:r>
            <a:r>
              <a:rPr lang="zh-CN" altLang="en-US" sz="1400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联盟</a:t>
            </a:r>
            <a:r>
              <a:rPr sz="1400" b="0" i="0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  ·  </a:t>
            </a:r>
            <a:r>
              <a:rPr sz="1400" b="0" i="0" dirty="0" err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创建全</a:t>
            </a:r>
            <a:r>
              <a:rPr lang="zh-CN" altLang="en-US" sz="1400" b="0" i="0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球</a:t>
            </a:r>
            <a:r>
              <a:rPr sz="1400" b="0" i="0" dirty="0" err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AI量化联盟</a:t>
            </a:r>
            <a:r>
              <a:rPr sz="1400" b="0" i="0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  ·  </a:t>
            </a:r>
            <a:r>
              <a:rPr sz="1400" b="0" i="0" dirty="0" err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设立量化基金</a:t>
            </a:r>
            <a:endParaRPr sz="1400" b="0" i="0" dirty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59893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A93A6"/>
                </a:solidFill>
                <a:latin typeface="Noto Sans CJK SC"/>
                <a:ea typeface="Noto Sans CJK SC"/>
                <a:cs typeface="Noto Sans CJK SC"/>
              </a:rPr>
              <a:t>基于 John Ding 数理金融模型体系与华尔街量化团队  ·  2026  ·  机密文件（仅供合作评估使用）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2D37323-312E-5CE2-441F-B226A1299D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227" y="-1101852"/>
            <a:ext cx="6858000" cy="6858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41F11C4-7E59-BF4F-6ECD-AF7D2B23CDF4}"/>
              </a:ext>
            </a:extLst>
          </p:cNvPr>
          <p:cNvSpPr txBox="1"/>
          <p:nvPr/>
        </p:nvSpPr>
        <p:spPr>
          <a:xfrm>
            <a:off x="548102" y="740497"/>
            <a:ext cx="8229600" cy="227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zh-CN" altLang="en-US" sz="1400" dirty="0">
                <a:solidFill>
                  <a:srgbClr val="9AA8BE"/>
                </a:solidFill>
                <a:latin typeface="Noto Sans CJK SC"/>
                <a:ea typeface="Noto Sans CJK SC"/>
                <a:cs typeface="Noto Sans CJK SC"/>
              </a:rPr>
              <a:t>香港道一国际有限公司  </a:t>
            </a:r>
            <a:r>
              <a:rPr sz="1400" b="0" i="0" dirty="0">
                <a:solidFill>
                  <a:srgbClr val="9AA8BE"/>
                </a:solidFill>
                <a:latin typeface="Noto Sans CJK SC"/>
                <a:ea typeface="Noto Sans CJK SC"/>
                <a:cs typeface="Noto Sans CJK SC"/>
              </a:rPr>
              <a:t>|  DAOYI</a:t>
            </a:r>
            <a:r>
              <a:rPr lang="en-US" sz="1400" b="0" i="0" dirty="0">
                <a:solidFill>
                  <a:srgbClr val="9AA8BE"/>
                </a:solidFill>
                <a:latin typeface="Noto Sans CJK SC"/>
                <a:ea typeface="Noto Sans CJK SC"/>
                <a:cs typeface="Noto Sans CJK SC"/>
              </a:rPr>
              <a:t> INTERNATIONAL LLC</a:t>
            </a:r>
            <a:endParaRPr sz="1400" b="0" i="0" dirty="0">
              <a:solidFill>
                <a:srgbClr val="9AA8B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66B4D7-D6D5-7CB6-0661-AF09F9B45748}"/>
              </a:ext>
            </a:extLst>
          </p:cNvPr>
          <p:cNvSpPr txBox="1"/>
          <p:nvPr/>
        </p:nvSpPr>
        <p:spPr>
          <a:xfrm>
            <a:off x="558860" y="981903"/>
            <a:ext cx="8229600" cy="227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zh-CN" altLang="en-US" sz="1400" b="0" i="0" dirty="0">
                <a:solidFill>
                  <a:srgbClr val="9AA8BE"/>
                </a:solidFill>
                <a:latin typeface="Noto Sans CJK SC"/>
                <a:ea typeface="Noto Sans CJK SC"/>
                <a:cs typeface="Noto Sans CJK SC"/>
              </a:rPr>
              <a:t>美国道一有限公司  </a:t>
            </a:r>
            <a:r>
              <a:rPr lang="en-US" altLang="zh-CN" sz="1400" b="0" i="0" dirty="0">
                <a:solidFill>
                  <a:srgbClr val="9AA8BE"/>
                </a:solidFill>
                <a:latin typeface="Noto Sans CJK SC"/>
                <a:ea typeface="Noto Sans CJK SC"/>
                <a:cs typeface="Noto Sans CJK SC"/>
              </a:rPr>
              <a:t>|  </a:t>
            </a:r>
            <a:r>
              <a:rPr lang="en-US" sz="1400" dirty="0">
                <a:solidFill>
                  <a:srgbClr val="9AA8BE"/>
                </a:solidFill>
                <a:latin typeface="Noto Sans CJK SC"/>
                <a:ea typeface="Noto Sans CJK SC"/>
                <a:cs typeface="Noto Sans CJK SC"/>
              </a:rPr>
              <a:t>DAOYI  LLC</a:t>
            </a:r>
            <a:endParaRPr sz="1400" b="0" i="0" dirty="0">
              <a:solidFill>
                <a:srgbClr val="9AA8BE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77639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3977639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188720" y="4480560"/>
            <a:ext cx="3840480" cy="3840480"/>
          </a:xfrm>
          <a:prstGeom prst="ellipse">
            <a:avLst/>
          </a:prstGeom>
          <a:noFill/>
          <a:ln w="17780">
            <a:solidFill>
              <a:srgbClr val="2A3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8716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017520"/>
            <a:ext cx="8229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3246120"/>
            <a:ext cx="31089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B9C4D6"/>
                </a:solidFill>
                <a:latin typeface="Noto Sans CJK SC"/>
                <a:ea typeface="Noto Sans CJK SC"/>
                <a:cs typeface="Noto Sans CJK SC"/>
              </a:rPr>
              <a:t>AI重塑金融 · 量化定义未来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88A2"/>
                </a:solidFill>
                <a:latin typeface="Noto Sans CJK SC"/>
                <a:ea typeface="Noto Sans CJK SC"/>
                <a:cs typeface="Noto Sans CJK SC"/>
              </a:rPr>
              <a:t>The Wave · The Platform · The Alliance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960120"/>
            <a:ext cx="7086600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0" y="1179576"/>
            <a:ext cx="1371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252728"/>
            <a:ext cx="25603" cy="86868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143000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行业大势</a:t>
            </a:r>
            <a:r>
              <a:rPr sz="125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   The Wave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18488"/>
            <a:ext cx="51206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全球AI量化浪潮 · 中国量化爆发 · 前沿研究 · 政策监管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1527048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P03 – P08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2660904"/>
            <a:ext cx="7086600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0" y="2880360"/>
            <a:ext cx="1371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2953512"/>
            <a:ext cx="25603" cy="86868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2843784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平台介绍</a:t>
            </a:r>
            <a:r>
              <a:rPr sz="125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   The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319272"/>
            <a:ext cx="51206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定位愿景 · 核心模型 · 功能模块 · 技术底座 · 团队 · 商业模式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3227832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P09 – P16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4361688"/>
            <a:ext cx="7086600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46320" y="4581144"/>
            <a:ext cx="1371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4654296"/>
            <a:ext cx="25603" cy="86868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4544568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共建计划</a:t>
            </a:r>
            <a:r>
              <a:rPr sz="125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   The Alliance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020056"/>
            <a:ext cx="5120640" cy="1990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dirty="0" err="1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路线图</a:t>
            </a:r>
            <a:r>
              <a:rPr sz="1200" b="0" i="0" dirty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 · </a:t>
            </a:r>
            <a:r>
              <a:rPr sz="1200" b="0" i="0" dirty="0" err="1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招募合伙人</a:t>
            </a:r>
            <a:r>
              <a:rPr sz="1200" b="0" i="0" dirty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 · </a:t>
            </a:r>
            <a:r>
              <a:rPr sz="1200" b="0" i="0" dirty="0" err="1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全国AI量化联盟</a:t>
            </a:r>
            <a:r>
              <a:rPr sz="1200" b="0" i="0" dirty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 · </a:t>
            </a:r>
            <a:r>
              <a:rPr sz="1200" b="0" i="0" dirty="0" err="1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量化基金</a:t>
            </a:r>
            <a:endParaRPr sz="1200" b="0" i="0" dirty="0">
              <a:solidFill>
                <a:srgbClr val="6B768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698480" y="4928616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P17 – P22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8A93A6"/>
                </a:solidFill>
                <a:latin typeface="Noto Sans CJK SC"/>
                <a:ea typeface="Noto Sans CJK SC"/>
                <a:cs typeface="Noto Sans CJK SC"/>
              </a:rPr>
              <a:t>道一（江苏）资产管理有限公司  ·  AI量化投资与交易创新平台  ·  2026  ·  机密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55664"/>
            <a:ext cx="576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31089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800" b="1" i="0">
                <a:solidFill>
                  <a:srgbClr val="25365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880360"/>
            <a:ext cx="82296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127248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行业大势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005072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THE WAVE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553712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B9C4D6"/>
                </a:solidFill>
                <a:latin typeface="Noto Sans CJK SC"/>
                <a:ea typeface="Noto Sans CJK SC"/>
                <a:cs typeface="Noto Sans CJK SC"/>
              </a:rPr>
              <a:t>AI量化已成主流：全球资本与技术的双重竞速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5230368"/>
            <a:ext cx="10515600" cy="685800"/>
          </a:xfrm>
          <a:prstGeom prst="roundRect">
            <a:avLst>
              <a:gd name="adj" fmla="val 50000"/>
            </a:avLst>
          </a:prstGeom>
          <a:solidFill>
            <a:srgbClr val="1E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5230368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5DDEA"/>
                </a:solidFill>
                <a:latin typeface="Noto Sans CJK SC"/>
                <a:ea typeface="Noto Sans CJK SC"/>
                <a:cs typeface="Noto Sans CJK SC"/>
              </a:rPr>
              <a:t>全球头部机构全面AI化</a:t>
            </a:r>
            <a:r>
              <a:rPr sz="1300" b="0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   ·   </a:t>
            </a:r>
            <a:r>
              <a:rPr sz="1300" b="0" i="0">
                <a:solidFill>
                  <a:srgbClr val="D5DDEA"/>
                </a:solidFill>
                <a:latin typeface="Noto Sans CJK SC"/>
                <a:ea typeface="Noto Sans CJK SC"/>
                <a:cs typeface="Noto Sans CJK SC"/>
              </a:rPr>
              <a:t>中国量化规模突破3万亿</a:t>
            </a:r>
            <a:r>
              <a:rPr sz="1300" b="0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   ·   </a:t>
            </a:r>
            <a:r>
              <a:rPr sz="1300" b="0" i="0">
                <a:solidFill>
                  <a:srgbClr val="D5DDEA"/>
                </a:solidFill>
                <a:latin typeface="Noto Sans CJK SC"/>
                <a:ea typeface="Noto Sans CJK SC"/>
                <a:cs typeface="Noto Sans CJK SC"/>
              </a:rPr>
              <a:t>前沿研究进入Agent时代</a:t>
            </a:r>
            <a:r>
              <a:rPr sz="1300" b="0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   ·   </a:t>
            </a:r>
            <a:r>
              <a:rPr sz="1300" b="0" i="0">
                <a:solidFill>
                  <a:srgbClr val="D5DDEA"/>
                </a:solidFill>
                <a:latin typeface="Noto Sans CJK SC"/>
                <a:ea typeface="Noto Sans CJK SC"/>
                <a:cs typeface="Noto Sans CJK SC"/>
              </a:rPr>
              <a:t>监管新规重塑行业格局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5A6884"/>
                </a:solidFill>
                <a:latin typeface="Noto Sans CJK SC"/>
                <a:ea typeface="Noto Sans CJK SC"/>
                <a:cs typeface="Noto Sans CJK SC"/>
              </a:rPr>
              <a:t>道一（江苏）资产管理有限公司  ·  AI量化投资与交易创新平台  ·  2026  ·  机密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55664"/>
            <a:ext cx="576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F631242-B0A6-3DCC-3520-4F267A5079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424" y="-672084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02336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01 行业大势 · THE WAVE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全球AI量化浪潮：顶级机构已在生产环境部署AI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Global Momentum: AI in Production at Leading Quant Firms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1672" cy="201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810512"/>
            <a:ext cx="5989320" cy="103327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810512"/>
            <a:ext cx="68580" cy="1033271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5577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顶级机构全面AI化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267712"/>
            <a:ext cx="5623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Jane Street、Man Group、Two Sigma、Citadel、Bridgewater 等已在生产环境部署AI交易系统，覆盖信号生成、组合优化与执行全链路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44368"/>
            <a:ext cx="5989320" cy="103327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2944368"/>
            <a:ext cx="68580" cy="1033271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3063239"/>
            <a:ext cx="5577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Two Sigma 2026展望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401568"/>
            <a:ext cx="5623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全员使用LLM加速投研；可解释性成为能力竞赛；多模态统一表征决定Agent能否真正进入交易环境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78224"/>
            <a:ext cx="5989320" cy="103327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4078224"/>
            <a:ext cx="68580" cy="1033271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4197096"/>
            <a:ext cx="5577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微软 Qlib × RD-Agent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535424"/>
            <a:ext cx="5623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开源量化平台Qlib（11k+ Star）集成RD-Agent，大模型自动挖掘因子、迭代模型、解析研报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12080"/>
            <a:ext cx="5989320" cy="103327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5212080"/>
            <a:ext cx="68580" cy="1033271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5330952"/>
            <a:ext cx="5577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众包与AI对冲模式验证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5669280"/>
            <a:ext cx="5623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WorldQuant Brain 众包全球Alpha，Numerai以数据竞赛众包机器学习模型，商业可行性已被长期验证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84848" y="1810512"/>
            <a:ext cx="4864608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chart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1938528"/>
            <a:ext cx="4498848" cy="348077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967728" y="5742432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量化基金服务市场2024–2032年预计翻近一倍，AI投研是核心增长引擎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8A93A6"/>
                </a:solidFill>
                <a:latin typeface="Noto Sans CJK SC"/>
                <a:ea typeface="Noto Sans CJK SC"/>
                <a:cs typeface="Noto Sans CJK SC"/>
              </a:rPr>
              <a:t>道一（江苏）资产管理有限公司  ·  AI量化投资与交易创新平台  ·  2026  ·  机密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76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02336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01 行业大势 · THE WAVE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中国量化行业爆发：3万亿时代，从规模竞速到能力淘汰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China Quant Boom: The RMB 3 Trillion Era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1672" cy="201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810512"/>
            <a:ext cx="2633472" cy="1280160"/>
          </a:xfrm>
          <a:prstGeom prst="roundRect">
            <a:avLst>
              <a:gd name="adj" fmla="val 9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929384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3万亿+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3230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量化私募总规模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1576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9FADC4"/>
                </a:solidFill>
                <a:latin typeface="Noto Sans CJK SC"/>
                <a:ea typeface="Noto Sans CJK SC"/>
                <a:cs typeface="Noto Sans CJK SC"/>
              </a:rPr>
              <a:t>2026年中，已成私募第一大策略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810512"/>
            <a:ext cx="2633472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11296" y="1929384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71家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243230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百亿量化私募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296" y="271576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2026Q2创历史新高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18688"/>
            <a:ext cx="2633472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333756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14家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8404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500亿以上量化机构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12394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较2025年末实现翻倍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10128" y="3218688"/>
            <a:ext cx="2633472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11296" y="333756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4000亿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1296" y="38404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公募量化基金规模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11296" y="412394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产品数量超过700只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81728"/>
            <a:ext cx="5394960" cy="1572768"/>
          </a:xfrm>
          <a:prstGeom prst="roundRect">
            <a:avLst>
              <a:gd name="adj" fmla="val 8000"/>
            </a:avLst>
          </a:prstGeom>
          <a:solidFill>
            <a:srgbClr val="FA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4681728"/>
            <a:ext cx="68580" cy="157276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" y="4846320"/>
            <a:ext cx="4937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行业判断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量化行业已进入「拼研发、拼创新、拼AI」的新阶段：量价类因子持续回撤、策略同质化加剧，传统多因子模型时代远去，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AI能力成为超额收益的核心变量。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1810512"/>
            <a:ext cx="54406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chart_cn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83664"/>
            <a:ext cx="3690551" cy="2048256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199632" y="4133087"/>
            <a:ext cx="54406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chart_baiy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206240"/>
            <a:ext cx="3555780" cy="197510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8640" y="6455664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8A93A6"/>
                </a:solidFill>
                <a:latin typeface="Noto Sans CJK SC"/>
                <a:ea typeface="Noto Sans CJK SC"/>
                <a:cs typeface="Noto Sans CJK SC"/>
              </a:rPr>
              <a:t>道一（江苏）资产管理有限公司  ·  AI量化投资与交易创新平台  ·  2026  ·  机密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55664"/>
            <a:ext cx="576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02336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01 行业大势 · THE WAVE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前沿研究速览：2025–2026年AI量化五大技术路线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Research Frontier: Five Technical Routes of AI Quant (2025–2026)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1672" cy="201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10512"/>
          <a:ext cx="11091672" cy="393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研究方向 / Direction</a:t>
                      </a:r>
                    </a:p>
                  </a:txBody>
                  <a:tcPr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代表成果 / Representative Work</a:t>
                      </a:r>
                    </a:p>
                  </a:txBody>
                  <a:tcPr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核心思路 / Core Idea</a:t>
                      </a:r>
                    </a:p>
                  </a:txBody>
                  <a:tcPr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落地启示 / Implication</a:t>
                      </a:r>
                    </a:p>
                  </a:txBody>
                  <a:tcPr marR="73152"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LLM金融推理
LLM Financial Reasoning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Trading-R1
(arXiv 2509.11420)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受DeepSeek-R1启发，构建「慢思考」推理链：环境识别→历史模式→策略生成→仓位调整，决策随波动率自适应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「分析师Agent」雏形，中低频决策辅助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统计+强化学习融合
Statistical + RL Fusion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QTMRL
(arXiv 2508.20467)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HMM识别市场状态，RL动态调整统计信号权重与阈值，双模架构应对黑天鹅与概念漂移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提升极端行情下的模型韧性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多智能体高频框架
Multi-Agent HFT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QuantAgent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数据/信号/执行/风控四类Agent分工协作，价格驱动而非文本驱动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多Agent分工已成共识，风控Agent可一票否决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LLM自动因子挖掘
Auto Factor Mining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微软 RD-Agent × Qlib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大模型自动挖掘因子、优化模型结构、解析研报信号，研发流程自动化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因子研发效率提升数倍，已在Qlib落地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强化学习交易决策
RL for Execution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PPO / SAC 等算法族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深度强化学习用于组合优化与订单执行，捕捉时序最优买卖点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执行层持续渗透，AI原生化加速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742432"/>
            <a:ext cx="11091672" cy="51206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742432"/>
            <a:ext cx="105156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2026年行业共识：</a:t>
            </a:r>
            <a:r>
              <a:rPr sz="1200" b="0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LLM Agent不做高频逐笔，聚焦决策辅助、异常检测与策略研究；波动率感知是被低估的关键参数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8A93A6"/>
                </a:solidFill>
                <a:latin typeface="Noto Sans CJK SC"/>
                <a:ea typeface="Noto Sans CJK SC"/>
                <a:cs typeface="Noto Sans CJK SC"/>
              </a:rPr>
              <a:t>道一（江苏）资产管理有限公司  ·  AI量化投资与交易创新平台  ·  2026  ·  机密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576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02336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01 行业大势 · THE WAVE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范式转移与结构性痛点：从「人写策略」到「AI原生投研」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Paradigm Shift: From Handcrafted to AI-Native Investing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1672" cy="201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传统模式  Traditional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463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人工研报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084831"/>
            <a:ext cx="5486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8FA8CC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084831"/>
            <a:ext cx="1463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手工因子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084831"/>
            <a:ext cx="5486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8FA8CC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084831"/>
            <a:ext cx="1463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经验决策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084831"/>
            <a:ext cx="5486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8FA8CC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084831"/>
            <a:ext cx="1463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人工下单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980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AI原生模式  AI-Native Workflow（本平台技术路线）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99816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099816"/>
            <a:ext cx="158452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全维数据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4564" y="3099816"/>
            <a:ext cx="228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3164" y="3099816"/>
            <a:ext cx="158452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AI智能解析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9089" y="3099816"/>
            <a:ext cx="228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7689" y="3099816"/>
            <a:ext cx="158452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数理建模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3613" y="3099816"/>
            <a:ext cx="228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2213" y="3099816"/>
            <a:ext cx="158452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策略自生成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8138" y="3099816"/>
            <a:ext cx="228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6738" y="3099816"/>
            <a:ext cx="158452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多维回测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2662" y="3099816"/>
            <a:ext cx="228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1262" y="3099816"/>
            <a:ext cx="158452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风控约束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7187" y="3099816"/>
            <a:ext cx="228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5787" y="3099816"/>
            <a:ext cx="158452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合规执行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950208"/>
            <a:ext cx="2697480" cy="2121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77240" y="4160520"/>
            <a:ext cx="384048" cy="384048"/>
          </a:xfrm>
          <a:prstGeom prst="roundRect">
            <a:avLst>
              <a:gd name="adj" fmla="val 35000"/>
            </a:avLst>
          </a:prstGeom>
          <a:solidFill>
            <a:srgbClr val="FA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41605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68172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Alpha持续衰减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029200"/>
            <a:ext cx="22860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量价类因子自2025年8月起持续回撤，策略同质化加剧，超额收益获取难度系统性上升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55848" y="3950208"/>
            <a:ext cx="2697480" cy="2121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584448" y="4160520"/>
            <a:ext cx="384048" cy="384048"/>
          </a:xfrm>
          <a:prstGeom prst="roundRect">
            <a:avLst>
              <a:gd name="adj" fmla="val 35000"/>
            </a:avLst>
          </a:prstGeom>
          <a:solidFill>
            <a:srgbClr val="FA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84448" y="41605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84448" y="468172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中小机构困境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84448" y="5029200"/>
            <a:ext cx="22860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算力、数据与人才成本高企，模型迭代速度落后于头部，生存空间被持续压缩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63056" y="3950208"/>
            <a:ext cx="2697480" cy="2121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391656" y="4160520"/>
            <a:ext cx="384048" cy="384048"/>
          </a:xfrm>
          <a:prstGeom prst="roundRect">
            <a:avLst>
              <a:gd name="adj" fmla="val 35000"/>
            </a:avLst>
          </a:prstGeom>
          <a:solidFill>
            <a:srgbClr val="FA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91656" y="41605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!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1656" y="468172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个人投资者门槛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91656" y="5029200"/>
            <a:ext cx="22860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缺乏专业量化工具与系统化风险认知，难以应对高频与跨市场风险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70264" y="3950208"/>
            <a:ext cx="2697480" cy="2121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198864" y="4160520"/>
            <a:ext cx="384048" cy="384048"/>
          </a:xfrm>
          <a:prstGeom prst="roundRect">
            <a:avLst>
              <a:gd name="adj" fmla="val 35000"/>
            </a:avLst>
          </a:prstGeom>
          <a:solidFill>
            <a:srgbClr val="FA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98864" y="41605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!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98864" y="468172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合规能力稀缺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98864" y="5029200"/>
            <a:ext cx="22860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程序化交易新规落地，报告、行为、系统、高频四重管理，合规体系成为准入门槛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55664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8A93A6"/>
                </a:solidFill>
                <a:latin typeface="Noto Sans CJK SC"/>
                <a:ea typeface="Noto Sans CJK SC"/>
                <a:cs typeface="Noto Sans CJK SC"/>
              </a:rPr>
              <a:t>道一（江苏）资产管理有限公司  ·  AI量化投资与交易创新平台  ·  2026  ·  机密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64240" y="6455664"/>
            <a:ext cx="576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02336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01 行业大势 · THE WAVE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监管新规落地：合规先行者赢得确定性空间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Regulatory Reset: Compliance as the Moat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1672" cy="201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822960" y="2395728"/>
            <a:ext cx="10698480" cy="0"/>
          </a:xfrm>
          <a:prstGeom prst="line">
            <a:avLst/>
          </a:prstGeom>
          <a:ln w="20320">
            <a:solidFill>
              <a:srgbClr val="C9A2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627631" y="2313432"/>
            <a:ext cx="164592" cy="164592"/>
          </a:xfrm>
          <a:prstGeom prst="ellipse">
            <a:avLst/>
          </a:prstGeom>
          <a:solidFill>
            <a:srgbClr val="1B2A4A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2024.04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97480"/>
            <a:ext cx="2286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834640"/>
            <a:ext cx="199339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新「国九条」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218688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明确提出出台程序化交易监管规定，加强对高频量化交易的监管</a:t>
            </a:r>
          </a:p>
        </p:txBody>
      </p:sp>
      <p:sp>
        <p:nvSpPr>
          <p:cNvPr id="14" name="Oval 13"/>
          <p:cNvSpPr/>
          <p:nvPr/>
        </p:nvSpPr>
        <p:spPr>
          <a:xfrm>
            <a:off x="4389120" y="2313432"/>
            <a:ext cx="164592" cy="164592"/>
          </a:xfrm>
          <a:prstGeom prst="ellipse">
            <a:avLst/>
          </a:prstGeom>
          <a:solidFill>
            <a:srgbClr val="1B2A4A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310128" y="1874519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10128" y="1874519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2024.05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10128" y="2697480"/>
            <a:ext cx="2286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0" y="2834640"/>
            <a:ext cx="199339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证监会《管理规定》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218688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发布《证券市场程序化交易管理规定（试行）》，确立总体监管框架</a:t>
            </a:r>
          </a:p>
        </p:txBody>
      </p:sp>
      <p:sp>
        <p:nvSpPr>
          <p:cNvPr id="20" name="Oval 19"/>
          <p:cNvSpPr/>
          <p:nvPr/>
        </p:nvSpPr>
        <p:spPr>
          <a:xfrm>
            <a:off x="7150607" y="2313432"/>
            <a:ext cx="164592" cy="164592"/>
          </a:xfrm>
          <a:prstGeom prst="ellipse">
            <a:avLst/>
          </a:prstGeom>
          <a:solidFill>
            <a:srgbClr val="1B2A4A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071616" y="1874519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71616" y="1874519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2025.04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71616" y="2697480"/>
            <a:ext cx="2286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36207" y="2834640"/>
            <a:ext cx="199339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交易所《实施细则》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7" y="3218688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沪深北交易所发布实施细则：报告管理、行为管理、系统管理、高频管理全覆盖</a:t>
            </a:r>
          </a:p>
        </p:txBody>
      </p:sp>
      <p:sp>
        <p:nvSpPr>
          <p:cNvPr id="26" name="Oval 25"/>
          <p:cNvSpPr/>
          <p:nvPr/>
        </p:nvSpPr>
        <p:spPr>
          <a:xfrm>
            <a:off x="9912096" y="2313432"/>
            <a:ext cx="164592" cy="164592"/>
          </a:xfrm>
          <a:prstGeom prst="ellipse">
            <a:avLst/>
          </a:prstGeom>
          <a:solidFill>
            <a:srgbClr val="1B2A4A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833104" y="1874519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33104" y="1874519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21D36"/>
                </a:solidFill>
                <a:latin typeface="Noto Sans CJK SC"/>
                <a:ea typeface="Noto Sans CJK SC"/>
                <a:cs typeface="Noto Sans CJK SC"/>
              </a:rPr>
              <a:t>2025.07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33104" y="2697480"/>
            <a:ext cx="2286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97696" y="2834640"/>
            <a:ext cx="199339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细则正式生效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97696" y="3218688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每秒申报/撤单超300笔等情形被认定为高频交易，从严监管、差异化收费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663440"/>
            <a:ext cx="5440680" cy="1463040"/>
          </a:xfrm>
          <a:prstGeom prst="roundRect">
            <a:avLst>
              <a:gd name="adj" fmla="val 8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8" y="4828032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C4A7C"/>
                </a:solidFill>
                <a:latin typeface="Noto Sans CJK SC"/>
                <a:ea typeface="Noto Sans CJK SC"/>
                <a:cs typeface="Noto Sans CJK SC"/>
              </a:rPr>
              <a:t>对行业：出清与规范化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高频与异常交易行为被从严约束，劣质策略与违规玩家加速出清，行业竞争回归投研硬实力。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2" y="4663440"/>
            <a:ext cx="5440680" cy="1463040"/>
          </a:xfrm>
          <a:prstGeom prst="roundRect">
            <a:avLst>
              <a:gd name="adj" fmla="val 8000"/>
            </a:avLst>
          </a:prstGeom>
          <a:solidFill>
            <a:srgbClr val="FA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4828032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对本平台：护城河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平台以「合规先行」为顶层设计：中美双合规架构（纽约SRFK律所+国内资管主体），新规环境下合规能力直接转化为竞争优势。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55664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8A93A6"/>
                </a:solidFill>
                <a:latin typeface="Noto Sans CJK SC"/>
                <a:ea typeface="Noto Sans CJK SC"/>
                <a:cs typeface="Noto Sans CJK SC"/>
              </a:rPr>
              <a:t>道一（江苏）资产管理有限公司  ·  AI量化投资与交易创新平台  ·  2026  ·  机密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55664"/>
            <a:ext cx="576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31089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800" b="1" i="0">
                <a:solidFill>
                  <a:srgbClr val="25365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880360"/>
            <a:ext cx="82296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127248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平台介绍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005072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THE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553712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B9C4D6"/>
                </a:solidFill>
                <a:latin typeface="Noto Sans CJK SC"/>
                <a:ea typeface="Noto Sans CJK SC"/>
                <a:cs typeface="Noto Sans CJK SC"/>
              </a:rPr>
              <a:t>一站式AI量化投资与交易基础设施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5230368"/>
            <a:ext cx="10515600" cy="685800"/>
          </a:xfrm>
          <a:prstGeom prst="roundRect">
            <a:avLst>
              <a:gd name="adj" fmla="val 50000"/>
            </a:avLst>
          </a:prstGeom>
          <a:solidFill>
            <a:srgbClr val="1E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5230368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5DDEA"/>
                </a:solidFill>
                <a:latin typeface="Noto Sans CJK SC"/>
                <a:ea typeface="Noto Sans CJK SC"/>
                <a:cs typeface="Noto Sans CJK SC"/>
              </a:rPr>
              <a:t>十年沉淀的数理金融模型</a:t>
            </a:r>
            <a:r>
              <a:rPr sz="1300" b="0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   ·   </a:t>
            </a:r>
            <a:r>
              <a:rPr sz="1300" b="0" i="0">
                <a:solidFill>
                  <a:srgbClr val="D5DDEA"/>
                </a:solidFill>
                <a:latin typeface="Noto Sans CJK SC"/>
                <a:ea typeface="Noto Sans CJK SC"/>
                <a:cs typeface="Noto Sans CJK SC"/>
              </a:rPr>
              <a:t>华尔街级专家团队</a:t>
            </a:r>
            <a:r>
              <a:rPr sz="1300" b="0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   ·   </a:t>
            </a:r>
            <a:r>
              <a:rPr sz="1300" b="0" i="0">
                <a:solidFill>
                  <a:srgbClr val="D5DDEA"/>
                </a:solidFill>
                <a:latin typeface="Noto Sans CJK SC"/>
                <a:ea typeface="Noto Sans CJK SC"/>
                <a:cs typeface="Noto Sans CJK SC"/>
              </a:rPr>
              <a:t>产业级算力底座</a:t>
            </a:r>
            <a:r>
              <a:rPr sz="1300" b="0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   ·   </a:t>
            </a:r>
            <a:r>
              <a:rPr sz="1300" b="0" i="0">
                <a:solidFill>
                  <a:srgbClr val="D5DDEA"/>
                </a:solidFill>
                <a:latin typeface="Noto Sans CJK SC"/>
                <a:ea typeface="Noto Sans CJK SC"/>
                <a:cs typeface="Noto Sans CJK SC"/>
              </a:rPr>
              <a:t>中美双合规架构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5A6884"/>
                </a:solidFill>
                <a:latin typeface="Noto Sans CJK SC"/>
                <a:ea typeface="Noto Sans CJK SC"/>
                <a:cs typeface="Noto Sans CJK SC"/>
              </a:rPr>
              <a:t>道一（江苏）资产管理有限公司  ·  AI量化投资与交易创新平台  ·  2026  ·  机密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55664"/>
            <a:ext cx="576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2961064-7D0F-255C-1718-E0CDF40465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227" y="-1101852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02336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02 平台介绍 ·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平台定位：机构级AI量化能力的产品化与普惠化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Positioning: Institutional-Grade AI Quant, Democratized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1672" cy="201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810512"/>
            <a:ext cx="11091672" cy="1371600"/>
          </a:xfrm>
          <a:prstGeom prst="roundRect">
            <a:avLst>
              <a:gd name="adj" fmla="val 7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810512"/>
            <a:ext cx="91440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面向个人活跃投资者、交易员与中小机构，提供</a:t>
            </a:r>
            <a:r>
              <a:rPr sz="1650" b="1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一站式AI量化投资与交易基础设施</a:t>
            </a:r>
            <a:r>
              <a:rPr sz="1650" b="0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将华尔街级的模型、算力、风控与合规能力，以平台产品形态普惠开放。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01568"/>
            <a:ext cx="3602736" cy="24871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59" y="363931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A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363931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3675887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AI原生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409651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AI-Native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498848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从因子挖掘、策略生成到组合管理与执行，全流程由AI与数理模型驱动，而非传统工具堆叠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3107" y="3401568"/>
            <a:ext cx="3602736" cy="24871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67427" y="363931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A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67427" y="363931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0659" y="3675887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模型为王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0659" y="409651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Model-First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7427" y="4498848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John Ding自2015年沉淀的独有数理金融体系（SPY/VIX/PDE/AI模型），历经deepvix.com十年实盘检验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37575" y="3401568"/>
            <a:ext cx="3602736" cy="24871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311896" y="363931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A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11896" y="363931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3675887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合规先行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5128" y="409651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Compliance-First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4498848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纽约SRFK律所自2015年提供证券合规顾问，叠加国内资管主体，构建中美双合规架构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8A93A6"/>
                </a:solidFill>
                <a:latin typeface="Noto Sans CJK SC"/>
                <a:ea typeface="Noto Sans CJK SC"/>
                <a:cs typeface="Noto Sans CJK SC"/>
              </a:rPr>
              <a:t>道一（江苏）资产管理有限公司  ·  AI量化投资与交易创新平台  ·  2026  ·  机密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76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02336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02 平台介绍 ·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核心技术体系：John Ding数理金融模型（2015年起）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Core Models: John Ding Quantitative Finance Framework Since 2015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1672" cy="201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10512"/>
          <a:ext cx="11091672" cy="3675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3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模型 / Model</a:t>
                      </a:r>
                    </a:p>
                  </a:txBody>
                  <a:tcPr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方法与基础 / Methodology</a:t>
                      </a:r>
                    </a:p>
                  </a:txBody>
                  <a:tcPr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核心能力 / Capability</a:t>
                      </a:r>
                    </a:p>
                  </a:txBody>
                  <a:tcPr marR="73152"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B2A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SPY价格变化模型
SPY Price Change Model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2015年原创发明（Original Invention, 2015）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标普500 ETF（SPY）价格变化预测，十年持续迭代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B2A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SPY增长率模型
SPY Growth Rate Model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PDE偏微分方程（Partial Differential Equations）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刻画SPY增长率的时变演化规律，捕捉长期趋势结构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B2A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VIX波动率模型
VIX Volatility Model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Fokker–Planck方程（Fokker–Planck Equation）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量化黑天鹅拖曳力与随机力下的波动率概率密度演化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B2A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AI模型
AI Model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RNN + TensorFlow 深度学习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神经网络驱动的VIX分析与预测，持续在线学习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B2A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AI金融量化机器人
AI Quant Robots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数理模型 × AI Agent 融合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道一网络孵化下一代AI金融量化机器人体系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596128"/>
            <a:ext cx="11091672" cy="62179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596128"/>
            <a:ext cx="104241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研发路径：</a:t>
            </a:r>
            <a:r>
              <a:rPr sz="1250" b="0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开源筑基（Qlib / vn.py / backtrader）  →  AI重构（深度学习/Agent）  →  模型融合（数理+AI双引擎）  →  商业落地（平台+基金）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8A93A6"/>
                </a:solidFill>
                <a:latin typeface="Noto Sans CJK SC"/>
                <a:ea typeface="Noto Sans CJK SC"/>
                <a:cs typeface="Noto Sans CJK SC"/>
              </a:rPr>
              <a:t>道一（江苏）资产管理有限公司  ·  AI量化投资与交易创新平台  ·  2026  ·  机密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576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02336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02 平台介绍 ·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平台六大功能模块：覆盖投研到执行全链路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Six Platform Modules: From Research to Execution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1672" cy="201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810512"/>
            <a:ext cx="3566160" cy="208483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810512"/>
            <a:ext cx="356616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2048256"/>
            <a:ext cx="3108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智能行情与VIX风险引擎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61518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VIX Risk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926080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基于John Ding VIX模型，提供波动率解析与黑天鹅风险量化预警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10512"/>
            <a:ext cx="3566160" cy="208483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810512"/>
            <a:ext cx="3566160" cy="82296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2048256"/>
            <a:ext cx="3108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AI因子挖掘与策略工厂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61518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C4A7C"/>
                </a:solidFill>
                <a:latin typeface="Noto Sans CJK SC"/>
                <a:ea typeface="Noto Sans CJK SC"/>
                <a:cs typeface="Noto Sans CJK SC"/>
              </a:rPr>
              <a:t>AI Factor Factory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926080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RNN/深度学习驱动的因子构建、策略自动生成与迭代优化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810512"/>
            <a:ext cx="3566160" cy="208483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83296" y="1810512"/>
            <a:ext cx="3566160" cy="82296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2048256"/>
            <a:ext cx="3108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量化回测与组合优化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61518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C4A7C"/>
                </a:solidFill>
                <a:latin typeface="Noto Sans CJK SC"/>
                <a:ea typeface="Noto Sans CJK SC"/>
                <a:cs typeface="Noto Sans CJK SC"/>
              </a:rPr>
              <a:t>Backtest &amp; Portfolio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926080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多资产回测、组合优化与业绩归因，分钟级/Tick级回测底座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41648"/>
            <a:ext cx="3566160" cy="208483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4041648"/>
            <a:ext cx="3566160" cy="82296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" y="4279392"/>
            <a:ext cx="3108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实盘交易信号与执行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484632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C4A7C"/>
                </a:solidFill>
                <a:latin typeface="Noto Sans CJK SC"/>
                <a:ea typeface="Noto Sans CJK SC"/>
                <a:cs typeface="Noto Sans CJK SC"/>
              </a:rPr>
              <a:t>Live Signals &amp; Execution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157216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模型生成交易信号，对接合规交易通道，算法执行控冲击成本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5968" y="4041648"/>
            <a:ext cx="3566160" cy="208483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15968" y="4041648"/>
            <a:ext cx="356616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53712" y="4279392"/>
            <a:ext cx="3108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投资者教育与合规投顾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484632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Education &amp; Advisory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5157216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量化与AI投研课程体系，监管框架内的合规投顾服务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83296" y="4041648"/>
            <a:ext cx="3566160" cy="208483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83296" y="4041648"/>
            <a:ext cx="3566160" cy="82296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21040" y="4279392"/>
            <a:ext cx="3108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机构API与数据服务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84632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C4A7C"/>
                </a:solidFill>
                <a:latin typeface="Noto Sans CJK SC"/>
                <a:ea typeface="Noto Sans CJK SC"/>
                <a:cs typeface="Noto Sans CJK SC"/>
              </a:rPr>
              <a:t>Institutional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157216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向机构开放模型API与量化数据接口，赋能机构自建体系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55664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8A93A6"/>
                </a:solidFill>
                <a:latin typeface="Noto Sans CJK SC"/>
                <a:ea typeface="Noto Sans CJK SC"/>
                <a:cs typeface="Noto Sans CJK SC"/>
              </a:rPr>
              <a:t>道一（江苏）资产管理有限公司  ·  AI量化投资与交易创新平台  ·  2026  ·  机密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76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02336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02 平台介绍 ·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三层技术底座：算力 · 模型 · 可信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Three-Layer Technology Stack: Compute, Models, Trust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1672" cy="201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12140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100" b="1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可信层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3347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TRUST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828800"/>
            <a:ext cx="85770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1975104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道一网络区块链操作系统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359152"/>
            <a:ext cx="8092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Python链外共识 + PoSS绿色共识 + 每秒10万笔交易（工信部信通院测试），为AI决策与交易记录提供可信、可溯源的底座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572768" y="3218688"/>
            <a:ext cx="237744" cy="201168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3456432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7490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1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6110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3456432"/>
            <a:ext cx="85770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37560" y="3602736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John Ding数理金融模型 + 全球开源生态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986784"/>
            <a:ext cx="8092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独有SPY/VIX/PDE/AI模型体系，融合开源生态：Qlib（11k+★）· vn.py（20k+★）· backtrader（21k+★）· Lean（19k+★）· NautilusTrader（23k+★）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572768" y="4846320"/>
            <a:ext cx="237744" cy="201168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48640" y="5084064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4A6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537667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1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算力层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8873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COMPUTE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63240" y="5084064"/>
            <a:ext cx="85770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37560" y="5230368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北电数智产业级AI算力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5614416"/>
            <a:ext cx="8092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高端GPU集群 · 量化模型训练与策略推理 · 全市场分钟级/Tick级回测环境 · AI Agent金融决策运行基座，无需重资产投入基建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8A93A6"/>
                </a:solidFill>
                <a:latin typeface="Noto Sans CJK SC"/>
                <a:ea typeface="Noto Sans CJK SC"/>
                <a:cs typeface="Noto Sans CJK SC"/>
              </a:rPr>
              <a:t>道一（江苏）资产管理有限公司  ·  AI量化投资与交易创新平台  ·  2026  ·  机密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55664"/>
            <a:ext cx="576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02336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02 平台介绍 ·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创始人与核心团队：华尔街级量化与AI阵容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Founder &amp; Team: Wall Street-Grade Quant Talent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1672" cy="201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810512"/>
            <a:ext cx="4160520" cy="4498848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810512"/>
            <a:ext cx="4160520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2121408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121408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121D36"/>
                </a:solidFill>
                <a:latin typeface="Noto Sans CJK SC"/>
                <a:ea typeface="Noto Sans CJK SC"/>
                <a:cs typeface="Noto Sans CJK SC"/>
              </a:rPr>
              <a:t>JD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2157984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John Ding（丁江）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0512" y="257860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创始人 / 首席科学家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27248"/>
            <a:ext cx="356616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◆  </a:t>
            </a:r>
            <a:r>
              <a:rPr sz="1100" b="0" i="0">
                <a:solidFill>
                  <a:srgbClr val="D5DDEA"/>
                </a:solidFill>
                <a:latin typeface="Noto Sans CJK SC"/>
                <a:ea typeface="Noto Sans CJK SC"/>
                <a:cs typeface="Noto Sans CJK SC"/>
              </a:rPr>
              <a:t>南京大学天文学士，美国计算机与机械工程双硕士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◆  </a:t>
            </a:r>
            <a:r>
              <a:rPr sz="1100" b="0" i="0">
                <a:solidFill>
                  <a:srgbClr val="D5DDEA"/>
                </a:solidFill>
                <a:latin typeface="Noto Sans CJK SC"/>
                <a:ea typeface="Noto Sans CJK SC"/>
                <a:cs typeface="Noto Sans CJK SC"/>
              </a:rPr>
              <a:t>18年华尔街经历：高盛、摩根士丹利、加拿大皇家银行（RBC）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◆  </a:t>
            </a:r>
            <a:r>
              <a:rPr sz="1100" b="0" i="0">
                <a:solidFill>
                  <a:srgbClr val="D5DDEA"/>
                </a:solidFill>
                <a:latin typeface="Noto Sans CJK SC"/>
                <a:ea typeface="Noto Sans CJK SC"/>
                <a:cs typeface="Noto Sans CJK SC"/>
              </a:rPr>
              <a:t>曾主导RBC区块链研发；美国区块链专利公司CEO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◆  </a:t>
            </a:r>
            <a:r>
              <a:rPr sz="1100" b="0" i="0">
                <a:solidFill>
                  <a:srgbClr val="D5DDEA"/>
                </a:solidFill>
                <a:latin typeface="Noto Sans CJK SC"/>
                <a:ea typeface="Noto Sans CJK SC"/>
                <a:cs typeface="Noto Sans CJK SC"/>
              </a:rPr>
              <a:t>太一云（新三板挂牌）联合创始人；道一集团CEO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◆  </a:t>
            </a:r>
            <a:r>
              <a:rPr sz="1100" b="0" i="0">
                <a:solidFill>
                  <a:srgbClr val="D5DDEA"/>
                </a:solidFill>
                <a:latin typeface="Noto Sans CJK SC"/>
                <a:ea typeface="Noto Sans CJK SC"/>
                <a:cs typeface="Noto Sans CJK SC"/>
              </a:rPr>
              <a:t>领导美国上市公司SSNC人工智能大数据平台设计研发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5779008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223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760720"/>
            <a:ext cx="374903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deepvix.com：565名客户 · 95%好评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490677"/>
              </p:ext>
            </p:extLst>
          </p:nvPr>
        </p:nvGraphicFramePr>
        <p:xfrm>
          <a:off x="4937760" y="1810512"/>
          <a:ext cx="6702552" cy="2871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7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5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成员 / Member</a:t>
                      </a:r>
                    </a:p>
                  </a:txBody>
                  <a:tcPr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角色 / Role</a:t>
                      </a:r>
                    </a:p>
                  </a:txBody>
                  <a:tcPr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背景 / Background</a:t>
                      </a:r>
                    </a:p>
                  </a:txBody>
                  <a:tcPr marR="73152"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B2A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Karlil Amisial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量化与投行专家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金融工程与计算机双硕士；高盛、瑞信、RBC投行总监，抵押衍生品定价专家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B2A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Geoge Li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量化分析专家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复旦学士、哥伦比亚大学博士；美国银行量化分析师，20年华尔街经验；Stanford StartX导师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1" i="0" dirty="0">
                          <a:solidFill>
                            <a:srgbClr val="1B2A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张国光</a:t>
                      </a:r>
                      <a:endParaRPr sz="1050" b="1" i="0" dirty="0">
                        <a:solidFill>
                          <a:srgbClr val="1B2A4A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 i="0" dirty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联合创始人</a:t>
                      </a:r>
                      <a:endParaRPr sz="1050" b="0" i="0" dirty="0">
                        <a:solidFill>
                          <a:srgbClr val="2A3242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50" b="0" i="0" dirty="0">
                        <a:solidFill>
                          <a:srgbClr val="2A3242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B2A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Jay Kaplowitz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法律顾问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波士顿大学J.D.；</a:t>
                      </a:r>
                      <a:r>
                        <a:rPr sz="1050" b="0" i="0" dirty="0" err="1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擅长公司融资、SEC披露、公司治理与公开发行</a:t>
                      </a:r>
                      <a:endParaRPr sz="1050" b="0" i="0" dirty="0">
                        <a:solidFill>
                          <a:srgbClr val="2A3242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4937760" y="5705856"/>
            <a:ext cx="6702552" cy="548640"/>
          </a:xfrm>
          <a:prstGeom prst="roundRect">
            <a:avLst>
              <a:gd name="adj" fmla="val 10000"/>
            </a:avLst>
          </a:prstGeom>
          <a:solidFill>
            <a:srgbClr val="FA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38928" y="5705856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合规顾问：</a:t>
            </a:r>
            <a:r>
              <a:rPr sz="105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纽约SRFK律所（Sichenzia Ross Ference Kesner），自2015年起提供证券合规顾问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8A93A6"/>
                </a:solidFill>
                <a:latin typeface="Noto Sans CJK SC"/>
                <a:ea typeface="Noto Sans CJK SC"/>
                <a:cs typeface="Noto Sans CJK SC"/>
              </a:rPr>
              <a:t>道一（江苏）资产管理有限公司  ·  AI量化投资与交易创新平台  ·  2026  ·  机密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55664"/>
            <a:ext cx="576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02336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02 平台介绍 ·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商业模式：平台 + 服务 + 资管三轮驱动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Business Model: Platform, Services &amp; Asset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1672" cy="201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五大收入流  Revenue Streams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76272"/>
            <a:ext cx="54864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13232" y="231343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23134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28600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平台订阅 / 会员费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57860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VIX分析、风险分析、策略工具按月/年订阅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54864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13232" y="3154679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315467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12724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交易信号与投顾服务费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341985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模型信号订阅与合规框架内投顾服务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58768"/>
            <a:ext cx="54864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13232" y="399592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39959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3968496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投资者教育课程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426110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量化与AI投研体系化培训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0016"/>
            <a:ext cx="54864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13232" y="483717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" y="483717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4809744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资产管理费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51023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按AUM计提的管理型/投顾型费用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541264"/>
            <a:ext cx="54864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13232" y="567842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" y="567842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3312" y="5650992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机构API / 数据服务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9436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模型API与量化数据接口开放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78308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五类目标客户  Target Clients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176272"/>
            <a:ext cx="5239512" cy="731520"/>
          </a:xfrm>
          <a:prstGeom prst="roundRect">
            <a:avLst>
              <a:gd name="adj" fmla="val 12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38544" y="2286000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C4A7C"/>
                </a:solidFill>
                <a:latin typeface="Noto Sans CJK SC"/>
                <a:ea typeface="Noto Sans CJK SC"/>
                <a:cs typeface="Noto Sans CJK SC"/>
              </a:rPr>
              <a:t>个人活跃投资者与日内交易员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38544" y="257860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量化工具与信号服务的主力付费人群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017520"/>
            <a:ext cx="5239512" cy="731520"/>
          </a:xfrm>
          <a:prstGeom prst="roundRect">
            <a:avLst>
              <a:gd name="adj" fmla="val 12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38544" y="3127248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C4A7C"/>
                </a:solidFill>
                <a:latin typeface="Noto Sans CJK SC"/>
                <a:ea typeface="Noto Sans CJK SC"/>
                <a:cs typeface="Noto Sans CJK SC"/>
              </a:rPr>
              <a:t>高净值客户与家族办公室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38544" y="341985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资管与定制化量化配置需求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3858768"/>
            <a:ext cx="5239512" cy="731520"/>
          </a:xfrm>
          <a:prstGeom prst="roundRect">
            <a:avLst>
              <a:gd name="adj" fmla="val 12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38544" y="3968496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C4A7C"/>
                </a:solidFill>
                <a:latin typeface="Noto Sans CJK SC"/>
                <a:ea typeface="Noto Sans CJK SC"/>
                <a:cs typeface="Noto Sans CJK SC"/>
              </a:rPr>
              <a:t>中小私募与资管机构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38544" y="426110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算力、模型与数据的一站式赋能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4700016"/>
            <a:ext cx="5239512" cy="731520"/>
          </a:xfrm>
          <a:prstGeom prst="roundRect">
            <a:avLst>
              <a:gd name="adj" fmla="val 12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38544" y="4809744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C4A7C"/>
                </a:solidFill>
                <a:latin typeface="Noto Sans CJK SC"/>
                <a:ea typeface="Noto Sans CJK SC"/>
                <a:cs typeface="Noto Sans CJK SC"/>
              </a:rPr>
              <a:t>需要VIX/风险度量的持仓机构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38544" y="510235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波动率与尾部风险管理刚需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5541264"/>
            <a:ext cx="5239512" cy="731520"/>
          </a:xfrm>
          <a:prstGeom prst="roundRect">
            <a:avLst>
              <a:gd name="adj" fmla="val 12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38544" y="565099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C4A7C"/>
                </a:solidFill>
                <a:latin typeface="Noto Sans CJK SC"/>
                <a:ea typeface="Noto Sans CJK SC"/>
                <a:cs typeface="Noto Sans CJK SC"/>
              </a:rPr>
              <a:t>海外（美国、南美）量化社区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38544" y="594360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deepvix十年积累的国际用户基础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55664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8A93A6"/>
                </a:solidFill>
                <a:latin typeface="Noto Sans CJK SC"/>
                <a:ea typeface="Noto Sans CJK SC"/>
                <a:cs typeface="Noto Sans CJK SC"/>
              </a:rPr>
              <a:t>道一（江苏）资产管理有限公司  ·  AI量化投资与交易创新平台  ·  2026  ·  机密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64240" y="6455664"/>
            <a:ext cx="576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02336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02 平台介绍 ·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差异化优势：不做单一工具，输出整体能力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Differentiation: Delivering Capability, Not Just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1672" cy="201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831277"/>
              </p:ext>
            </p:extLst>
          </p:nvPr>
        </p:nvGraphicFramePr>
        <p:xfrm>
          <a:off x="548640" y="1810512"/>
          <a:ext cx="11091672" cy="3968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维度 / Dimension</a:t>
                      </a:r>
                    </a:p>
                  </a:txBody>
                  <a:tcPr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通用量化平台与开源框架
Generic Platforms &amp; Open Source</a:t>
                      </a:r>
                    </a:p>
                  </a:txBody>
                  <a:tcPr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AI量化投资与交易创新平台
This Platform</a:t>
                      </a:r>
                    </a:p>
                  </a:txBody>
                  <a:tcPr marR="73152"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B2A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核心模型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需团队从零自建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 dirty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John </a:t>
                      </a:r>
                      <a:r>
                        <a:rPr sz="1150" b="0" i="0" dirty="0" err="1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Ding独有数理金融体系</a:t>
                      </a:r>
                      <a:r>
                        <a:rPr sz="1150" b="0" i="0" dirty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（</a:t>
                      </a:r>
                      <a:r>
                        <a:rPr lang="zh-CN" altLang="en-US" sz="1150" b="0" i="0" dirty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二</a:t>
                      </a:r>
                      <a:r>
                        <a:rPr sz="1150" b="0" i="0" dirty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十</a:t>
                      </a:r>
                      <a:r>
                        <a:rPr lang="zh-CN" altLang="en-US" sz="1150" b="0" i="0" dirty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多年华尔街投行经验</a:t>
                      </a:r>
                      <a:r>
                        <a:rPr sz="1150" b="0" i="0" dirty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）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B2A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专家团队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公开社区，无专属支持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华尔街级量化与AI专家团队（高盛/摩根/ RBC/美银）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B2A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算力供给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自购或云端付费，成本高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北电数智产业级GPU集群赋能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B2A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合规架构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通常不提供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纽约SRFK律所 + 国内资管主体，中美双合规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B2A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服务范围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工具与数据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平台 + 信号 + 投顾 + 教育全链路</a:t>
                      </a:r>
                    </a:p>
                  </a:txBody>
                  <a:tcPr marR="73152" marT="27432" marB="27432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B2A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可信底座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无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 dirty="0" err="1">
                          <a:solidFill>
                            <a:srgbClr val="2A32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道一网络区块链：交易溯源、数据防篡改</a:t>
                      </a:r>
                      <a:endParaRPr sz="1150" b="0" i="0" dirty="0">
                        <a:solidFill>
                          <a:srgbClr val="2A3242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806440"/>
            <a:ext cx="11091672" cy="475488"/>
          </a:xfrm>
          <a:prstGeom prst="roundRect">
            <a:avLst>
              <a:gd name="adj" fmla="val 50000"/>
            </a:avLst>
          </a:prstGeom>
          <a:solidFill>
            <a:srgbClr val="FA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4241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一句话总结：</a:t>
            </a:r>
            <a:r>
              <a:rPr sz="120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以「模型 + 团队 + 算力 + 合规 + 可信」整体输出AI量化投资与交易能力，这是单一工具平台难以复制的护城河。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8A93A6"/>
                </a:solidFill>
                <a:latin typeface="Noto Sans CJK SC"/>
                <a:ea typeface="Noto Sans CJK SC"/>
                <a:cs typeface="Noto Sans CJK SC"/>
              </a:rPr>
              <a:t>道一（江苏）资产管理有限公司  ·  AI量化投资与交易创新平台  ·  2026  ·  机密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576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31089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800" b="1" i="0">
                <a:solidFill>
                  <a:srgbClr val="25365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880360"/>
            <a:ext cx="82296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127248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共建计划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005072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THE ALLIANCE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553712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B9C4D6"/>
                </a:solidFill>
                <a:latin typeface="Noto Sans CJK SC"/>
                <a:ea typeface="Noto Sans CJK SC"/>
                <a:cs typeface="Noto Sans CJK SC"/>
              </a:rPr>
              <a:t>招募合伙人 · 创建联盟 · 设立基金：三大合作诉求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5230368"/>
            <a:ext cx="10515600" cy="685800"/>
          </a:xfrm>
          <a:prstGeom prst="roundRect">
            <a:avLst>
              <a:gd name="adj" fmla="val 50000"/>
            </a:avLst>
          </a:prstGeom>
          <a:solidFill>
            <a:srgbClr val="1E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5230368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5DDEA"/>
                </a:solidFill>
                <a:latin typeface="Noto Sans CJK SC"/>
                <a:ea typeface="Noto Sans CJK SC"/>
                <a:cs typeface="Noto Sans CJK SC"/>
              </a:rPr>
              <a:t>诉求一：招募合伙人公司，共建量化交易平台</a:t>
            </a:r>
            <a:r>
              <a:rPr sz="1300" b="0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   ·   </a:t>
            </a:r>
            <a:r>
              <a:rPr sz="1300" b="0" i="0">
                <a:solidFill>
                  <a:srgbClr val="D5DDEA"/>
                </a:solidFill>
                <a:latin typeface="Noto Sans CJK SC"/>
                <a:ea typeface="Noto Sans CJK SC"/>
                <a:cs typeface="Noto Sans CJK SC"/>
              </a:rPr>
              <a:t>诉求二：创建全国AI量化交易联盟</a:t>
            </a:r>
            <a:r>
              <a:rPr sz="1300" b="0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   ·   </a:t>
            </a:r>
            <a:r>
              <a:rPr sz="1300" b="0" i="0">
                <a:solidFill>
                  <a:srgbClr val="D5DDEA"/>
                </a:solidFill>
                <a:latin typeface="Noto Sans CJK SC"/>
                <a:ea typeface="Noto Sans CJK SC"/>
                <a:cs typeface="Noto Sans CJK SC"/>
              </a:rPr>
              <a:t>诉求三：设立量化交易基金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5A6884"/>
                </a:solidFill>
                <a:latin typeface="Noto Sans CJK SC"/>
                <a:ea typeface="Noto Sans CJK SC"/>
                <a:cs typeface="Noto Sans CJK SC"/>
              </a:rPr>
              <a:t>道一（江苏）资产管理有限公司  ·  AI量化投资与交易创新平台  ·  2026  ·  机密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55664"/>
            <a:ext cx="576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17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2BCC397-FDC9-1268-80F7-DD4ED232EF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424" y="-941832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02336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03 共建计划 · THE ALLIANCE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发展路线图与三年经营目标（示意）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Roadmap &amp; Three-Year Targets (Illustrative)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1672" cy="201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810512"/>
            <a:ext cx="2697480" cy="1810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810512"/>
            <a:ext cx="2697480" cy="475488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810512"/>
            <a:ext cx="269748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121D36"/>
                </a:solidFill>
                <a:latin typeface="Noto Sans CJK SC"/>
                <a:ea typeface="Noto Sans CJK SC"/>
                <a:cs typeface="Noto Sans CJK SC"/>
              </a:rPr>
              <a:t>启动期</a:t>
            </a:r>
            <a:r>
              <a:rPr sz="1100" b="0" i="0">
                <a:solidFill>
                  <a:srgbClr val="3A3010"/>
                </a:solidFill>
                <a:latin typeface="Noto Sans CJK SC"/>
                <a:ea typeface="Noto Sans CJK SC"/>
                <a:cs typeface="Noto Sans CJK SC"/>
              </a:rPr>
              <a:t>   第1年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50592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平台1.0上线 · 模型国产化本地化 · 首批客户接入 · 合规架构搭建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37744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810512"/>
            <a:ext cx="2697480" cy="1810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355848" y="1810512"/>
            <a:ext cx="2697480" cy="475488"/>
          </a:xfrm>
          <a:prstGeom prst="roundRect">
            <a:avLst>
              <a:gd name="adj" fmla="val 8000"/>
            </a:avLst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55848" y="1810512"/>
            <a:ext cx="269748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成形期</a:t>
            </a:r>
            <a:r>
              <a:rPr sz="1100" b="0" i="0">
                <a:solidFill>
                  <a:srgbClr val="C9D5E6"/>
                </a:solidFill>
                <a:latin typeface="Noto Sans CJK SC"/>
                <a:ea typeface="Noto Sans CJK SC"/>
                <a:cs typeface="Noto Sans CJK SC"/>
              </a:rPr>
              <a:t>   第2年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2450592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实盘交易与资管试点 · 监管备案与资质完善 · 营收模型跑通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8" y="237744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810512"/>
            <a:ext cx="2697480" cy="1810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63056" y="1810512"/>
            <a:ext cx="2697480" cy="475488"/>
          </a:xfrm>
          <a:prstGeom prst="roundRect">
            <a:avLst>
              <a:gd name="adj" fmla="val 8000"/>
            </a:avLst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63056" y="1810512"/>
            <a:ext cx="269748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矩阵期</a:t>
            </a:r>
            <a:r>
              <a:rPr sz="1100" b="0" i="0">
                <a:solidFill>
                  <a:srgbClr val="C9D5E6"/>
                </a:solidFill>
                <a:latin typeface="Noto Sans CJK SC"/>
                <a:ea typeface="Noto Sans CJK SC"/>
                <a:cs typeface="Noto Sans CJK SC"/>
              </a:rPr>
              <a:t>   第3年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450592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规模化获客 · AUM提升 · 投教与机构API拓展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0536" y="237744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0264" y="1810512"/>
            <a:ext cx="2697480" cy="1810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970264" y="1810512"/>
            <a:ext cx="2697480" cy="475488"/>
          </a:xfrm>
          <a:prstGeom prst="roundRect">
            <a:avLst>
              <a:gd name="adj" fmla="val 8000"/>
            </a:avLst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70264" y="1810512"/>
            <a:ext cx="269748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扩张期</a:t>
            </a:r>
            <a:r>
              <a:rPr sz="1100" b="0" i="0">
                <a:solidFill>
                  <a:srgbClr val="C9D5E6"/>
                </a:solidFill>
                <a:latin typeface="Noto Sans CJK SC"/>
                <a:ea typeface="Noto Sans CJK SC"/>
                <a:cs typeface="Noto Sans CJK SC"/>
              </a:rPr>
              <a:t>   3–5年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4" y="2450592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多资产多市场布局 · 技术壁垒固化 · 校友与生态成型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84048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chart_fi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977639"/>
            <a:ext cx="3785616" cy="210312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199632" y="384048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chart_a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3977639"/>
            <a:ext cx="3785616" cy="21031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8640" y="6455664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8A93A6"/>
                </a:solidFill>
                <a:latin typeface="Noto Sans CJK SC"/>
                <a:ea typeface="Noto Sans CJK SC"/>
                <a:cs typeface="Noto Sans CJK SC"/>
              </a:rPr>
              <a:t>道一（江苏）资产管理有限公司  ·  AI量化投资与交易创新平台  ·  2026  ·  机密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55664"/>
            <a:ext cx="576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21D36"/>
                </a:solidFill>
                <a:latin typeface="Noto Sans CJK SC"/>
                <a:ea typeface="Noto Sans CJK SC"/>
                <a:cs typeface="Noto Sans CJK SC"/>
              </a:rPr>
              <a:t>诉求一 APPEAL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422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 dirty="0" err="1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招募合伙人公司，共建AI量化</a:t>
            </a:r>
            <a:r>
              <a:rPr lang="zh-CN" altLang="en-US" sz="2600" b="1" i="0" dirty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共识联盟</a:t>
            </a:r>
            <a:endParaRPr sz="2600" b="1" i="0" dirty="0">
              <a:solidFill>
                <a:srgbClr val="1B2A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Appeal I: Recruiting Partner Companies to Co-Build the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73936"/>
            <a:ext cx="11091672" cy="201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440680" cy="2834640"/>
          </a:xfrm>
          <a:prstGeom prst="roundRect">
            <a:avLst>
              <a:gd name="adj" fmla="val 7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217627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我们带来  WE BRING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06040"/>
            <a:ext cx="489204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◆  </a:t>
            </a:r>
            <a:r>
              <a:rPr sz="1150" b="0" i="0">
                <a:solidFill>
                  <a:srgbClr val="D5DDEA"/>
                </a:solidFill>
                <a:latin typeface="Noto Sans CJK SC"/>
                <a:ea typeface="Noto Sans CJK SC"/>
                <a:cs typeface="Noto Sans CJK SC"/>
              </a:rPr>
              <a:t>独有模型体系：John Ding数理金融模型（十年沉淀）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◆  </a:t>
            </a:r>
            <a:r>
              <a:rPr sz="1150" b="0" i="0">
                <a:solidFill>
                  <a:srgbClr val="D5DDEA"/>
                </a:solidFill>
                <a:latin typeface="Noto Sans CJK SC"/>
                <a:ea typeface="Noto Sans CJK SC"/>
                <a:cs typeface="Noto Sans CJK SC"/>
              </a:rPr>
              <a:t>华尔街级专家团队与全周期科创辅导能力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◆  </a:t>
            </a:r>
            <a:r>
              <a:rPr sz="1150" b="0" i="0">
                <a:solidFill>
                  <a:srgbClr val="D5DDEA"/>
                </a:solidFill>
                <a:latin typeface="Noto Sans CJK SC"/>
                <a:ea typeface="Noto Sans CJK SC"/>
                <a:cs typeface="Noto Sans CJK SC"/>
              </a:rPr>
              <a:t>中美双合规架构（SRFK律所 + 国内资管主体）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◆  </a:t>
            </a:r>
            <a:r>
              <a:rPr sz="1150" b="0" i="0">
                <a:solidFill>
                  <a:srgbClr val="D5DDEA"/>
                </a:solidFill>
                <a:latin typeface="Noto Sans CJK SC"/>
                <a:ea typeface="Noto Sans CJK SC"/>
                <a:cs typeface="Noto Sans CJK SC"/>
              </a:rPr>
              <a:t>北电数智产业级GPU算力底座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◆  </a:t>
            </a:r>
            <a:r>
              <a:rPr sz="1150" b="0" i="0">
                <a:solidFill>
                  <a:srgbClr val="D5DDEA"/>
                </a:solidFill>
                <a:latin typeface="Noto Sans CJK SC"/>
                <a:ea typeface="Noto Sans CJK SC"/>
                <a:cs typeface="Noto Sans CJK SC"/>
              </a:rPr>
              <a:t>deepvix.com十年运营经验与565名种子客户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2011680"/>
            <a:ext cx="5440680" cy="2834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9632" y="2011680"/>
            <a:ext cx="544068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17627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期待您是  WE SEEK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633472"/>
            <a:ext cx="4846320" cy="475488"/>
          </a:xfrm>
          <a:prstGeom prst="roundRect">
            <a:avLst>
              <a:gd name="adj" fmla="val 15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93408" y="2633472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2C4A7C"/>
                </a:solidFill>
                <a:latin typeface="Noto Sans CJK SC"/>
                <a:ea typeface="Noto Sans CJK SC"/>
                <a:cs typeface="Noto Sans CJK SC"/>
              </a:rPr>
              <a:t>券商 / 金融科技公司</a:t>
            </a:r>
            <a:r>
              <a:rPr sz="105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  —  交易通道、牌照协同与客户资源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182112"/>
            <a:ext cx="4846320" cy="475488"/>
          </a:xfrm>
          <a:prstGeom prst="roundRect">
            <a:avLst>
              <a:gd name="adj" fmla="val 15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93408" y="3182112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2C4A7C"/>
                </a:solidFill>
                <a:latin typeface="Noto Sans CJK SC"/>
                <a:ea typeface="Noto Sans CJK SC"/>
                <a:cs typeface="Noto Sans CJK SC"/>
              </a:rPr>
              <a:t>数据服务商</a:t>
            </a:r>
            <a:r>
              <a:rPr sz="105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  —  行情、另类数据与高频数据供给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730752"/>
            <a:ext cx="4846320" cy="475488"/>
          </a:xfrm>
          <a:prstGeom prst="roundRect">
            <a:avLst>
              <a:gd name="adj" fmla="val 15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93408" y="3730752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2C4A7C"/>
                </a:solidFill>
                <a:latin typeface="Noto Sans CJK SC"/>
                <a:ea typeface="Noto Sans CJK SC"/>
                <a:cs typeface="Noto Sans CJK SC"/>
              </a:rPr>
              <a:t>资管 / 私募机构</a:t>
            </a:r>
            <a:r>
              <a:rPr sz="105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  —  资金实力与产品化发行能力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279392"/>
            <a:ext cx="4846320" cy="475488"/>
          </a:xfrm>
          <a:prstGeom prst="roundRect">
            <a:avLst>
              <a:gd name="adj" fmla="val 15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93408" y="4279392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2C4A7C"/>
                </a:solidFill>
                <a:latin typeface="Noto Sans CJK SC"/>
                <a:ea typeface="Noto Sans CJK SC"/>
                <a:cs typeface="Noto Sans CJK SC"/>
              </a:rPr>
              <a:t>科技园区 / 地方政府</a:t>
            </a:r>
            <a:r>
              <a:rPr sz="105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  —  政策扶持、场地与产业配套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292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合作方式  Cooperation Models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94960"/>
            <a:ext cx="26974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5394960"/>
            <a:ext cx="24231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合资公司 Joint Venture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55848" y="5394960"/>
            <a:ext cx="26974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93008" y="5394960"/>
            <a:ext cx="24231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战略投资 Strategic Investment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3056" y="5394960"/>
            <a:ext cx="26974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0216" y="5394960"/>
            <a:ext cx="24231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资源互换 Resource Exchange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70264" y="5394960"/>
            <a:ext cx="26974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07424" y="5394960"/>
            <a:ext cx="24231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联合运营 Co-Operation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55664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8A93A6"/>
                </a:solidFill>
                <a:latin typeface="Noto Sans CJK SC"/>
                <a:ea typeface="Noto Sans CJK SC"/>
                <a:cs typeface="Noto Sans CJK SC"/>
              </a:rPr>
              <a:t>道一（江苏）资产管理有限公司  ·  AI量化投资与交易创新平台  ·  2026  ·  机密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55664"/>
            <a:ext cx="576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21D36"/>
                </a:solidFill>
                <a:latin typeface="Noto Sans CJK SC"/>
                <a:ea typeface="Noto Sans CJK SC"/>
                <a:cs typeface="Noto Sans CJK SC"/>
              </a:rPr>
              <a:t>诉求二 APPEAL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422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 dirty="0" err="1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创建全</a:t>
            </a:r>
            <a:r>
              <a:rPr lang="zh-CN" altLang="en-US" sz="2600" b="1" dirty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球</a:t>
            </a:r>
            <a:r>
              <a:rPr sz="2600" b="1" i="0" dirty="0" err="1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AI量化</a:t>
            </a:r>
            <a:r>
              <a:rPr lang="zh-CN" altLang="en-US" sz="2600" b="1" i="0" dirty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共识</a:t>
            </a:r>
            <a:r>
              <a:rPr sz="2600" b="1" i="0" dirty="0" err="1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联盟</a:t>
            </a:r>
            <a:endParaRPr sz="2600" b="1" i="0" dirty="0">
              <a:solidFill>
                <a:srgbClr val="1B2A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11064240" cy="1876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 dirty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Appeal II: Founding the </a:t>
            </a:r>
            <a:r>
              <a:rPr lang="en-US" sz="1150" b="0" i="0" dirty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Global</a:t>
            </a:r>
            <a:r>
              <a:rPr sz="1150" b="0" i="0" dirty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 AI Quantitative Trading Alliance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73936"/>
            <a:ext cx="11091672" cy="201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1091672" cy="60350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5156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联盟定位：</a:t>
            </a:r>
            <a:r>
              <a:rPr sz="1300" b="0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链接「平台—机构—学术—监管」的全国性AI量化生态共同体，以开放、合规、共赢为原则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成员构成  Alliance Members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27248"/>
            <a:ext cx="26974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3127248"/>
            <a:ext cx="2697480" cy="64008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310128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量化私募与资管机构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77056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策略研究与应用落地的核心力量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3127248"/>
            <a:ext cx="26974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55848" y="3127248"/>
            <a:ext cx="2697480" cy="64008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8728" y="3310128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券商与金融科技公司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3877056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交易通道、系统建设与场景落地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3127248"/>
            <a:ext cx="26974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3056" y="3127248"/>
            <a:ext cx="2697480" cy="64008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5936" y="3310128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高校与科研院所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3877056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以南大校友圈层起步，辐射全国AI量化人才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0264" y="3127248"/>
            <a:ext cx="26974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70264" y="3127248"/>
            <a:ext cx="2697480" cy="64008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53144" y="3310128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数据与算力服务商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4" y="3877056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行情/另类数据与GPU算力基础设施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553712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联盟价值  Alliance Value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9204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A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50292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策略共享与验证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76672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联盟策略池与统一回测验证机制，降低单家试错成本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55848" y="489204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38728" y="50292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C4A7C"/>
                </a:solidFill>
                <a:latin typeface="Noto Sans CJK SC"/>
                <a:ea typeface="Noto Sans CJK SC"/>
                <a:cs typeface="Noto Sans CJK SC"/>
              </a:rPr>
              <a:t>人才共育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38728" y="5376672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与高校联合培养AI量化人才，校友圈层优先输送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63056" y="489204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A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45936" y="50292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标准共建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5376672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推动AI量化研发与合规行业标准建设，参与监管对话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70264" y="489204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53144" y="50292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C4A7C"/>
                </a:solidFill>
                <a:latin typeface="Noto Sans CJK SC"/>
                <a:ea typeface="Noto Sans CJK SC"/>
                <a:cs typeface="Noto Sans CJK SC"/>
              </a:rPr>
              <a:t>生态共赢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53144" y="5376672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算力、数据、通道资源联盟价，成员间业务优先合作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55664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8A93A6"/>
                </a:solidFill>
                <a:latin typeface="Noto Sans CJK SC"/>
                <a:ea typeface="Noto Sans CJK SC"/>
                <a:cs typeface="Noto Sans CJK SC"/>
              </a:rPr>
              <a:t>道一（江苏）资产管理有限公司  ·  AI量化投资与交易创新平台  ·  2026  ·  机密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76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21D36"/>
                </a:solidFill>
                <a:latin typeface="Noto Sans CJK SC"/>
                <a:ea typeface="Noto Sans CJK SC"/>
                <a:cs typeface="Noto Sans CJK SC"/>
              </a:rPr>
              <a:t>诉求三 APPEAL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 dirty="0" err="1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设立量化交易基金</a:t>
            </a:r>
            <a:endParaRPr sz="2600" b="1" i="0" dirty="0">
              <a:solidFill>
                <a:srgbClr val="1B2A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Appeal III: Establishing the Quantitative Trading Fund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73936"/>
            <a:ext cx="11091672" cy="201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1091672" cy="60350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5156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基金定位：</a:t>
            </a:r>
            <a:r>
              <a:rPr sz="1300" b="0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以John Ding模型体系为核心引擎、AI原生投研为流程底座的量化交易基金，严格在监管框架内运作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策略矩阵  Strategy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27248"/>
            <a:ext cx="1042415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127248"/>
            <a:ext cx="104241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VIX波动率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19" y="3127248"/>
            <a:ext cx="1042415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45919" y="3127248"/>
            <a:ext cx="104241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指数增强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127248"/>
            <a:ext cx="1042415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0" y="3127248"/>
            <a:ext cx="104241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多因子选股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3127248"/>
            <a:ext cx="1042415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0" y="3127248"/>
            <a:ext cx="104241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期权对冲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3127248"/>
            <a:ext cx="1042415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60" y="3127248"/>
            <a:ext cx="104241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多资产配置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4048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资金规划（示意）  Fund Roadmap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169663"/>
            <a:ext cx="5486400" cy="621792"/>
          </a:xfrm>
          <a:prstGeom prst="roundRect">
            <a:avLst>
              <a:gd name="adj" fmla="val 10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169663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C4A7C"/>
                </a:solidFill>
                <a:latin typeface="Noto Sans CJK SC"/>
                <a:ea typeface="Noto Sans CJK SC"/>
                <a:cs typeface="Noto Sans CJK SC"/>
              </a:rPr>
              <a:t>基金一期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4169663"/>
            <a:ext cx="12344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0.5–1亿元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169663"/>
            <a:ext cx="25603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种子资金 + 自营资金，验证模型实盘表现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82896"/>
            <a:ext cx="5486400" cy="621792"/>
          </a:xfrm>
          <a:prstGeom prst="roundRect">
            <a:avLst>
              <a:gd name="adj" fmla="val 10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882896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C4A7C"/>
                </a:solidFill>
                <a:latin typeface="Noto Sans CJK SC"/>
                <a:ea typeface="Noto Sans CJK SC"/>
                <a:cs typeface="Noto Sans CJK SC"/>
              </a:rPr>
              <a:t>基金二期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882896"/>
            <a:ext cx="12344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3–5亿元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882896"/>
            <a:ext cx="25603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联盟机构作为LP参与，规模化管理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596128"/>
            <a:ext cx="5486400" cy="621792"/>
          </a:xfrm>
          <a:prstGeom prst="roundRect">
            <a:avLst>
              <a:gd name="adj" fmla="val 10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5596128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C4A7C"/>
                </a:solidFill>
                <a:latin typeface="Noto Sans CJK SC"/>
                <a:ea typeface="Noto Sans CJK SC"/>
                <a:cs typeface="Noto Sans CJK SC"/>
              </a:rPr>
              <a:t>基金三期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96128"/>
            <a:ext cx="12344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10亿元+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5596128"/>
            <a:ext cx="25603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市场化募资，多策略矩阵化运作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2788920"/>
            <a:ext cx="5285232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55080" y="2788920"/>
            <a:ext cx="5285232" cy="82296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29400" y="2944368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合规路径  Compliance Path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310128"/>
            <a:ext cx="4800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私募基金管理人登记 → 产品发行备案 → 合规募集与信息披露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专业法律顾问护航，主动对接监管，阳光化运作。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80" y="4617720"/>
            <a:ext cx="5285232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355080" y="4617720"/>
            <a:ext cx="5285232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29400" y="4773168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B2A4A"/>
                </a:solidFill>
                <a:latin typeface="Noto Sans CJK SC"/>
                <a:ea typeface="Noto Sans CJK SC"/>
                <a:cs typeface="Noto Sans CJK SC"/>
              </a:rPr>
              <a:t>风控体系  Risk Control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138928"/>
            <a:ext cx="4800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2A3242"/>
                </a:solidFill>
                <a:latin typeface="Noto Sans CJK SC"/>
                <a:ea typeface="Noto Sans CJK SC"/>
                <a:cs typeface="Noto Sans CJK SC"/>
              </a:rPr>
              <a:t>波动率约束（VIX模型预警）· 最大回撤熔断 · 多策略低相关分散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8"/>
                </a:solidFill>
                <a:latin typeface="Noto Sans CJK SC"/>
                <a:ea typeface="Noto Sans CJK SC"/>
                <a:cs typeface="Noto Sans CJK SC"/>
              </a:rPr>
              <a:t>风控体系独立于投研体系，具备一票否决权。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55664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8A93A6"/>
                </a:solidFill>
                <a:latin typeface="Noto Sans CJK SC"/>
                <a:ea typeface="Noto Sans CJK SC"/>
                <a:cs typeface="Noto Sans CJK SC"/>
              </a:rPr>
              <a:t>道一（江苏）资产管理有限公司  ·  AI量化投资与交易创新平台  ·  2026  ·  机密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64240" y="6455664"/>
            <a:ext cx="5760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 i="0">
                <a:solidFill>
                  <a:srgbClr val="9A7B14"/>
                </a:solidFill>
                <a:latin typeface="Noto Sans CJK SC"/>
                <a:ea typeface="Noto Sans CJK SC"/>
                <a:cs typeface="Noto Sans CJK S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566928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三步走：从平台共建到生态闭环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1097280"/>
            <a:ext cx="9144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1E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352044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69164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01168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合伙人签约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487168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B9C4D6"/>
                </a:solidFill>
                <a:latin typeface="Noto Sans CJK SC"/>
                <a:ea typeface="Noto Sans CJK SC"/>
                <a:cs typeface="Noto Sans CJK SC"/>
              </a:rPr>
              <a:t>与合伙人公司签署合作协议，明确股权/资源/分工，启动平台共建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94560"/>
            <a:ext cx="320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481328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1E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1481328"/>
            <a:ext cx="352044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2" y="169164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01168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联盟发起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487168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B9C4D6"/>
                </a:solidFill>
                <a:latin typeface="Noto Sans CJK SC"/>
                <a:ea typeface="Noto Sans CJK SC"/>
                <a:cs typeface="Noto Sans CJK SC"/>
              </a:rPr>
              <a:t>联合首批理事单位发起全国AI量化交易联盟，开放成员招募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194560"/>
            <a:ext cx="320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481328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1E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92440" y="1481328"/>
            <a:ext cx="352044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48471" y="169164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1" y="201168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基金落地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487168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B9C4D6"/>
                </a:solidFill>
                <a:latin typeface="Noto Sans CJK SC"/>
                <a:ea typeface="Noto Sans CJK SC"/>
                <a:cs typeface="Noto Sans CJK SC"/>
              </a:rPr>
              <a:t>完成管理人登记与产品备案，量化交易基金进入募集与运作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94760"/>
            <a:ext cx="11018520" cy="1234440"/>
          </a:xfrm>
          <a:prstGeom prst="roundRect">
            <a:avLst>
              <a:gd name="adj" fmla="val 8000"/>
            </a:avLst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" y="3794760"/>
            <a:ext cx="73152" cy="1234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3950208"/>
            <a:ext cx="104241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风险与合规声明  </a:t>
            </a:r>
            <a:r>
              <a:rPr sz="1000" b="0" i="0">
                <a:solidFill>
                  <a:srgbClr val="8A93A6"/>
                </a:solidFill>
                <a:latin typeface="Noto Sans CJK SC"/>
                <a:ea typeface="Noto Sans CJK SC"/>
                <a:cs typeface="Noto Sans CJK SC"/>
              </a:rPr>
              <a:t>Risk &amp; Compliance Disclaimer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ADC4"/>
                </a:solidFill>
                <a:latin typeface="Noto Sans CJK SC"/>
                <a:ea typeface="Noto Sans CJK SC"/>
                <a:cs typeface="Noto Sans CJK SC"/>
              </a:rPr>
              <a:t>本项目为技术研发与业务合作规划，所有模型、回测与历史表现仅作研发与学术迭代使用，不构成任何投资建议、收益承诺或保本保证。合作与投资均需经过严谨尽调与风险评估，并严格在监管框架内开展。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257800"/>
            <a:ext cx="11018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AI重塑金融 · 量化定义未来 · 与共建者共赢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806440"/>
            <a:ext cx="11018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E3C55C"/>
                </a:solidFill>
                <a:latin typeface="Noto Sans CJK SC"/>
                <a:ea typeface="Noto Sans CJK SC"/>
                <a:cs typeface="Noto Sans CJK SC"/>
              </a:rPr>
              <a:t>AI Reshapes Finance · Quant Defines the Future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236208"/>
            <a:ext cx="11018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8A93A6"/>
                </a:solidFill>
                <a:latin typeface="Noto Sans CJK SC"/>
                <a:ea typeface="Noto Sans CJK SC"/>
                <a:cs typeface="Noto Sans CJK SC"/>
              </a:rPr>
              <a:t>道一（江苏）资产管理有限公司  ·  联系方式：（请填写）  ·  2026  ·  机密文件，仅供合作评估使用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2173</Words>
  <Application>Microsoft Office PowerPoint</Application>
  <PresentationFormat>Widescreen</PresentationFormat>
  <Paragraphs>448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Noto Sans CJK SC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 sun</cp:lastModifiedBy>
  <cp:revision>9</cp:revision>
  <dcterms:created xsi:type="dcterms:W3CDTF">2013-01-27T09:14:16Z</dcterms:created>
  <dcterms:modified xsi:type="dcterms:W3CDTF">2026-09-05T18:07:00Z</dcterms:modified>
  <cp:category/>
</cp:coreProperties>
</file>