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0" r:id="rId24"/>
    <p:sldId id="281"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43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D3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5468112"/>
            <a:ext cx="54864" cy="54864"/>
          </a:xfrm>
          <a:prstGeom prst="rect">
            <a:avLst/>
          </a:prstGeom>
          <a:solidFill>
            <a:srgbClr val="3040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86968" y="5468112"/>
            <a:ext cx="54864" cy="54864"/>
          </a:xfrm>
          <a:prstGeom prst="rect">
            <a:avLst/>
          </a:prstGeom>
          <a:solidFill>
            <a:srgbClr val="3040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7" y="5468112"/>
            <a:ext cx="54864" cy="54864"/>
          </a:xfrm>
          <a:prstGeom prst="rect">
            <a:avLst/>
          </a:prstGeom>
          <a:solidFill>
            <a:srgbClr val="3040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739128"/>
            <a:ext cx="12191695"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02920"/>
            <a:ext cx="8229600" cy="227370"/>
          </a:xfrm>
          <a:prstGeom prst="rect">
            <a:avLst/>
          </a:prstGeom>
          <a:noFill/>
        </p:spPr>
        <p:txBody>
          <a:bodyPr wrap="square" lIns="0" tIns="0" rIns="0" bIns="0" anchor="t">
            <a:spAutoFit/>
          </a:bodyPr>
          <a:lstStyle/>
          <a:p>
            <a:pPr algn="l">
              <a:lnSpc>
                <a:spcPct val="112000"/>
              </a:lnSpc>
            </a:pPr>
            <a:r>
              <a:rPr sz="1400" b="0" i="0" dirty="0">
                <a:solidFill>
                  <a:srgbClr val="9AA8BE"/>
                </a:solidFill>
                <a:latin typeface="Noto Sans CJK SC"/>
                <a:ea typeface="Noto Sans CJK SC"/>
                <a:cs typeface="Noto Sans CJK SC"/>
              </a:rPr>
              <a:t>道一（江苏）资产管理有限公司  |  DAOYI (JIANGSU) ASSET MANAGEMENT CO., LTD.</a:t>
            </a:r>
          </a:p>
        </p:txBody>
      </p:sp>
      <p:sp>
        <p:nvSpPr>
          <p:cNvPr id="11" name="TextBox 10"/>
          <p:cNvSpPr txBox="1"/>
          <p:nvPr/>
        </p:nvSpPr>
        <p:spPr>
          <a:xfrm>
            <a:off x="566928" y="2084831"/>
            <a:ext cx="11155680" cy="779509"/>
          </a:xfrm>
          <a:prstGeom prst="rect">
            <a:avLst/>
          </a:prstGeom>
          <a:noFill/>
        </p:spPr>
        <p:txBody>
          <a:bodyPr wrap="square" lIns="0" tIns="0" rIns="0" bIns="0" anchor="t">
            <a:spAutoFit/>
          </a:bodyPr>
          <a:lstStyle/>
          <a:p>
            <a:pPr algn="l">
              <a:lnSpc>
                <a:spcPct val="112000"/>
              </a:lnSpc>
            </a:pPr>
            <a:r>
              <a:rPr sz="4800" b="1" i="0" dirty="0" err="1">
                <a:solidFill>
                  <a:srgbClr val="FFFFFF"/>
                </a:solidFill>
                <a:latin typeface="Noto Sans CJK SC"/>
                <a:ea typeface="Noto Sans CJK SC"/>
                <a:cs typeface="Noto Sans CJK SC"/>
              </a:rPr>
              <a:t>AI量化</a:t>
            </a:r>
            <a:r>
              <a:rPr lang="zh-CN" altLang="en-US" sz="4800" b="1" i="0" dirty="0">
                <a:solidFill>
                  <a:srgbClr val="FFFFFF"/>
                </a:solidFill>
                <a:latin typeface="Noto Sans CJK SC"/>
                <a:ea typeface="Noto Sans CJK SC"/>
                <a:cs typeface="Noto Sans CJK SC"/>
              </a:rPr>
              <a:t>共识联盟</a:t>
            </a:r>
            <a:endParaRPr sz="4800" b="1" i="0" dirty="0">
              <a:solidFill>
                <a:srgbClr val="FFFFFF"/>
              </a:solidFill>
              <a:latin typeface="Noto Sans CJK SC"/>
              <a:ea typeface="Noto Sans CJK SC"/>
              <a:cs typeface="Noto Sans CJK SC"/>
            </a:endParaRPr>
          </a:p>
        </p:txBody>
      </p:sp>
      <p:sp>
        <p:nvSpPr>
          <p:cNvPr id="12" name="TextBox 11"/>
          <p:cNvSpPr txBox="1"/>
          <p:nvPr/>
        </p:nvSpPr>
        <p:spPr>
          <a:xfrm>
            <a:off x="886968" y="3168031"/>
            <a:ext cx="11155680" cy="260969"/>
          </a:xfrm>
          <a:prstGeom prst="rect">
            <a:avLst/>
          </a:prstGeom>
          <a:noFill/>
        </p:spPr>
        <p:txBody>
          <a:bodyPr wrap="square" lIns="0" tIns="0" rIns="0" bIns="0" anchor="t">
            <a:spAutoFit/>
          </a:bodyPr>
          <a:lstStyle/>
          <a:p>
            <a:pPr algn="l">
              <a:lnSpc>
                <a:spcPct val="112000"/>
              </a:lnSpc>
            </a:pPr>
            <a:r>
              <a:rPr sz="1600" b="0" i="0" dirty="0">
                <a:solidFill>
                  <a:srgbClr val="E3C55C"/>
                </a:solidFill>
                <a:latin typeface="Noto Sans CJK SC"/>
                <a:ea typeface="Noto Sans CJK SC"/>
                <a:cs typeface="Noto Sans CJK SC"/>
              </a:rPr>
              <a:t>AI</a:t>
            </a:r>
            <a:r>
              <a:rPr lang="en-US" sz="1600" b="0" i="0" dirty="0">
                <a:solidFill>
                  <a:srgbClr val="E3C55C"/>
                </a:solidFill>
                <a:latin typeface="Noto Sans CJK SC"/>
                <a:ea typeface="Noto Sans CJK SC"/>
                <a:cs typeface="Noto Sans CJK SC"/>
              </a:rPr>
              <a:t> </a:t>
            </a:r>
            <a:r>
              <a:rPr lang="en-US" altLang="zh-CN" sz="1600" b="0" i="0" dirty="0">
                <a:solidFill>
                  <a:srgbClr val="E3C55C"/>
                </a:solidFill>
                <a:latin typeface="Noto Sans CJK SC"/>
                <a:ea typeface="Noto Sans CJK SC"/>
                <a:cs typeface="Noto Sans CJK SC"/>
              </a:rPr>
              <a:t>Quant Consensus Alliance</a:t>
            </a:r>
            <a:endParaRPr sz="1600" b="0" i="0" dirty="0">
              <a:solidFill>
                <a:srgbClr val="E3C55C"/>
              </a:solidFill>
              <a:latin typeface="Noto Sans CJK SC"/>
              <a:ea typeface="Noto Sans CJK SC"/>
              <a:cs typeface="Noto Sans CJK SC"/>
            </a:endParaRPr>
          </a:p>
        </p:txBody>
      </p:sp>
      <p:sp>
        <p:nvSpPr>
          <p:cNvPr id="13" name="Rectangle 12"/>
          <p:cNvSpPr/>
          <p:nvPr/>
        </p:nvSpPr>
        <p:spPr>
          <a:xfrm>
            <a:off x="594360" y="3858768"/>
            <a:ext cx="1051560" cy="4114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4069080"/>
            <a:ext cx="10515600" cy="411480"/>
          </a:xfrm>
          <a:prstGeom prst="rect">
            <a:avLst/>
          </a:prstGeom>
          <a:noFill/>
        </p:spPr>
        <p:txBody>
          <a:bodyPr wrap="square" lIns="0" tIns="0" rIns="0" bIns="0" anchor="t">
            <a:spAutoFit/>
          </a:bodyPr>
          <a:lstStyle/>
          <a:p>
            <a:pPr algn="l">
              <a:lnSpc>
                <a:spcPct val="112000"/>
              </a:lnSpc>
            </a:pPr>
            <a:r>
              <a:rPr sz="1700" b="0" i="0">
                <a:solidFill>
                  <a:srgbClr val="D5DDEA"/>
                </a:solidFill>
                <a:latin typeface="Noto Sans CJK SC"/>
                <a:ea typeface="Noto Sans CJK SC"/>
                <a:cs typeface="Noto Sans CJK SC"/>
              </a:rPr>
              <a:t>以数理模型为基 · 以AI智能为翼 · 以合规为界</a:t>
            </a:r>
          </a:p>
        </p:txBody>
      </p:sp>
      <p:sp>
        <p:nvSpPr>
          <p:cNvPr id="15" name="Rounded Rectangle 14"/>
          <p:cNvSpPr/>
          <p:nvPr/>
        </p:nvSpPr>
        <p:spPr>
          <a:xfrm>
            <a:off x="594360" y="4709160"/>
            <a:ext cx="10607040" cy="658368"/>
          </a:xfrm>
          <a:prstGeom prst="roundRect">
            <a:avLst>
              <a:gd name="adj" fmla="val 50000"/>
            </a:avLst>
          </a:prstGeom>
          <a:solidFill>
            <a:srgbClr val="223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4709160"/>
            <a:ext cx="82296" cy="6583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924659"/>
            <a:ext cx="10058400" cy="227370"/>
          </a:xfrm>
          <a:prstGeom prst="rect">
            <a:avLst/>
          </a:prstGeom>
          <a:noFill/>
        </p:spPr>
        <p:txBody>
          <a:bodyPr wrap="square" lIns="0" tIns="0" rIns="0" bIns="0" anchor="ctr">
            <a:spAutoFit/>
          </a:bodyPr>
          <a:lstStyle/>
          <a:p>
            <a:pPr algn="l">
              <a:lnSpc>
                <a:spcPct val="112000"/>
              </a:lnSpc>
            </a:pPr>
            <a:r>
              <a:rPr sz="1400" b="1" i="0" dirty="0" err="1">
                <a:solidFill>
                  <a:srgbClr val="E3C55C"/>
                </a:solidFill>
                <a:latin typeface="Noto Sans CJK SC"/>
                <a:ea typeface="Noto Sans CJK SC"/>
                <a:cs typeface="Noto Sans CJK SC"/>
              </a:rPr>
              <a:t>合作诉求：</a:t>
            </a:r>
            <a:r>
              <a:rPr sz="1400" b="0" i="0" dirty="0" err="1">
                <a:solidFill>
                  <a:srgbClr val="FFFFFF"/>
                </a:solidFill>
                <a:latin typeface="Noto Sans CJK SC"/>
                <a:ea typeface="Noto Sans CJK SC"/>
                <a:cs typeface="Noto Sans CJK SC"/>
              </a:rPr>
              <a:t>招募合伙人公司共建</a:t>
            </a:r>
            <a:r>
              <a:rPr lang="zh-CN" altLang="en-US" sz="1400" dirty="0">
                <a:solidFill>
                  <a:srgbClr val="FFFFFF"/>
                </a:solidFill>
                <a:latin typeface="Noto Sans CJK SC"/>
                <a:ea typeface="Noto Sans CJK SC"/>
                <a:cs typeface="Noto Sans CJK SC"/>
              </a:rPr>
              <a:t>联盟</a:t>
            </a:r>
            <a:r>
              <a:rPr sz="1400" b="0" i="0" dirty="0">
                <a:solidFill>
                  <a:srgbClr val="FFFFFF"/>
                </a:solidFill>
                <a:latin typeface="Noto Sans CJK SC"/>
                <a:ea typeface="Noto Sans CJK SC"/>
                <a:cs typeface="Noto Sans CJK SC"/>
              </a:rPr>
              <a:t>  ·  </a:t>
            </a:r>
            <a:r>
              <a:rPr sz="1400" b="0" i="0" dirty="0" err="1">
                <a:solidFill>
                  <a:srgbClr val="FFFFFF"/>
                </a:solidFill>
                <a:latin typeface="Noto Sans CJK SC"/>
                <a:ea typeface="Noto Sans CJK SC"/>
                <a:cs typeface="Noto Sans CJK SC"/>
              </a:rPr>
              <a:t>创建全</a:t>
            </a:r>
            <a:r>
              <a:rPr lang="zh-CN" altLang="en-US" sz="1400" b="0" i="0" dirty="0">
                <a:solidFill>
                  <a:srgbClr val="FFFFFF"/>
                </a:solidFill>
                <a:latin typeface="Noto Sans CJK SC"/>
                <a:ea typeface="Noto Sans CJK SC"/>
                <a:cs typeface="Noto Sans CJK SC"/>
              </a:rPr>
              <a:t>球</a:t>
            </a:r>
            <a:r>
              <a:rPr sz="1400" b="0" i="0" dirty="0" err="1">
                <a:solidFill>
                  <a:srgbClr val="FFFFFF"/>
                </a:solidFill>
                <a:latin typeface="Noto Sans CJK SC"/>
                <a:ea typeface="Noto Sans CJK SC"/>
                <a:cs typeface="Noto Sans CJK SC"/>
              </a:rPr>
              <a:t>AI量化联盟</a:t>
            </a:r>
            <a:r>
              <a:rPr sz="1400" b="0" i="0" dirty="0">
                <a:solidFill>
                  <a:srgbClr val="FFFFFF"/>
                </a:solidFill>
                <a:latin typeface="Noto Sans CJK SC"/>
                <a:ea typeface="Noto Sans CJK SC"/>
                <a:cs typeface="Noto Sans CJK SC"/>
              </a:rPr>
              <a:t>  ·  </a:t>
            </a:r>
            <a:r>
              <a:rPr sz="1400" b="0" i="0" dirty="0" err="1">
                <a:solidFill>
                  <a:srgbClr val="FFFFFF"/>
                </a:solidFill>
                <a:latin typeface="Noto Sans CJK SC"/>
                <a:ea typeface="Noto Sans CJK SC"/>
                <a:cs typeface="Noto Sans CJK SC"/>
              </a:rPr>
              <a:t>设立量化基金</a:t>
            </a:r>
            <a:endParaRPr sz="1400" b="0" i="0" dirty="0">
              <a:solidFill>
                <a:srgbClr val="FFFFFF"/>
              </a:solidFill>
              <a:latin typeface="Noto Sans CJK SC"/>
              <a:ea typeface="Noto Sans CJK SC"/>
              <a:cs typeface="Noto Sans CJK SC"/>
            </a:endParaRPr>
          </a:p>
        </p:txBody>
      </p:sp>
      <p:sp>
        <p:nvSpPr>
          <p:cNvPr id="18" name="TextBox 17"/>
          <p:cNvSpPr txBox="1"/>
          <p:nvPr/>
        </p:nvSpPr>
        <p:spPr>
          <a:xfrm>
            <a:off x="594360" y="5989320"/>
            <a:ext cx="10972800" cy="320040"/>
          </a:xfrm>
          <a:prstGeom prst="rect">
            <a:avLst/>
          </a:prstGeom>
          <a:noFill/>
        </p:spPr>
        <p:txBody>
          <a:bodyPr wrap="square" lIns="0" tIns="0" rIns="0" bIns="0" anchor="t">
            <a:spAutoFit/>
          </a:bodyPr>
          <a:lstStyle/>
          <a:p>
            <a:pPr algn="l">
              <a:lnSpc>
                <a:spcPct val="112000"/>
              </a:lnSpc>
            </a:pPr>
            <a:r>
              <a:rPr sz="1150" b="0" i="0">
                <a:solidFill>
                  <a:srgbClr val="8A93A6"/>
                </a:solidFill>
                <a:latin typeface="Noto Sans CJK SC"/>
                <a:ea typeface="Noto Sans CJK SC"/>
                <a:cs typeface="Noto Sans CJK SC"/>
              </a:rPr>
              <a:t>基于 John Ding 数理金融模型体系与华尔街量化团队  ·  2026  ·  内部资料（仅供合作评估使用）</a:t>
            </a:r>
          </a:p>
        </p:txBody>
      </p:sp>
      <p:pic>
        <p:nvPicPr>
          <p:cNvPr id="20" name="Picture 19">
            <a:extLst>
              <a:ext uri="{FF2B5EF4-FFF2-40B4-BE49-F238E27FC236}">
                <a16:creationId xmlns:a16="http://schemas.microsoft.com/office/drawing/2014/main" id="{A2D37323-312E-5CE2-441F-B226A1299D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9917" y="-274352"/>
            <a:ext cx="5199012" cy="51990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3977639"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3977639"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88720" y="4480560"/>
            <a:ext cx="3840480" cy="3840480"/>
          </a:xfrm>
          <a:prstGeom prst="ellipse">
            <a:avLst/>
          </a:prstGeom>
          <a:noFill/>
          <a:ln w="17780">
            <a:solidFill>
              <a:srgbClr val="2A3B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54480"/>
            <a:ext cx="3108960" cy="914400"/>
          </a:xfrm>
          <a:prstGeom prst="rect">
            <a:avLst/>
          </a:prstGeom>
          <a:noFill/>
        </p:spPr>
        <p:txBody>
          <a:bodyPr wrap="square" lIns="0" tIns="0" rIns="0" bIns="0" anchor="t">
            <a:spAutoFit/>
          </a:bodyPr>
          <a:lstStyle/>
          <a:p>
            <a:pPr algn="l">
              <a:lnSpc>
                <a:spcPct val="112000"/>
              </a:lnSpc>
            </a:pPr>
            <a:r>
              <a:rPr sz="4400" b="1" i="0">
                <a:solidFill>
                  <a:srgbClr val="FFFFFF"/>
                </a:solidFill>
                <a:latin typeface="Noto Sans CJK SC"/>
                <a:ea typeface="Noto Sans CJK SC"/>
                <a:cs typeface="Noto Sans CJK SC"/>
              </a:rPr>
              <a:t>目录</a:t>
            </a:r>
          </a:p>
        </p:txBody>
      </p:sp>
      <p:sp>
        <p:nvSpPr>
          <p:cNvPr id="6" name="TextBox 5"/>
          <p:cNvSpPr txBox="1"/>
          <p:nvPr/>
        </p:nvSpPr>
        <p:spPr>
          <a:xfrm>
            <a:off x="594360" y="2487168"/>
            <a:ext cx="3108960" cy="365760"/>
          </a:xfrm>
          <a:prstGeom prst="rect">
            <a:avLst/>
          </a:prstGeom>
          <a:noFill/>
        </p:spPr>
        <p:txBody>
          <a:bodyPr wrap="square" lIns="0" tIns="0" rIns="0" bIns="0" anchor="t">
            <a:spAutoFit/>
          </a:bodyPr>
          <a:lstStyle/>
          <a:p>
            <a:pPr algn="l">
              <a:lnSpc>
                <a:spcPct val="112000"/>
              </a:lnSpc>
            </a:pPr>
            <a:r>
              <a:rPr sz="1500" b="0" i="0">
                <a:solidFill>
                  <a:srgbClr val="E3C55C"/>
                </a:solidFill>
                <a:latin typeface="Noto Sans CJK SC"/>
                <a:ea typeface="Noto Sans CJK SC"/>
                <a:cs typeface="Noto Sans CJK SC"/>
              </a:rPr>
              <a:t>CONTENTS</a:t>
            </a:r>
          </a:p>
        </p:txBody>
      </p:sp>
      <p:sp>
        <p:nvSpPr>
          <p:cNvPr id="7" name="Rectangle 6"/>
          <p:cNvSpPr/>
          <p:nvPr/>
        </p:nvSpPr>
        <p:spPr>
          <a:xfrm>
            <a:off x="594360" y="3017520"/>
            <a:ext cx="822960" cy="4114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3246120"/>
            <a:ext cx="3108960" cy="1463040"/>
          </a:xfrm>
          <a:prstGeom prst="rect">
            <a:avLst/>
          </a:prstGeom>
          <a:noFill/>
        </p:spPr>
        <p:txBody>
          <a:bodyPr wrap="square" lIns="0" tIns="0" rIns="0" bIns="0" anchor="t">
            <a:spAutoFit/>
          </a:bodyPr>
          <a:lstStyle/>
          <a:p>
            <a:pPr algn="l">
              <a:lnSpc>
                <a:spcPct val="112000"/>
              </a:lnSpc>
              <a:spcBef>
                <a:spcPts val="0"/>
              </a:spcBef>
              <a:spcAft>
                <a:spcPts val="600"/>
              </a:spcAft>
            </a:pPr>
            <a:r>
              <a:rPr sz="1300" b="0" i="0">
                <a:solidFill>
                  <a:srgbClr val="B9C4D6"/>
                </a:solidFill>
                <a:latin typeface="Noto Sans CJK SC"/>
                <a:ea typeface="Noto Sans CJK SC"/>
                <a:cs typeface="Noto Sans CJK SC"/>
              </a:rPr>
              <a:t>AI重塑金融 · 量化定义未来</a:t>
            </a:r>
          </a:p>
          <a:p>
            <a:pPr algn="l">
              <a:lnSpc>
                <a:spcPct val="112000"/>
              </a:lnSpc>
              <a:spcBef>
                <a:spcPts val="0"/>
              </a:spcBef>
              <a:spcAft>
                <a:spcPts val="0"/>
              </a:spcAft>
            </a:pPr>
            <a:r>
              <a:rPr sz="1050" b="0" i="0">
                <a:solidFill>
                  <a:srgbClr val="7A88A2"/>
                </a:solidFill>
                <a:latin typeface="Noto Sans CJK SC"/>
                <a:ea typeface="Noto Sans CJK SC"/>
                <a:cs typeface="Noto Sans CJK SC"/>
              </a:rPr>
              <a:t>The Wave · The Platform · The Alliance</a:t>
            </a:r>
          </a:p>
        </p:txBody>
      </p:sp>
      <p:sp>
        <p:nvSpPr>
          <p:cNvPr id="9" name="Rounded Rectangle 8"/>
          <p:cNvSpPr/>
          <p:nvPr/>
        </p:nvSpPr>
        <p:spPr>
          <a:xfrm>
            <a:off x="4526280" y="960120"/>
            <a:ext cx="7086600" cy="1481328"/>
          </a:xfrm>
          <a:prstGeom prst="roundRect">
            <a:avLst>
              <a:gd name="adj" fmla="val 9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46320" y="1179576"/>
            <a:ext cx="1371600" cy="685800"/>
          </a:xfrm>
          <a:prstGeom prst="rect">
            <a:avLst/>
          </a:prstGeom>
          <a:noFill/>
        </p:spPr>
        <p:txBody>
          <a:bodyPr wrap="square" lIns="0" tIns="0" rIns="0" bIns="0" anchor="t">
            <a:spAutoFit/>
          </a:bodyPr>
          <a:lstStyle/>
          <a:p>
            <a:pPr algn="l">
              <a:lnSpc>
                <a:spcPct val="112000"/>
              </a:lnSpc>
            </a:pPr>
            <a:r>
              <a:rPr sz="4000" b="1" i="0">
                <a:solidFill>
                  <a:srgbClr val="C9A227"/>
                </a:solidFill>
                <a:latin typeface="Noto Sans CJK SC"/>
                <a:ea typeface="Noto Sans CJK SC"/>
                <a:cs typeface="Noto Sans CJK SC"/>
              </a:rPr>
              <a:t>01</a:t>
            </a:r>
          </a:p>
        </p:txBody>
      </p:sp>
      <p:sp>
        <p:nvSpPr>
          <p:cNvPr id="11" name="Rectangle 10"/>
          <p:cNvSpPr/>
          <p:nvPr/>
        </p:nvSpPr>
        <p:spPr>
          <a:xfrm>
            <a:off x="5989320" y="1252728"/>
            <a:ext cx="25603" cy="8686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143000"/>
            <a:ext cx="5120640" cy="384048"/>
          </a:xfrm>
          <a:prstGeom prst="rect">
            <a:avLst/>
          </a:prstGeom>
          <a:noFill/>
        </p:spPr>
        <p:txBody>
          <a:bodyPr wrap="square" lIns="0" tIns="0" rIns="0" bIns="0" anchor="t">
            <a:spAutoFit/>
          </a:bodyPr>
          <a:lstStyle/>
          <a:p>
            <a:pPr algn="l">
              <a:lnSpc>
                <a:spcPct val="112000"/>
              </a:lnSpc>
            </a:pPr>
            <a:r>
              <a:rPr sz="1900" b="1" i="0">
                <a:solidFill>
                  <a:srgbClr val="1B2A4A"/>
                </a:solidFill>
                <a:latin typeface="Noto Sans CJK SC"/>
                <a:ea typeface="Noto Sans CJK SC"/>
                <a:cs typeface="Noto Sans CJK SC"/>
              </a:rPr>
              <a:t>行业大势</a:t>
            </a:r>
            <a:r>
              <a:rPr sz="1250" b="0" i="0">
                <a:solidFill>
                  <a:srgbClr val="6B7688"/>
                </a:solidFill>
                <a:latin typeface="Noto Sans CJK SC"/>
                <a:ea typeface="Noto Sans CJK SC"/>
                <a:cs typeface="Noto Sans CJK SC"/>
              </a:rPr>
              <a:t>   The Wave</a:t>
            </a:r>
          </a:p>
        </p:txBody>
      </p:sp>
      <p:sp>
        <p:nvSpPr>
          <p:cNvPr id="13" name="TextBox 12"/>
          <p:cNvSpPr txBox="1"/>
          <p:nvPr/>
        </p:nvSpPr>
        <p:spPr>
          <a:xfrm>
            <a:off x="6263640" y="1618488"/>
            <a:ext cx="5120640" cy="658368"/>
          </a:xfrm>
          <a:prstGeom prst="rect">
            <a:avLst/>
          </a:prstGeom>
          <a:noFill/>
        </p:spPr>
        <p:txBody>
          <a:bodyPr wrap="square" lIns="0" tIns="0" rIns="0" bIns="0" anchor="t">
            <a:spAutoFit/>
          </a:bodyPr>
          <a:lstStyle/>
          <a:p>
            <a:pPr algn="l">
              <a:lnSpc>
                <a:spcPct val="115000"/>
              </a:lnSpc>
            </a:pPr>
            <a:r>
              <a:rPr sz="1200" b="0" i="0">
                <a:solidFill>
                  <a:srgbClr val="6B7688"/>
                </a:solidFill>
                <a:latin typeface="Noto Sans CJK SC"/>
                <a:ea typeface="Noto Sans CJK SC"/>
                <a:cs typeface="Noto Sans CJK SC"/>
              </a:rPr>
              <a:t>全球AI量化浪潮 · 中国量化爆发 · 前沿研究 · 政策监管</a:t>
            </a:r>
          </a:p>
        </p:txBody>
      </p:sp>
      <p:sp>
        <p:nvSpPr>
          <p:cNvPr id="14" name="TextBox 13"/>
          <p:cNvSpPr txBox="1"/>
          <p:nvPr/>
        </p:nvSpPr>
        <p:spPr>
          <a:xfrm>
            <a:off x="10698480" y="1527048"/>
            <a:ext cx="777240" cy="365760"/>
          </a:xfrm>
          <a:prstGeom prst="rect">
            <a:avLst/>
          </a:prstGeom>
          <a:noFill/>
        </p:spPr>
        <p:txBody>
          <a:bodyPr wrap="square" lIns="0" tIns="0" rIns="0" bIns="0" anchor="t">
            <a:spAutoFit/>
          </a:bodyPr>
          <a:lstStyle/>
          <a:p>
            <a:pPr algn="r">
              <a:lnSpc>
                <a:spcPct val="112000"/>
              </a:lnSpc>
            </a:pPr>
            <a:r>
              <a:rPr sz="1100" b="1" i="0">
                <a:solidFill>
                  <a:srgbClr val="9A7B14"/>
                </a:solidFill>
                <a:latin typeface="Noto Sans CJK SC"/>
                <a:ea typeface="Noto Sans CJK SC"/>
                <a:cs typeface="Noto Sans CJK SC"/>
              </a:rPr>
              <a:t>P03 – P08</a:t>
            </a:r>
          </a:p>
        </p:txBody>
      </p:sp>
      <p:sp>
        <p:nvSpPr>
          <p:cNvPr id="15" name="Rounded Rectangle 14"/>
          <p:cNvSpPr/>
          <p:nvPr/>
        </p:nvSpPr>
        <p:spPr>
          <a:xfrm>
            <a:off x="4526280" y="2660904"/>
            <a:ext cx="7086600" cy="1481328"/>
          </a:xfrm>
          <a:prstGeom prst="roundRect">
            <a:avLst>
              <a:gd name="adj" fmla="val 9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46320" y="2880360"/>
            <a:ext cx="1371600" cy="685800"/>
          </a:xfrm>
          <a:prstGeom prst="rect">
            <a:avLst/>
          </a:prstGeom>
          <a:noFill/>
        </p:spPr>
        <p:txBody>
          <a:bodyPr wrap="square" lIns="0" tIns="0" rIns="0" bIns="0" anchor="t">
            <a:spAutoFit/>
          </a:bodyPr>
          <a:lstStyle/>
          <a:p>
            <a:pPr algn="l">
              <a:lnSpc>
                <a:spcPct val="112000"/>
              </a:lnSpc>
            </a:pPr>
            <a:r>
              <a:rPr sz="4000" b="1" i="0">
                <a:solidFill>
                  <a:srgbClr val="C9A227"/>
                </a:solidFill>
                <a:latin typeface="Noto Sans CJK SC"/>
                <a:ea typeface="Noto Sans CJK SC"/>
                <a:cs typeface="Noto Sans CJK SC"/>
              </a:rPr>
              <a:t>02</a:t>
            </a:r>
          </a:p>
        </p:txBody>
      </p:sp>
      <p:sp>
        <p:nvSpPr>
          <p:cNvPr id="17" name="Rectangle 16"/>
          <p:cNvSpPr/>
          <p:nvPr/>
        </p:nvSpPr>
        <p:spPr>
          <a:xfrm>
            <a:off x="5989320" y="2953512"/>
            <a:ext cx="25603" cy="8686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2843784"/>
            <a:ext cx="5120640" cy="384048"/>
          </a:xfrm>
          <a:prstGeom prst="rect">
            <a:avLst/>
          </a:prstGeom>
          <a:noFill/>
        </p:spPr>
        <p:txBody>
          <a:bodyPr wrap="square" lIns="0" tIns="0" rIns="0" bIns="0" anchor="t">
            <a:spAutoFit/>
          </a:bodyPr>
          <a:lstStyle/>
          <a:p>
            <a:pPr algn="l">
              <a:lnSpc>
                <a:spcPct val="112000"/>
              </a:lnSpc>
            </a:pPr>
            <a:r>
              <a:rPr sz="1900" b="1" i="0">
                <a:solidFill>
                  <a:srgbClr val="1B2A4A"/>
                </a:solidFill>
                <a:latin typeface="Noto Sans CJK SC"/>
                <a:ea typeface="Noto Sans CJK SC"/>
                <a:cs typeface="Noto Sans CJK SC"/>
              </a:rPr>
              <a:t>平台介绍</a:t>
            </a:r>
            <a:r>
              <a:rPr sz="1250" b="0" i="0">
                <a:solidFill>
                  <a:srgbClr val="6B7688"/>
                </a:solidFill>
                <a:latin typeface="Noto Sans CJK SC"/>
                <a:ea typeface="Noto Sans CJK SC"/>
                <a:cs typeface="Noto Sans CJK SC"/>
              </a:rPr>
              <a:t>   The Platform</a:t>
            </a:r>
          </a:p>
        </p:txBody>
      </p:sp>
      <p:sp>
        <p:nvSpPr>
          <p:cNvPr id="19" name="TextBox 18"/>
          <p:cNvSpPr txBox="1"/>
          <p:nvPr/>
        </p:nvSpPr>
        <p:spPr>
          <a:xfrm>
            <a:off x="6263640" y="3319272"/>
            <a:ext cx="5120640" cy="658368"/>
          </a:xfrm>
          <a:prstGeom prst="rect">
            <a:avLst/>
          </a:prstGeom>
          <a:noFill/>
        </p:spPr>
        <p:txBody>
          <a:bodyPr wrap="square" lIns="0" tIns="0" rIns="0" bIns="0" anchor="t">
            <a:spAutoFit/>
          </a:bodyPr>
          <a:lstStyle/>
          <a:p>
            <a:pPr algn="l">
              <a:lnSpc>
                <a:spcPct val="115000"/>
              </a:lnSpc>
            </a:pPr>
            <a:r>
              <a:rPr sz="1200" b="0" i="0">
                <a:solidFill>
                  <a:srgbClr val="6B7688"/>
                </a:solidFill>
                <a:latin typeface="Noto Sans CJK SC"/>
                <a:ea typeface="Noto Sans CJK SC"/>
                <a:cs typeface="Noto Sans CJK SC"/>
              </a:rPr>
              <a:t>定位愿景 · 核心模型 · 功能模块 · 技术底座 · 团队 · 商业模式</a:t>
            </a:r>
          </a:p>
        </p:txBody>
      </p:sp>
      <p:sp>
        <p:nvSpPr>
          <p:cNvPr id="20" name="TextBox 19"/>
          <p:cNvSpPr txBox="1"/>
          <p:nvPr/>
        </p:nvSpPr>
        <p:spPr>
          <a:xfrm>
            <a:off x="10698480" y="3227832"/>
            <a:ext cx="777240" cy="365760"/>
          </a:xfrm>
          <a:prstGeom prst="rect">
            <a:avLst/>
          </a:prstGeom>
          <a:noFill/>
        </p:spPr>
        <p:txBody>
          <a:bodyPr wrap="square" lIns="0" tIns="0" rIns="0" bIns="0" anchor="t">
            <a:spAutoFit/>
          </a:bodyPr>
          <a:lstStyle/>
          <a:p>
            <a:pPr algn="r">
              <a:lnSpc>
                <a:spcPct val="112000"/>
              </a:lnSpc>
            </a:pPr>
            <a:r>
              <a:rPr sz="1100" b="1" i="0">
                <a:solidFill>
                  <a:srgbClr val="9A7B14"/>
                </a:solidFill>
                <a:latin typeface="Noto Sans CJK SC"/>
                <a:ea typeface="Noto Sans CJK SC"/>
                <a:cs typeface="Noto Sans CJK SC"/>
              </a:rPr>
              <a:t>P09 – P16</a:t>
            </a:r>
          </a:p>
        </p:txBody>
      </p:sp>
      <p:sp>
        <p:nvSpPr>
          <p:cNvPr id="21" name="Rounded Rectangle 20"/>
          <p:cNvSpPr/>
          <p:nvPr/>
        </p:nvSpPr>
        <p:spPr>
          <a:xfrm>
            <a:off x="4526280" y="4361688"/>
            <a:ext cx="7086600" cy="1481328"/>
          </a:xfrm>
          <a:prstGeom prst="roundRect">
            <a:avLst>
              <a:gd name="adj" fmla="val 9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46320" y="4581144"/>
            <a:ext cx="1371600" cy="685800"/>
          </a:xfrm>
          <a:prstGeom prst="rect">
            <a:avLst/>
          </a:prstGeom>
          <a:noFill/>
        </p:spPr>
        <p:txBody>
          <a:bodyPr wrap="square" lIns="0" tIns="0" rIns="0" bIns="0" anchor="t">
            <a:spAutoFit/>
          </a:bodyPr>
          <a:lstStyle/>
          <a:p>
            <a:pPr algn="l">
              <a:lnSpc>
                <a:spcPct val="112000"/>
              </a:lnSpc>
            </a:pPr>
            <a:r>
              <a:rPr sz="4000" b="1" i="0">
                <a:solidFill>
                  <a:srgbClr val="C9A227"/>
                </a:solidFill>
                <a:latin typeface="Noto Sans CJK SC"/>
                <a:ea typeface="Noto Sans CJK SC"/>
                <a:cs typeface="Noto Sans CJK SC"/>
              </a:rPr>
              <a:t>03</a:t>
            </a:r>
          </a:p>
        </p:txBody>
      </p:sp>
      <p:sp>
        <p:nvSpPr>
          <p:cNvPr id="23" name="Rectangle 22"/>
          <p:cNvSpPr/>
          <p:nvPr/>
        </p:nvSpPr>
        <p:spPr>
          <a:xfrm>
            <a:off x="5989320" y="4654296"/>
            <a:ext cx="25603" cy="8686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4544568"/>
            <a:ext cx="5120640" cy="384048"/>
          </a:xfrm>
          <a:prstGeom prst="rect">
            <a:avLst/>
          </a:prstGeom>
          <a:noFill/>
        </p:spPr>
        <p:txBody>
          <a:bodyPr wrap="square" lIns="0" tIns="0" rIns="0" bIns="0" anchor="t">
            <a:spAutoFit/>
          </a:bodyPr>
          <a:lstStyle/>
          <a:p>
            <a:pPr algn="l">
              <a:lnSpc>
                <a:spcPct val="112000"/>
              </a:lnSpc>
            </a:pPr>
            <a:r>
              <a:rPr sz="1900" b="1" i="0">
                <a:solidFill>
                  <a:srgbClr val="1B2A4A"/>
                </a:solidFill>
                <a:latin typeface="Noto Sans CJK SC"/>
                <a:ea typeface="Noto Sans CJK SC"/>
                <a:cs typeface="Noto Sans CJK SC"/>
              </a:rPr>
              <a:t>共建计划</a:t>
            </a:r>
            <a:r>
              <a:rPr sz="1250" b="0" i="0">
                <a:solidFill>
                  <a:srgbClr val="6B7688"/>
                </a:solidFill>
                <a:latin typeface="Noto Sans CJK SC"/>
                <a:ea typeface="Noto Sans CJK SC"/>
                <a:cs typeface="Noto Sans CJK SC"/>
              </a:rPr>
              <a:t>   The Alliance</a:t>
            </a:r>
          </a:p>
        </p:txBody>
      </p:sp>
      <p:sp>
        <p:nvSpPr>
          <p:cNvPr id="25" name="TextBox 24"/>
          <p:cNvSpPr txBox="1"/>
          <p:nvPr/>
        </p:nvSpPr>
        <p:spPr>
          <a:xfrm>
            <a:off x="6263640" y="5020056"/>
            <a:ext cx="5120640" cy="199029"/>
          </a:xfrm>
          <a:prstGeom prst="rect">
            <a:avLst/>
          </a:prstGeom>
          <a:noFill/>
        </p:spPr>
        <p:txBody>
          <a:bodyPr wrap="square" lIns="0" tIns="0" rIns="0" bIns="0" anchor="t">
            <a:spAutoFit/>
          </a:bodyPr>
          <a:lstStyle/>
          <a:p>
            <a:pPr algn="l">
              <a:lnSpc>
                <a:spcPct val="115000"/>
              </a:lnSpc>
            </a:pPr>
            <a:r>
              <a:rPr sz="1200" b="0" i="0" dirty="0" err="1">
                <a:solidFill>
                  <a:srgbClr val="6B7688"/>
                </a:solidFill>
                <a:latin typeface="Noto Sans CJK SC"/>
                <a:ea typeface="Noto Sans CJK SC"/>
                <a:cs typeface="Noto Sans CJK SC"/>
              </a:rPr>
              <a:t>路线图</a:t>
            </a:r>
            <a:r>
              <a:rPr sz="1200" b="0" i="0" dirty="0">
                <a:solidFill>
                  <a:srgbClr val="6B7688"/>
                </a:solidFill>
                <a:latin typeface="Noto Sans CJK SC"/>
                <a:ea typeface="Noto Sans CJK SC"/>
                <a:cs typeface="Noto Sans CJK SC"/>
              </a:rPr>
              <a:t> · </a:t>
            </a:r>
            <a:r>
              <a:rPr sz="1200" b="0" i="0" dirty="0" err="1">
                <a:solidFill>
                  <a:srgbClr val="6B7688"/>
                </a:solidFill>
                <a:latin typeface="Noto Sans CJK SC"/>
                <a:ea typeface="Noto Sans CJK SC"/>
                <a:cs typeface="Noto Sans CJK SC"/>
              </a:rPr>
              <a:t>招募合伙人</a:t>
            </a:r>
            <a:r>
              <a:rPr sz="1200" b="0" i="0" dirty="0">
                <a:solidFill>
                  <a:srgbClr val="6B7688"/>
                </a:solidFill>
                <a:latin typeface="Noto Sans CJK SC"/>
                <a:ea typeface="Noto Sans CJK SC"/>
                <a:cs typeface="Noto Sans CJK SC"/>
              </a:rPr>
              <a:t> · </a:t>
            </a:r>
            <a:r>
              <a:rPr sz="1200" b="0" i="0" dirty="0" err="1">
                <a:solidFill>
                  <a:srgbClr val="6B7688"/>
                </a:solidFill>
                <a:latin typeface="Noto Sans CJK SC"/>
                <a:ea typeface="Noto Sans CJK SC"/>
                <a:cs typeface="Noto Sans CJK SC"/>
              </a:rPr>
              <a:t>全国AI量化联盟</a:t>
            </a:r>
            <a:r>
              <a:rPr sz="1200" b="0" i="0" dirty="0">
                <a:solidFill>
                  <a:srgbClr val="6B7688"/>
                </a:solidFill>
                <a:latin typeface="Noto Sans CJK SC"/>
                <a:ea typeface="Noto Sans CJK SC"/>
                <a:cs typeface="Noto Sans CJK SC"/>
              </a:rPr>
              <a:t> · </a:t>
            </a:r>
            <a:r>
              <a:rPr sz="1200" b="0" i="0" dirty="0" err="1">
                <a:solidFill>
                  <a:srgbClr val="6B7688"/>
                </a:solidFill>
                <a:latin typeface="Noto Sans CJK SC"/>
                <a:ea typeface="Noto Sans CJK SC"/>
                <a:cs typeface="Noto Sans CJK SC"/>
              </a:rPr>
              <a:t>量化基金</a:t>
            </a:r>
            <a:endParaRPr sz="1200" b="0" i="0" dirty="0">
              <a:solidFill>
                <a:srgbClr val="6B7688"/>
              </a:solidFill>
              <a:latin typeface="Noto Sans CJK SC"/>
              <a:ea typeface="Noto Sans CJK SC"/>
              <a:cs typeface="Noto Sans CJK SC"/>
            </a:endParaRPr>
          </a:p>
        </p:txBody>
      </p:sp>
      <p:sp>
        <p:nvSpPr>
          <p:cNvPr id="26" name="TextBox 25"/>
          <p:cNvSpPr txBox="1"/>
          <p:nvPr/>
        </p:nvSpPr>
        <p:spPr>
          <a:xfrm>
            <a:off x="10698480" y="4928616"/>
            <a:ext cx="777240" cy="365760"/>
          </a:xfrm>
          <a:prstGeom prst="rect">
            <a:avLst/>
          </a:prstGeom>
          <a:noFill/>
        </p:spPr>
        <p:txBody>
          <a:bodyPr wrap="square" lIns="0" tIns="0" rIns="0" bIns="0" anchor="t">
            <a:spAutoFit/>
          </a:bodyPr>
          <a:lstStyle/>
          <a:p>
            <a:pPr algn="r">
              <a:lnSpc>
                <a:spcPct val="112000"/>
              </a:lnSpc>
            </a:pPr>
            <a:r>
              <a:rPr sz="1100" b="1" i="0">
                <a:solidFill>
                  <a:srgbClr val="9A7B14"/>
                </a:solidFill>
                <a:latin typeface="Noto Sans CJK SC"/>
                <a:ea typeface="Noto Sans CJK SC"/>
                <a:cs typeface="Noto Sans CJK SC"/>
              </a:rPr>
              <a:t>P17 – P22</a:t>
            </a:r>
          </a:p>
        </p:txBody>
      </p:sp>
      <p:sp>
        <p:nvSpPr>
          <p:cNvPr id="27" name="TextBox 26"/>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28" name="TextBox 27"/>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D3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66560"/>
            <a:ext cx="12191695"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051560"/>
            <a:ext cx="3108960" cy="1828800"/>
          </a:xfrm>
          <a:prstGeom prst="rect">
            <a:avLst/>
          </a:prstGeom>
          <a:noFill/>
        </p:spPr>
        <p:txBody>
          <a:bodyPr wrap="square" lIns="0" tIns="0" rIns="0" bIns="0" anchor="t">
            <a:spAutoFit/>
          </a:bodyPr>
          <a:lstStyle/>
          <a:p>
            <a:pPr algn="l">
              <a:lnSpc>
                <a:spcPct val="112000"/>
              </a:lnSpc>
            </a:pPr>
            <a:r>
              <a:rPr sz="10800" b="1" i="0" dirty="0">
                <a:solidFill>
                  <a:srgbClr val="25365C"/>
                </a:solidFill>
                <a:latin typeface="Noto Sans CJK SC"/>
                <a:ea typeface="Noto Sans CJK SC"/>
                <a:cs typeface="Noto Sans CJK SC"/>
              </a:rPr>
              <a:t>01</a:t>
            </a:r>
          </a:p>
        </p:txBody>
      </p:sp>
      <p:sp>
        <p:nvSpPr>
          <p:cNvPr id="7" name="Rectangle 6"/>
          <p:cNvSpPr/>
          <p:nvPr/>
        </p:nvSpPr>
        <p:spPr>
          <a:xfrm>
            <a:off x="777240" y="2880360"/>
            <a:ext cx="8229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127248"/>
            <a:ext cx="10607040" cy="868680"/>
          </a:xfrm>
          <a:prstGeom prst="rect">
            <a:avLst/>
          </a:prstGeom>
          <a:noFill/>
        </p:spPr>
        <p:txBody>
          <a:bodyPr wrap="square" lIns="0" tIns="0" rIns="0" bIns="0" anchor="t">
            <a:spAutoFit/>
          </a:bodyPr>
          <a:lstStyle/>
          <a:p>
            <a:pPr algn="l">
              <a:lnSpc>
                <a:spcPct val="112000"/>
              </a:lnSpc>
            </a:pPr>
            <a:r>
              <a:rPr sz="4000" b="1" i="0">
                <a:solidFill>
                  <a:srgbClr val="FFFFFF"/>
                </a:solidFill>
                <a:latin typeface="Noto Sans CJK SC"/>
                <a:ea typeface="Noto Sans CJK SC"/>
                <a:cs typeface="Noto Sans CJK SC"/>
              </a:rPr>
              <a:t>行业大势</a:t>
            </a:r>
          </a:p>
        </p:txBody>
      </p:sp>
      <p:sp>
        <p:nvSpPr>
          <p:cNvPr id="9" name="TextBox 8"/>
          <p:cNvSpPr txBox="1"/>
          <p:nvPr/>
        </p:nvSpPr>
        <p:spPr>
          <a:xfrm>
            <a:off x="841248" y="4005072"/>
            <a:ext cx="10607040" cy="411480"/>
          </a:xfrm>
          <a:prstGeom prst="rect">
            <a:avLst/>
          </a:prstGeom>
          <a:noFill/>
        </p:spPr>
        <p:txBody>
          <a:bodyPr wrap="square" lIns="0" tIns="0" rIns="0" bIns="0" anchor="t">
            <a:spAutoFit/>
          </a:bodyPr>
          <a:lstStyle/>
          <a:p>
            <a:pPr algn="l">
              <a:lnSpc>
                <a:spcPct val="112000"/>
              </a:lnSpc>
            </a:pPr>
            <a:r>
              <a:rPr sz="1700" b="0" i="0">
                <a:solidFill>
                  <a:srgbClr val="E3C55C"/>
                </a:solidFill>
                <a:latin typeface="Noto Sans CJK SC"/>
                <a:ea typeface="Noto Sans CJK SC"/>
                <a:cs typeface="Noto Sans CJK SC"/>
              </a:rPr>
              <a:t>THE WAVE</a:t>
            </a:r>
          </a:p>
        </p:txBody>
      </p:sp>
      <p:sp>
        <p:nvSpPr>
          <p:cNvPr id="10" name="TextBox 9"/>
          <p:cNvSpPr txBox="1"/>
          <p:nvPr/>
        </p:nvSpPr>
        <p:spPr>
          <a:xfrm>
            <a:off x="841248" y="4553712"/>
            <a:ext cx="10789920" cy="411480"/>
          </a:xfrm>
          <a:prstGeom prst="rect">
            <a:avLst/>
          </a:prstGeom>
          <a:noFill/>
        </p:spPr>
        <p:txBody>
          <a:bodyPr wrap="square" lIns="0" tIns="0" rIns="0" bIns="0" anchor="t">
            <a:spAutoFit/>
          </a:bodyPr>
          <a:lstStyle/>
          <a:p>
            <a:pPr algn="l">
              <a:lnSpc>
                <a:spcPct val="112000"/>
              </a:lnSpc>
            </a:pPr>
            <a:r>
              <a:rPr sz="1450" b="0" i="0">
                <a:solidFill>
                  <a:srgbClr val="B9C4D6"/>
                </a:solidFill>
                <a:latin typeface="Noto Sans CJK SC"/>
                <a:ea typeface="Noto Sans CJK SC"/>
                <a:cs typeface="Noto Sans CJK SC"/>
              </a:rPr>
              <a:t>AI量化已成主流：全球资本与技术的双重竞速</a:t>
            </a:r>
          </a:p>
        </p:txBody>
      </p:sp>
      <p:sp>
        <p:nvSpPr>
          <p:cNvPr id="11" name="Rounded Rectangle 10"/>
          <p:cNvSpPr/>
          <p:nvPr/>
        </p:nvSpPr>
        <p:spPr>
          <a:xfrm>
            <a:off x="841248" y="5230368"/>
            <a:ext cx="10515600" cy="685800"/>
          </a:xfrm>
          <a:prstGeom prst="roundRect">
            <a:avLst>
              <a:gd name="adj" fmla="val 50000"/>
            </a:avLst>
          </a:prstGeom>
          <a:solidFill>
            <a:srgbClr val="1E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5230368"/>
            <a:ext cx="10058400" cy="685800"/>
          </a:xfrm>
          <a:prstGeom prst="rect">
            <a:avLst/>
          </a:prstGeom>
          <a:noFill/>
        </p:spPr>
        <p:txBody>
          <a:bodyPr wrap="square" lIns="0" tIns="0" rIns="0" bIns="0" anchor="ctr">
            <a:spAutoFit/>
          </a:bodyPr>
          <a:lstStyle/>
          <a:p>
            <a:pPr algn="l">
              <a:lnSpc>
                <a:spcPct val="112000"/>
              </a:lnSpc>
            </a:pPr>
            <a:r>
              <a:rPr sz="1300" b="0" i="0">
                <a:solidFill>
                  <a:srgbClr val="D5DDEA"/>
                </a:solidFill>
                <a:latin typeface="Noto Sans CJK SC"/>
                <a:ea typeface="Noto Sans CJK SC"/>
                <a:cs typeface="Noto Sans CJK SC"/>
              </a:rPr>
              <a:t>全球头部机构全面AI化</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中国量化规模突破3万亿</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前沿研究进入Agent时代</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监管新规重塑行业格局</a:t>
            </a:r>
          </a:p>
        </p:txBody>
      </p:sp>
      <p:sp>
        <p:nvSpPr>
          <p:cNvPr id="13" name="TextBox 12"/>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5A6884"/>
                </a:solidFill>
                <a:latin typeface="Noto Sans CJK SC"/>
                <a:ea typeface="Noto Sans CJK SC"/>
                <a:cs typeface="Noto Sans CJK SC"/>
              </a:rPr>
              <a:t>道一（江苏）资产管理有限公司  ·  AI量化投资与交易创新平台  ·  2026  ·  内部资料</a:t>
            </a:r>
          </a:p>
        </p:txBody>
      </p:sp>
      <p:sp>
        <p:nvSpPr>
          <p:cNvPr id="14" name="TextBox 13"/>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C9A227"/>
                </a:solidFill>
                <a:latin typeface="Noto Sans CJK SC"/>
                <a:ea typeface="Noto Sans CJK SC"/>
                <a:cs typeface="Noto Sans CJK SC"/>
              </a:rPr>
              <a:t>03</a:t>
            </a:r>
          </a:p>
        </p:txBody>
      </p:sp>
      <p:pic>
        <p:nvPicPr>
          <p:cNvPr id="4" name="Picture 3">
            <a:extLst>
              <a:ext uri="{FF2B5EF4-FFF2-40B4-BE49-F238E27FC236}">
                <a16:creationId xmlns:a16="http://schemas.microsoft.com/office/drawing/2014/main" id="{37D07642-7543-AF12-E58B-833301AC3A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9917" y="-274352"/>
            <a:ext cx="5199012" cy="51990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292608"/>
          </a:xfrm>
          <a:prstGeom prst="rect">
            <a:avLst/>
          </a:prstGeom>
          <a:noFill/>
        </p:spPr>
        <p:txBody>
          <a:bodyPr wrap="square" lIns="0" tIns="0" rIns="0" bIns="0" anchor="t">
            <a:spAutoFit/>
          </a:bodyPr>
          <a:lstStyle/>
          <a:p>
            <a:pPr algn="l">
              <a:lnSpc>
                <a:spcPct val="112000"/>
              </a:lnSpc>
            </a:pPr>
            <a:r>
              <a:rPr sz="1200" b="1" i="0">
                <a:solidFill>
                  <a:srgbClr val="9A7B14"/>
                </a:solidFill>
                <a:latin typeface="Noto Sans CJK SC"/>
                <a:ea typeface="Noto Sans CJK SC"/>
                <a:cs typeface="Noto Sans CJK SC"/>
              </a:rPr>
              <a:t>01 行业大势 · THE WAVE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全球AI量化浪潮：顶级机构已在生产环境部署AI</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Global Momentum: AI in Production at Leading Quant Firms</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10512"/>
            <a:ext cx="5989320" cy="1033271"/>
          </a:xfrm>
          <a:prstGeom prst="roundRect">
            <a:avLst>
              <a:gd name="adj" fmla="val 10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810512"/>
            <a:ext cx="68580" cy="1033271"/>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929384"/>
            <a:ext cx="5577840" cy="329184"/>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顶级机构全面AI化</a:t>
            </a:r>
          </a:p>
        </p:txBody>
      </p:sp>
      <p:sp>
        <p:nvSpPr>
          <p:cNvPr id="10" name="TextBox 9"/>
          <p:cNvSpPr txBox="1"/>
          <p:nvPr/>
        </p:nvSpPr>
        <p:spPr>
          <a:xfrm>
            <a:off x="804672" y="2267712"/>
            <a:ext cx="5623560" cy="548640"/>
          </a:xfrm>
          <a:prstGeom prst="rect">
            <a:avLst/>
          </a:prstGeom>
          <a:noFill/>
        </p:spPr>
        <p:txBody>
          <a:bodyPr wrap="square" lIns="0" tIns="0" rIns="0" bIns="0" anchor="t">
            <a:spAutoFit/>
          </a:bodyPr>
          <a:lstStyle/>
          <a:p>
            <a:pPr algn="l">
              <a:lnSpc>
                <a:spcPct val="114000"/>
              </a:lnSpc>
            </a:pPr>
            <a:r>
              <a:rPr sz="1100" b="0" i="0">
                <a:solidFill>
                  <a:srgbClr val="2A3242"/>
                </a:solidFill>
                <a:latin typeface="Noto Sans CJK SC"/>
                <a:ea typeface="Noto Sans CJK SC"/>
                <a:cs typeface="Noto Sans CJK SC"/>
              </a:rPr>
              <a:t>Jane Street、Man Group、Two Sigma、Citadel、Bridgewater 等已在生产环境部署AI交易系统，覆盖信号生成、组合优化与执行全链路</a:t>
            </a:r>
          </a:p>
        </p:txBody>
      </p:sp>
      <p:sp>
        <p:nvSpPr>
          <p:cNvPr id="11" name="Rounded Rectangle 10"/>
          <p:cNvSpPr/>
          <p:nvPr/>
        </p:nvSpPr>
        <p:spPr>
          <a:xfrm>
            <a:off x="548640" y="2944368"/>
            <a:ext cx="5989320" cy="1033271"/>
          </a:xfrm>
          <a:prstGeom prst="roundRect">
            <a:avLst>
              <a:gd name="adj" fmla="val 10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2944368"/>
            <a:ext cx="68580" cy="1033271"/>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3063239"/>
            <a:ext cx="5577840" cy="329184"/>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Two Sigma 2026展望</a:t>
            </a:r>
          </a:p>
        </p:txBody>
      </p:sp>
      <p:sp>
        <p:nvSpPr>
          <p:cNvPr id="14" name="TextBox 13"/>
          <p:cNvSpPr txBox="1"/>
          <p:nvPr/>
        </p:nvSpPr>
        <p:spPr>
          <a:xfrm>
            <a:off x="804672" y="3401568"/>
            <a:ext cx="5623560" cy="548640"/>
          </a:xfrm>
          <a:prstGeom prst="rect">
            <a:avLst/>
          </a:prstGeom>
          <a:noFill/>
        </p:spPr>
        <p:txBody>
          <a:bodyPr wrap="square" lIns="0" tIns="0" rIns="0" bIns="0" anchor="t">
            <a:spAutoFit/>
          </a:bodyPr>
          <a:lstStyle/>
          <a:p>
            <a:pPr algn="l">
              <a:lnSpc>
                <a:spcPct val="114000"/>
              </a:lnSpc>
            </a:pPr>
            <a:r>
              <a:rPr sz="1100" b="0" i="0">
                <a:solidFill>
                  <a:srgbClr val="2A3242"/>
                </a:solidFill>
                <a:latin typeface="Noto Sans CJK SC"/>
                <a:ea typeface="Noto Sans CJK SC"/>
                <a:cs typeface="Noto Sans CJK SC"/>
              </a:rPr>
              <a:t>全员使用LLM加速投研；可解释性成为能力竞赛；多模态统一表征决定Agent能否真正进入交易环境</a:t>
            </a:r>
          </a:p>
        </p:txBody>
      </p:sp>
      <p:sp>
        <p:nvSpPr>
          <p:cNvPr id="15" name="Rounded Rectangle 14"/>
          <p:cNvSpPr/>
          <p:nvPr/>
        </p:nvSpPr>
        <p:spPr>
          <a:xfrm>
            <a:off x="548640" y="4078224"/>
            <a:ext cx="5989320" cy="1033271"/>
          </a:xfrm>
          <a:prstGeom prst="roundRect">
            <a:avLst>
              <a:gd name="adj" fmla="val 10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078224"/>
            <a:ext cx="68580" cy="1033271"/>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4197096"/>
            <a:ext cx="5577840" cy="329184"/>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微软 Qlib × RD-Agent</a:t>
            </a:r>
          </a:p>
        </p:txBody>
      </p:sp>
      <p:sp>
        <p:nvSpPr>
          <p:cNvPr id="18" name="TextBox 17"/>
          <p:cNvSpPr txBox="1"/>
          <p:nvPr/>
        </p:nvSpPr>
        <p:spPr>
          <a:xfrm>
            <a:off x="804672" y="4535424"/>
            <a:ext cx="5623560" cy="548640"/>
          </a:xfrm>
          <a:prstGeom prst="rect">
            <a:avLst/>
          </a:prstGeom>
          <a:noFill/>
        </p:spPr>
        <p:txBody>
          <a:bodyPr wrap="square" lIns="0" tIns="0" rIns="0" bIns="0" anchor="t">
            <a:spAutoFit/>
          </a:bodyPr>
          <a:lstStyle/>
          <a:p>
            <a:pPr algn="l">
              <a:lnSpc>
                <a:spcPct val="114000"/>
              </a:lnSpc>
            </a:pPr>
            <a:r>
              <a:rPr sz="1100" b="0" i="0">
                <a:solidFill>
                  <a:srgbClr val="2A3242"/>
                </a:solidFill>
                <a:latin typeface="Noto Sans CJK SC"/>
                <a:ea typeface="Noto Sans CJK SC"/>
                <a:cs typeface="Noto Sans CJK SC"/>
              </a:rPr>
              <a:t>开源量化平台Qlib（11k+ Star）集成RD-Agent，大模型自动挖掘因子、迭代模型、解析研报</a:t>
            </a:r>
          </a:p>
        </p:txBody>
      </p:sp>
      <p:sp>
        <p:nvSpPr>
          <p:cNvPr id="19" name="Rounded Rectangle 18"/>
          <p:cNvSpPr/>
          <p:nvPr/>
        </p:nvSpPr>
        <p:spPr>
          <a:xfrm>
            <a:off x="548640" y="5212080"/>
            <a:ext cx="5989320" cy="1033271"/>
          </a:xfrm>
          <a:prstGeom prst="roundRect">
            <a:avLst>
              <a:gd name="adj" fmla="val 10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5212080"/>
            <a:ext cx="68580" cy="1033271"/>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2" y="5330952"/>
            <a:ext cx="5577840" cy="329184"/>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众包与AI对冲模式验证</a:t>
            </a:r>
          </a:p>
        </p:txBody>
      </p:sp>
      <p:sp>
        <p:nvSpPr>
          <p:cNvPr id="22" name="TextBox 21"/>
          <p:cNvSpPr txBox="1"/>
          <p:nvPr/>
        </p:nvSpPr>
        <p:spPr>
          <a:xfrm>
            <a:off x="804672" y="5669280"/>
            <a:ext cx="5623560" cy="548640"/>
          </a:xfrm>
          <a:prstGeom prst="rect">
            <a:avLst/>
          </a:prstGeom>
          <a:noFill/>
        </p:spPr>
        <p:txBody>
          <a:bodyPr wrap="square" lIns="0" tIns="0" rIns="0" bIns="0" anchor="t">
            <a:spAutoFit/>
          </a:bodyPr>
          <a:lstStyle/>
          <a:p>
            <a:pPr algn="l">
              <a:lnSpc>
                <a:spcPct val="114000"/>
              </a:lnSpc>
            </a:pPr>
            <a:r>
              <a:rPr sz="1100" b="0" i="0">
                <a:solidFill>
                  <a:srgbClr val="2A3242"/>
                </a:solidFill>
                <a:latin typeface="Noto Sans CJK SC"/>
                <a:ea typeface="Noto Sans CJK SC"/>
                <a:cs typeface="Noto Sans CJK SC"/>
              </a:rPr>
              <a:t>WorldQuant Brain 众包全球Alpha，Numerai以数据竞赛众包机器学习模型，商业可行性已被长期验证</a:t>
            </a:r>
          </a:p>
        </p:txBody>
      </p:sp>
      <p:sp>
        <p:nvSpPr>
          <p:cNvPr id="23" name="Rounded Rectangle 22"/>
          <p:cNvSpPr/>
          <p:nvPr/>
        </p:nvSpPr>
        <p:spPr>
          <a:xfrm>
            <a:off x="6784848" y="1810512"/>
            <a:ext cx="4864608" cy="4480560"/>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hart_global.png"/>
          <p:cNvPicPr>
            <a:picLocks noChangeAspect="1"/>
          </p:cNvPicPr>
          <p:nvPr/>
        </p:nvPicPr>
        <p:blipFill>
          <a:blip r:embed="rId2"/>
          <a:stretch>
            <a:fillRect/>
          </a:stretch>
        </p:blipFill>
        <p:spPr>
          <a:xfrm>
            <a:off x="6967728" y="1938528"/>
            <a:ext cx="4498848" cy="3480777"/>
          </a:xfrm>
          <a:prstGeom prst="rect">
            <a:avLst/>
          </a:prstGeom>
        </p:spPr>
      </p:pic>
      <p:sp>
        <p:nvSpPr>
          <p:cNvPr id="25" name="TextBox 24"/>
          <p:cNvSpPr txBox="1"/>
          <p:nvPr/>
        </p:nvSpPr>
        <p:spPr>
          <a:xfrm>
            <a:off x="6967728" y="5742432"/>
            <a:ext cx="4572000" cy="457200"/>
          </a:xfrm>
          <a:prstGeom prst="rect">
            <a:avLst/>
          </a:prstGeom>
          <a:noFill/>
        </p:spPr>
        <p:txBody>
          <a:bodyPr wrap="square" lIns="0" tIns="0" rIns="0" bIns="0" anchor="t">
            <a:spAutoFit/>
          </a:bodyPr>
          <a:lstStyle/>
          <a:p>
            <a:pPr algn="l">
              <a:lnSpc>
                <a:spcPct val="118000"/>
              </a:lnSpc>
            </a:pPr>
            <a:r>
              <a:rPr sz="1050" b="0" i="0">
                <a:solidFill>
                  <a:srgbClr val="6B7688"/>
                </a:solidFill>
                <a:latin typeface="Noto Sans CJK SC"/>
                <a:ea typeface="Noto Sans CJK SC"/>
                <a:cs typeface="Noto Sans CJK SC"/>
              </a:rPr>
              <a:t>量化基金服务市场2024–2032年预计翻近一倍，AI投研是核心增长引擎</a:t>
            </a:r>
          </a:p>
        </p:txBody>
      </p:sp>
      <p:sp>
        <p:nvSpPr>
          <p:cNvPr id="26" name="TextBox 25"/>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27" name="TextBox 26"/>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292608"/>
          </a:xfrm>
          <a:prstGeom prst="rect">
            <a:avLst/>
          </a:prstGeom>
          <a:noFill/>
        </p:spPr>
        <p:txBody>
          <a:bodyPr wrap="square" lIns="0" tIns="0" rIns="0" bIns="0" anchor="t">
            <a:spAutoFit/>
          </a:bodyPr>
          <a:lstStyle/>
          <a:p>
            <a:pPr algn="l">
              <a:lnSpc>
                <a:spcPct val="112000"/>
              </a:lnSpc>
            </a:pPr>
            <a:r>
              <a:rPr sz="1200" b="1" i="0">
                <a:solidFill>
                  <a:srgbClr val="9A7B14"/>
                </a:solidFill>
                <a:latin typeface="Noto Sans CJK SC"/>
                <a:ea typeface="Noto Sans CJK SC"/>
                <a:cs typeface="Noto Sans CJK SC"/>
              </a:rPr>
              <a:t>01 行业大势 · THE WAVE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中国量化行业爆发：3万亿时代，从规模竞速到能力淘汰</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China Quant Boom: The RMB 3 Trillion Era</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10512"/>
            <a:ext cx="2633472" cy="1280160"/>
          </a:xfrm>
          <a:prstGeom prst="roundRect">
            <a:avLst>
              <a:gd name="adj" fmla="val 9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929384"/>
            <a:ext cx="2286000" cy="502920"/>
          </a:xfrm>
          <a:prstGeom prst="rect">
            <a:avLst/>
          </a:prstGeom>
          <a:noFill/>
        </p:spPr>
        <p:txBody>
          <a:bodyPr wrap="square" lIns="0" tIns="0" rIns="0" bIns="0" anchor="t">
            <a:spAutoFit/>
          </a:bodyPr>
          <a:lstStyle/>
          <a:p>
            <a:pPr algn="l">
              <a:lnSpc>
                <a:spcPct val="112000"/>
              </a:lnSpc>
            </a:pPr>
            <a:r>
              <a:rPr sz="2700" b="1" i="0">
                <a:solidFill>
                  <a:srgbClr val="E3C55C"/>
                </a:solidFill>
                <a:latin typeface="Noto Sans CJK SC"/>
                <a:ea typeface="Noto Sans CJK SC"/>
                <a:cs typeface="Noto Sans CJK SC"/>
              </a:rPr>
              <a:t>3万亿+</a:t>
            </a:r>
          </a:p>
        </p:txBody>
      </p:sp>
      <p:sp>
        <p:nvSpPr>
          <p:cNvPr id="9" name="TextBox 8"/>
          <p:cNvSpPr txBox="1"/>
          <p:nvPr/>
        </p:nvSpPr>
        <p:spPr>
          <a:xfrm>
            <a:off x="749808" y="2432304"/>
            <a:ext cx="2286000" cy="274320"/>
          </a:xfrm>
          <a:prstGeom prst="rect">
            <a:avLst/>
          </a:prstGeom>
          <a:noFill/>
        </p:spPr>
        <p:txBody>
          <a:bodyPr wrap="square" lIns="0" tIns="0" rIns="0" bIns="0" anchor="t">
            <a:spAutoFit/>
          </a:bodyPr>
          <a:lstStyle/>
          <a:p>
            <a:pPr algn="l">
              <a:lnSpc>
                <a:spcPct val="112000"/>
              </a:lnSpc>
            </a:pPr>
            <a:r>
              <a:rPr sz="1250" b="1" i="0">
                <a:solidFill>
                  <a:srgbClr val="FFFFFF"/>
                </a:solidFill>
                <a:latin typeface="Noto Sans CJK SC"/>
                <a:ea typeface="Noto Sans CJK SC"/>
                <a:cs typeface="Noto Sans CJK SC"/>
              </a:rPr>
              <a:t>量化私募总规模</a:t>
            </a:r>
          </a:p>
        </p:txBody>
      </p:sp>
      <p:sp>
        <p:nvSpPr>
          <p:cNvPr id="10" name="TextBox 9"/>
          <p:cNvSpPr txBox="1"/>
          <p:nvPr/>
        </p:nvSpPr>
        <p:spPr>
          <a:xfrm>
            <a:off x="749808" y="2715768"/>
            <a:ext cx="2331720" cy="274320"/>
          </a:xfrm>
          <a:prstGeom prst="rect">
            <a:avLst/>
          </a:prstGeom>
          <a:noFill/>
        </p:spPr>
        <p:txBody>
          <a:bodyPr wrap="square" lIns="0" tIns="0" rIns="0" bIns="0" anchor="t">
            <a:spAutoFit/>
          </a:bodyPr>
          <a:lstStyle/>
          <a:p>
            <a:pPr algn="l">
              <a:lnSpc>
                <a:spcPct val="112000"/>
              </a:lnSpc>
            </a:pPr>
            <a:r>
              <a:rPr sz="950" b="0" i="0">
                <a:solidFill>
                  <a:srgbClr val="9FADC4"/>
                </a:solidFill>
                <a:latin typeface="Noto Sans CJK SC"/>
                <a:ea typeface="Noto Sans CJK SC"/>
                <a:cs typeface="Noto Sans CJK SC"/>
              </a:rPr>
              <a:t>2026年中，已成私募第一大策略</a:t>
            </a:r>
          </a:p>
        </p:txBody>
      </p:sp>
      <p:sp>
        <p:nvSpPr>
          <p:cNvPr id="11" name="Rounded Rectangle 10"/>
          <p:cNvSpPr/>
          <p:nvPr/>
        </p:nvSpPr>
        <p:spPr>
          <a:xfrm>
            <a:off x="3310128" y="1810512"/>
            <a:ext cx="2633472" cy="1280160"/>
          </a:xfrm>
          <a:prstGeom prst="roundRect">
            <a:avLst>
              <a:gd name="adj" fmla="val 9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11296" y="1929384"/>
            <a:ext cx="2286000" cy="502920"/>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71家</a:t>
            </a:r>
          </a:p>
        </p:txBody>
      </p:sp>
      <p:sp>
        <p:nvSpPr>
          <p:cNvPr id="13" name="TextBox 12"/>
          <p:cNvSpPr txBox="1"/>
          <p:nvPr/>
        </p:nvSpPr>
        <p:spPr>
          <a:xfrm>
            <a:off x="3511296" y="2432304"/>
            <a:ext cx="2286000" cy="274320"/>
          </a:xfrm>
          <a:prstGeom prst="rect">
            <a:avLst/>
          </a:prstGeom>
          <a:noFill/>
        </p:spPr>
        <p:txBody>
          <a:bodyPr wrap="square" lIns="0" tIns="0" rIns="0" bIns="0" anchor="t">
            <a:spAutoFit/>
          </a:bodyPr>
          <a:lstStyle/>
          <a:p>
            <a:pPr algn="l">
              <a:lnSpc>
                <a:spcPct val="112000"/>
              </a:lnSpc>
            </a:pPr>
            <a:r>
              <a:rPr sz="1250" b="1" i="0">
                <a:solidFill>
                  <a:srgbClr val="2A3242"/>
                </a:solidFill>
                <a:latin typeface="Noto Sans CJK SC"/>
                <a:ea typeface="Noto Sans CJK SC"/>
                <a:cs typeface="Noto Sans CJK SC"/>
              </a:rPr>
              <a:t>百亿量化私募</a:t>
            </a:r>
          </a:p>
        </p:txBody>
      </p:sp>
      <p:sp>
        <p:nvSpPr>
          <p:cNvPr id="14" name="TextBox 13"/>
          <p:cNvSpPr txBox="1"/>
          <p:nvPr/>
        </p:nvSpPr>
        <p:spPr>
          <a:xfrm>
            <a:off x="3511296" y="2715768"/>
            <a:ext cx="2331720" cy="274320"/>
          </a:xfrm>
          <a:prstGeom prst="rect">
            <a:avLst/>
          </a:prstGeom>
          <a:noFill/>
        </p:spPr>
        <p:txBody>
          <a:bodyPr wrap="square" lIns="0" tIns="0" rIns="0" bIns="0" anchor="t">
            <a:spAutoFit/>
          </a:bodyPr>
          <a:lstStyle/>
          <a:p>
            <a:pPr algn="l">
              <a:lnSpc>
                <a:spcPct val="112000"/>
              </a:lnSpc>
            </a:pPr>
            <a:r>
              <a:rPr sz="950" b="0" i="0">
                <a:solidFill>
                  <a:srgbClr val="6B7688"/>
                </a:solidFill>
                <a:latin typeface="Noto Sans CJK SC"/>
                <a:ea typeface="Noto Sans CJK SC"/>
                <a:cs typeface="Noto Sans CJK SC"/>
              </a:rPr>
              <a:t>2026Q2创历史新高</a:t>
            </a:r>
          </a:p>
        </p:txBody>
      </p:sp>
      <p:sp>
        <p:nvSpPr>
          <p:cNvPr id="15" name="Rounded Rectangle 14"/>
          <p:cNvSpPr/>
          <p:nvPr/>
        </p:nvSpPr>
        <p:spPr>
          <a:xfrm>
            <a:off x="548640" y="3218688"/>
            <a:ext cx="2633472" cy="1280160"/>
          </a:xfrm>
          <a:prstGeom prst="roundRect">
            <a:avLst>
              <a:gd name="adj" fmla="val 9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337560"/>
            <a:ext cx="2286000" cy="502920"/>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14家</a:t>
            </a:r>
          </a:p>
        </p:txBody>
      </p:sp>
      <p:sp>
        <p:nvSpPr>
          <p:cNvPr id="17" name="TextBox 16"/>
          <p:cNvSpPr txBox="1"/>
          <p:nvPr/>
        </p:nvSpPr>
        <p:spPr>
          <a:xfrm>
            <a:off x="749808" y="3840480"/>
            <a:ext cx="2286000" cy="274320"/>
          </a:xfrm>
          <a:prstGeom prst="rect">
            <a:avLst/>
          </a:prstGeom>
          <a:noFill/>
        </p:spPr>
        <p:txBody>
          <a:bodyPr wrap="square" lIns="0" tIns="0" rIns="0" bIns="0" anchor="t">
            <a:spAutoFit/>
          </a:bodyPr>
          <a:lstStyle/>
          <a:p>
            <a:pPr algn="l">
              <a:lnSpc>
                <a:spcPct val="112000"/>
              </a:lnSpc>
            </a:pPr>
            <a:r>
              <a:rPr sz="1250" b="1" i="0">
                <a:solidFill>
                  <a:srgbClr val="2A3242"/>
                </a:solidFill>
                <a:latin typeface="Noto Sans CJK SC"/>
                <a:ea typeface="Noto Sans CJK SC"/>
                <a:cs typeface="Noto Sans CJK SC"/>
              </a:rPr>
              <a:t>500亿以上量化机构</a:t>
            </a:r>
          </a:p>
        </p:txBody>
      </p:sp>
      <p:sp>
        <p:nvSpPr>
          <p:cNvPr id="18" name="TextBox 17"/>
          <p:cNvSpPr txBox="1"/>
          <p:nvPr/>
        </p:nvSpPr>
        <p:spPr>
          <a:xfrm>
            <a:off x="749808" y="4123944"/>
            <a:ext cx="2331720" cy="274320"/>
          </a:xfrm>
          <a:prstGeom prst="rect">
            <a:avLst/>
          </a:prstGeom>
          <a:noFill/>
        </p:spPr>
        <p:txBody>
          <a:bodyPr wrap="square" lIns="0" tIns="0" rIns="0" bIns="0" anchor="t">
            <a:spAutoFit/>
          </a:bodyPr>
          <a:lstStyle/>
          <a:p>
            <a:pPr algn="l">
              <a:lnSpc>
                <a:spcPct val="112000"/>
              </a:lnSpc>
            </a:pPr>
            <a:r>
              <a:rPr sz="950" b="0" i="0">
                <a:solidFill>
                  <a:srgbClr val="6B7688"/>
                </a:solidFill>
                <a:latin typeface="Noto Sans CJK SC"/>
                <a:ea typeface="Noto Sans CJK SC"/>
                <a:cs typeface="Noto Sans CJK SC"/>
              </a:rPr>
              <a:t>较2025年末实现翻倍</a:t>
            </a:r>
          </a:p>
        </p:txBody>
      </p:sp>
      <p:sp>
        <p:nvSpPr>
          <p:cNvPr id="19" name="Rounded Rectangle 18"/>
          <p:cNvSpPr/>
          <p:nvPr/>
        </p:nvSpPr>
        <p:spPr>
          <a:xfrm>
            <a:off x="3310128" y="3218688"/>
            <a:ext cx="2633472" cy="1280160"/>
          </a:xfrm>
          <a:prstGeom prst="roundRect">
            <a:avLst>
              <a:gd name="adj" fmla="val 9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11296" y="3337560"/>
            <a:ext cx="2286000" cy="502920"/>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4000亿</a:t>
            </a:r>
          </a:p>
        </p:txBody>
      </p:sp>
      <p:sp>
        <p:nvSpPr>
          <p:cNvPr id="21" name="TextBox 20"/>
          <p:cNvSpPr txBox="1"/>
          <p:nvPr/>
        </p:nvSpPr>
        <p:spPr>
          <a:xfrm>
            <a:off x="3511296" y="3840480"/>
            <a:ext cx="2286000" cy="274320"/>
          </a:xfrm>
          <a:prstGeom prst="rect">
            <a:avLst/>
          </a:prstGeom>
          <a:noFill/>
        </p:spPr>
        <p:txBody>
          <a:bodyPr wrap="square" lIns="0" tIns="0" rIns="0" bIns="0" anchor="t">
            <a:spAutoFit/>
          </a:bodyPr>
          <a:lstStyle/>
          <a:p>
            <a:pPr algn="l">
              <a:lnSpc>
                <a:spcPct val="112000"/>
              </a:lnSpc>
            </a:pPr>
            <a:r>
              <a:rPr sz="1250" b="1" i="0">
                <a:solidFill>
                  <a:srgbClr val="2A3242"/>
                </a:solidFill>
                <a:latin typeface="Noto Sans CJK SC"/>
                <a:ea typeface="Noto Sans CJK SC"/>
                <a:cs typeface="Noto Sans CJK SC"/>
              </a:rPr>
              <a:t>公募量化基金规模</a:t>
            </a:r>
          </a:p>
        </p:txBody>
      </p:sp>
      <p:sp>
        <p:nvSpPr>
          <p:cNvPr id="22" name="TextBox 21"/>
          <p:cNvSpPr txBox="1"/>
          <p:nvPr/>
        </p:nvSpPr>
        <p:spPr>
          <a:xfrm>
            <a:off x="3511296" y="4123944"/>
            <a:ext cx="2331720" cy="274320"/>
          </a:xfrm>
          <a:prstGeom prst="rect">
            <a:avLst/>
          </a:prstGeom>
          <a:noFill/>
        </p:spPr>
        <p:txBody>
          <a:bodyPr wrap="square" lIns="0" tIns="0" rIns="0" bIns="0" anchor="t">
            <a:spAutoFit/>
          </a:bodyPr>
          <a:lstStyle/>
          <a:p>
            <a:pPr algn="l">
              <a:lnSpc>
                <a:spcPct val="112000"/>
              </a:lnSpc>
            </a:pPr>
            <a:r>
              <a:rPr sz="950" b="0" i="0">
                <a:solidFill>
                  <a:srgbClr val="6B7688"/>
                </a:solidFill>
                <a:latin typeface="Noto Sans CJK SC"/>
                <a:ea typeface="Noto Sans CJK SC"/>
                <a:cs typeface="Noto Sans CJK SC"/>
              </a:rPr>
              <a:t>产品数量超过700只</a:t>
            </a:r>
          </a:p>
        </p:txBody>
      </p:sp>
      <p:sp>
        <p:nvSpPr>
          <p:cNvPr id="23" name="Rounded Rectangle 22"/>
          <p:cNvSpPr/>
          <p:nvPr/>
        </p:nvSpPr>
        <p:spPr>
          <a:xfrm>
            <a:off x="548640" y="4681728"/>
            <a:ext cx="5394960" cy="1572768"/>
          </a:xfrm>
          <a:prstGeom prst="roundRect">
            <a:avLst>
              <a:gd name="adj" fmla="val 8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4681728"/>
            <a:ext cx="68580" cy="15727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 y="4846320"/>
            <a:ext cx="4937760" cy="1280160"/>
          </a:xfrm>
          <a:prstGeom prst="rect">
            <a:avLst/>
          </a:prstGeom>
          <a:noFill/>
        </p:spPr>
        <p:txBody>
          <a:bodyPr wrap="square" lIns="0" tIns="0" rIns="0" bIns="0" anchor="t">
            <a:spAutoFit/>
          </a:bodyPr>
          <a:lstStyle/>
          <a:p>
            <a:pPr algn="l">
              <a:lnSpc>
                <a:spcPct val="112000"/>
              </a:lnSpc>
              <a:spcBef>
                <a:spcPts val="0"/>
              </a:spcBef>
              <a:spcAft>
                <a:spcPts val="500"/>
              </a:spcAft>
            </a:pPr>
            <a:r>
              <a:rPr sz="1350" b="1" i="0">
                <a:solidFill>
                  <a:srgbClr val="9A7B14"/>
                </a:solidFill>
                <a:latin typeface="Noto Sans CJK SC"/>
                <a:ea typeface="Noto Sans CJK SC"/>
                <a:cs typeface="Noto Sans CJK SC"/>
              </a:rPr>
              <a:t>行业判断</a:t>
            </a:r>
          </a:p>
          <a:p>
            <a:pPr algn="l">
              <a:lnSpc>
                <a:spcPct val="120000"/>
              </a:lnSpc>
              <a:spcBef>
                <a:spcPts val="0"/>
              </a:spcBef>
              <a:spcAft>
                <a:spcPts val="300"/>
              </a:spcAft>
            </a:pPr>
            <a:r>
              <a:rPr sz="1150" b="0" i="0">
                <a:solidFill>
                  <a:srgbClr val="2A3242"/>
                </a:solidFill>
                <a:latin typeface="Noto Sans CJK SC"/>
                <a:ea typeface="Noto Sans CJK SC"/>
                <a:cs typeface="Noto Sans CJK SC"/>
              </a:rPr>
              <a:t>量化行业已进入「拼研发、拼创新、拼AI」的新阶段：量价类因子持续回撤、策略同质化加剧，传统多因子模型时代远去，</a:t>
            </a:r>
          </a:p>
          <a:p>
            <a:pPr algn="l">
              <a:lnSpc>
                <a:spcPct val="120000"/>
              </a:lnSpc>
              <a:spcBef>
                <a:spcPts val="0"/>
              </a:spcBef>
              <a:spcAft>
                <a:spcPts val="0"/>
              </a:spcAft>
            </a:pPr>
            <a:r>
              <a:rPr sz="1150" b="1" i="0">
                <a:solidFill>
                  <a:srgbClr val="1B2A4A"/>
                </a:solidFill>
                <a:latin typeface="Noto Sans CJK SC"/>
                <a:ea typeface="Noto Sans CJK SC"/>
                <a:cs typeface="Noto Sans CJK SC"/>
              </a:rPr>
              <a:t>AI能力成为超额收益的核心变量。</a:t>
            </a:r>
          </a:p>
        </p:txBody>
      </p:sp>
      <p:sp>
        <p:nvSpPr>
          <p:cNvPr id="26" name="Rounded Rectangle 25"/>
          <p:cNvSpPr/>
          <p:nvPr/>
        </p:nvSpPr>
        <p:spPr>
          <a:xfrm>
            <a:off x="6199632" y="1810512"/>
            <a:ext cx="5440680" cy="2194560"/>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art_cn_scale.png"/>
          <p:cNvPicPr>
            <a:picLocks noChangeAspect="1"/>
          </p:cNvPicPr>
          <p:nvPr/>
        </p:nvPicPr>
        <p:blipFill>
          <a:blip r:embed="rId2"/>
          <a:stretch>
            <a:fillRect/>
          </a:stretch>
        </p:blipFill>
        <p:spPr>
          <a:xfrm>
            <a:off x="6309360" y="1883664"/>
            <a:ext cx="3690551" cy="2048256"/>
          </a:xfrm>
          <a:prstGeom prst="rect">
            <a:avLst/>
          </a:prstGeom>
        </p:spPr>
      </p:pic>
      <p:sp>
        <p:nvSpPr>
          <p:cNvPr id="28" name="Rounded Rectangle 27"/>
          <p:cNvSpPr/>
          <p:nvPr/>
        </p:nvSpPr>
        <p:spPr>
          <a:xfrm>
            <a:off x="6199632" y="4133087"/>
            <a:ext cx="5440680" cy="2121408"/>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chart_baiyi.png"/>
          <p:cNvPicPr>
            <a:picLocks noChangeAspect="1"/>
          </p:cNvPicPr>
          <p:nvPr/>
        </p:nvPicPr>
        <p:blipFill>
          <a:blip r:embed="rId3"/>
          <a:stretch>
            <a:fillRect/>
          </a:stretch>
        </p:blipFill>
        <p:spPr>
          <a:xfrm>
            <a:off x="6309360" y="4206240"/>
            <a:ext cx="3555780" cy="1975104"/>
          </a:xfrm>
          <a:prstGeom prst="rect">
            <a:avLst/>
          </a:prstGeom>
        </p:spPr>
      </p:pic>
      <p:sp>
        <p:nvSpPr>
          <p:cNvPr id="30" name="TextBox 29"/>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31" name="TextBox 30"/>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292608"/>
          </a:xfrm>
          <a:prstGeom prst="rect">
            <a:avLst/>
          </a:prstGeom>
          <a:noFill/>
        </p:spPr>
        <p:txBody>
          <a:bodyPr wrap="square" lIns="0" tIns="0" rIns="0" bIns="0" anchor="t">
            <a:spAutoFit/>
          </a:bodyPr>
          <a:lstStyle/>
          <a:p>
            <a:pPr algn="l">
              <a:lnSpc>
                <a:spcPct val="112000"/>
              </a:lnSpc>
            </a:pPr>
            <a:r>
              <a:rPr sz="1200" b="1" i="0">
                <a:solidFill>
                  <a:srgbClr val="9A7B14"/>
                </a:solidFill>
                <a:latin typeface="Noto Sans CJK SC"/>
                <a:ea typeface="Noto Sans CJK SC"/>
                <a:cs typeface="Noto Sans CJK SC"/>
              </a:rPr>
              <a:t>01 行业大势 · THE WAVE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前沿研究速览：2025–2026年AI量化五大技术路线</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Research Frontier: Five Technical Routes of AI Quant (2025–2026)</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48640" y="1810512"/>
          <a:ext cx="11091672" cy="3931920"/>
        </p:xfrm>
        <a:graphic>
          <a:graphicData uri="http://schemas.openxmlformats.org/drawingml/2006/table">
            <a:tbl>
              <a:tblPr>
                <a:tableStyleId>{5C22544A-7EE6-4342-B048-85BDC9FD1C3A}</a:tableStyleId>
              </a:tblPr>
              <a:tblGrid>
                <a:gridCol w="21945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tblGrid>
              <a:tr h="365760">
                <a:tc>
                  <a:txBody>
                    <a:bodyPr/>
                    <a:lstStyle/>
                    <a:p>
                      <a:pPr algn="l"/>
                      <a:r>
                        <a:rPr sz="1100" b="1" i="0">
                          <a:solidFill>
                            <a:srgbClr val="FFFFFF"/>
                          </a:solidFill>
                          <a:latin typeface="Noto Sans CJK SC"/>
                          <a:ea typeface="Noto Sans CJK SC"/>
                          <a:cs typeface="Noto Sans CJK SC"/>
                        </a:rPr>
                        <a:t>研究方向 / Direction</a:t>
                      </a:r>
                    </a:p>
                  </a:txBody>
                  <a:tcPr marR="73152" marT="27432" marB="27432" anchor="ctr">
                    <a:solidFill>
                      <a:srgbClr val="1B2A4A"/>
                    </a:solidFill>
                  </a:tcPr>
                </a:tc>
                <a:tc>
                  <a:txBody>
                    <a:bodyPr/>
                    <a:lstStyle/>
                    <a:p>
                      <a:pPr algn="l"/>
                      <a:r>
                        <a:rPr sz="1100" b="1" i="0">
                          <a:solidFill>
                            <a:srgbClr val="FFFFFF"/>
                          </a:solidFill>
                          <a:latin typeface="Noto Sans CJK SC"/>
                          <a:ea typeface="Noto Sans CJK SC"/>
                          <a:cs typeface="Noto Sans CJK SC"/>
                        </a:rPr>
                        <a:t>代表成果 / Representative Work</a:t>
                      </a:r>
                    </a:p>
                  </a:txBody>
                  <a:tcPr marR="73152" marT="27432" marB="27432" anchor="ctr">
                    <a:solidFill>
                      <a:srgbClr val="1B2A4A"/>
                    </a:solidFill>
                  </a:tcPr>
                </a:tc>
                <a:tc>
                  <a:txBody>
                    <a:bodyPr/>
                    <a:lstStyle/>
                    <a:p>
                      <a:pPr algn="l"/>
                      <a:r>
                        <a:rPr sz="1100" b="1" i="0">
                          <a:solidFill>
                            <a:srgbClr val="FFFFFF"/>
                          </a:solidFill>
                          <a:latin typeface="Noto Sans CJK SC"/>
                          <a:ea typeface="Noto Sans CJK SC"/>
                          <a:cs typeface="Noto Sans CJK SC"/>
                        </a:rPr>
                        <a:t>核心思路 / Core Idea</a:t>
                      </a:r>
                    </a:p>
                  </a:txBody>
                  <a:tcPr marR="73152" marT="27432" marB="27432" anchor="ctr">
                    <a:solidFill>
                      <a:srgbClr val="1B2A4A"/>
                    </a:solidFill>
                  </a:tcPr>
                </a:tc>
                <a:tc>
                  <a:txBody>
                    <a:bodyPr/>
                    <a:lstStyle/>
                    <a:p>
                      <a:pPr algn="l"/>
                      <a:r>
                        <a:rPr sz="1100" b="1" i="0">
                          <a:solidFill>
                            <a:srgbClr val="FFFFFF"/>
                          </a:solidFill>
                          <a:latin typeface="Noto Sans CJK SC"/>
                          <a:ea typeface="Noto Sans CJK SC"/>
                          <a:cs typeface="Noto Sans CJK SC"/>
                        </a:rPr>
                        <a:t>落地启示 / Implication</a:t>
                      </a:r>
                    </a:p>
                  </a:txBody>
                  <a:tcPr marR="73152" marT="27432" marB="27432" anchor="ctr">
                    <a:solidFill>
                      <a:srgbClr val="1B2A4A"/>
                    </a:solidFill>
                  </a:tcPr>
                </a:tc>
                <a:extLst>
                  <a:ext uri="{0D108BD9-81ED-4DB2-BD59-A6C34878D82A}">
                    <a16:rowId xmlns:a16="http://schemas.microsoft.com/office/drawing/2014/main" val="10000"/>
                  </a:ext>
                </a:extLst>
              </a:tr>
              <a:tr h="713232">
                <a:tc>
                  <a:txBody>
                    <a:bodyPr/>
                    <a:lstStyle/>
                    <a:p>
                      <a:pPr algn="l"/>
                      <a:r>
                        <a:rPr sz="1050" b="0" i="0">
                          <a:solidFill>
                            <a:srgbClr val="1B2A4A"/>
                          </a:solidFill>
                          <a:latin typeface="Noto Sans CJK SC"/>
                          <a:ea typeface="Noto Sans CJK SC"/>
                          <a:cs typeface="Noto Sans CJK SC"/>
                        </a:rPr>
                        <a:t>LLM金融推理
LLM Financial Reasoning</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Trading-R1
(arXiv 2509.11420)</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受DeepSeek-R1启发，构建「慢思考」推理链：环境识别→历史模式→策略生成→仓位调整，决策随波动率自适应</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「分析师Agent」雏形，中低频决策辅助</a:t>
                      </a:r>
                    </a:p>
                  </a:txBody>
                  <a:tcPr marR="73152" marT="27432" marB="27432" anchor="ctr">
                    <a:solidFill>
                      <a:srgbClr val="F2F5FA"/>
                    </a:solidFill>
                  </a:tcPr>
                </a:tc>
                <a:extLst>
                  <a:ext uri="{0D108BD9-81ED-4DB2-BD59-A6C34878D82A}">
                    <a16:rowId xmlns:a16="http://schemas.microsoft.com/office/drawing/2014/main" val="10001"/>
                  </a:ext>
                </a:extLst>
              </a:tr>
              <a:tr h="713232">
                <a:tc>
                  <a:txBody>
                    <a:bodyPr/>
                    <a:lstStyle/>
                    <a:p>
                      <a:pPr algn="l"/>
                      <a:r>
                        <a:rPr sz="1050" b="0" i="0">
                          <a:solidFill>
                            <a:srgbClr val="1B2A4A"/>
                          </a:solidFill>
                          <a:latin typeface="Noto Sans CJK SC"/>
                          <a:ea typeface="Noto Sans CJK SC"/>
                          <a:cs typeface="Noto Sans CJK SC"/>
                        </a:rPr>
                        <a:t>统计+强化学习融合
Statistical + RL Fusion</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QTMRL
(arXiv 2508.20467)</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HMM识别市场状态，RL动态调整统计信号权重与阈值，双模架构应对黑天鹅与概念漂移</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提升极端行情下的模型韧性</a:t>
                      </a:r>
                    </a:p>
                  </a:txBody>
                  <a:tcPr marR="73152" marT="27432" marB="27432" anchor="ctr">
                    <a:solidFill>
                      <a:srgbClr val="FFFFFF"/>
                    </a:solidFill>
                  </a:tcPr>
                </a:tc>
                <a:extLst>
                  <a:ext uri="{0D108BD9-81ED-4DB2-BD59-A6C34878D82A}">
                    <a16:rowId xmlns:a16="http://schemas.microsoft.com/office/drawing/2014/main" val="10002"/>
                  </a:ext>
                </a:extLst>
              </a:tr>
              <a:tr h="713232">
                <a:tc>
                  <a:txBody>
                    <a:bodyPr/>
                    <a:lstStyle/>
                    <a:p>
                      <a:pPr algn="l"/>
                      <a:r>
                        <a:rPr sz="1050" b="0" i="0">
                          <a:solidFill>
                            <a:srgbClr val="1B2A4A"/>
                          </a:solidFill>
                          <a:latin typeface="Noto Sans CJK SC"/>
                          <a:ea typeface="Noto Sans CJK SC"/>
                          <a:cs typeface="Noto Sans CJK SC"/>
                        </a:rPr>
                        <a:t>多智能体高频框架
Multi-Agent HFT</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QuantAgent</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数据/信号/执行/风控四类Agent分工协作，价格驱动而非文本驱动</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多Agent分工已成共识，风控Agent可一票否决</a:t>
                      </a:r>
                    </a:p>
                  </a:txBody>
                  <a:tcPr marR="73152" marT="27432" marB="27432" anchor="ctr">
                    <a:solidFill>
                      <a:srgbClr val="F2F5FA"/>
                    </a:solidFill>
                  </a:tcPr>
                </a:tc>
                <a:extLst>
                  <a:ext uri="{0D108BD9-81ED-4DB2-BD59-A6C34878D82A}">
                    <a16:rowId xmlns:a16="http://schemas.microsoft.com/office/drawing/2014/main" val="10003"/>
                  </a:ext>
                </a:extLst>
              </a:tr>
              <a:tr h="713232">
                <a:tc>
                  <a:txBody>
                    <a:bodyPr/>
                    <a:lstStyle/>
                    <a:p>
                      <a:pPr algn="l"/>
                      <a:r>
                        <a:rPr sz="1050" b="0" i="0">
                          <a:solidFill>
                            <a:srgbClr val="1B2A4A"/>
                          </a:solidFill>
                          <a:latin typeface="Noto Sans CJK SC"/>
                          <a:ea typeface="Noto Sans CJK SC"/>
                          <a:cs typeface="Noto Sans CJK SC"/>
                        </a:rPr>
                        <a:t>LLM自动因子挖掘
Auto Factor Mining</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微软 RD-Agent × Qlib</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大模型自动挖掘因子、优化模型结构、解析研报信号，研发流程自动化</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因子研发效率提升数倍，已在Qlib落地</a:t>
                      </a:r>
                    </a:p>
                  </a:txBody>
                  <a:tcPr marR="73152" marT="27432" marB="27432" anchor="ctr">
                    <a:solidFill>
                      <a:srgbClr val="FFFFFF"/>
                    </a:solidFill>
                  </a:tcPr>
                </a:tc>
                <a:extLst>
                  <a:ext uri="{0D108BD9-81ED-4DB2-BD59-A6C34878D82A}">
                    <a16:rowId xmlns:a16="http://schemas.microsoft.com/office/drawing/2014/main" val="10004"/>
                  </a:ext>
                </a:extLst>
              </a:tr>
              <a:tr h="713232">
                <a:tc>
                  <a:txBody>
                    <a:bodyPr/>
                    <a:lstStyle/>
                    <a:p>
                      <a:pPr algn="l"/>
                      <a:r>
                        <a:rPr sz="1050" b="0" i="0">
                          <a:solidFill>
                            <a:srgbClr val="1B2A4A"/>
                          </a:solidFill>
                          <a:latin typeface="Noto Sans CJK SC"/>
                          <a:ea typeface="Noto Sans CJK SC"/>
                          <a:cs typeface="Noto Sans CJK SC"/>
                        </a:rPr>
                        <a:t>强化学习交易决策
RL for Execution</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PPO / SAC 等算法族</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深度强化学习用于组合优化与订单执行，捕捉时序最优买卖点</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执行层持续渗透，AI原生化加速</a:t>
                      </a:r>
                    </a:p>
                  </a:txBody>
                  <a:tcPr marR="73152" marT="27432" marB="27432" anchor="ctr">
                    <a:solidFill>
                      <a:srgbClr val="F2F5FA"/>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548640" y="5742432"/>
            <a:ext cx="11091672" cy="512064"/>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742432"/>
            <a:ext cx="10515600" cy="512064"/>
          </a:xfrm>
          <a:prstGeom prst="rect">
            <a:avLst/>
          </a:prstGeom>
          <a:noFill/>
        </p:spPr>
        <p:txBody>
          <a:bodyPr wrap="square" lIns="0" tIns="0" rIns="0" bIns="0" anchor="ctr">
            <a:spAutoFit/>
          </a:bodyPr>
          <a:lstStyle/>
          <a:p>
            <a:pPr algn="l">
              <a:lnSpc>
                <a:spcPct val="112000"/>
              </a:lnSpc>
            </a:pPr>
            <a:r>
              <a:rPr sz="1200" b="1" i="0">
                <a:solidFill>
                  <a:srgbClr val="E3C55C"/>
                </a:solidFill>
                <a:latin typeface="Noto Sans CJK SC"/>
                <a:ea typeface="Noto Sans CJK SC"/>
                <a:cs typeface="Noto Sans CJK SC"/>
              </a:rPr>
              <a:t>2026年行业共识：</a:t>
            </a:r>
            <a:r>
              <a:rPr sz="1200" b="0" i="0">
                <a:solidFill>
                  <a:srgbClr val="FFFFFF"/>
                </a:solidFill>
                <a:latin typeface="Noto Sans CJK SC"/>
                <a:ea typeface="Noto Sans CJK SC"/>
                <a:cs typeface="Noto Sans CJK SC"/>
              </a:rPr>
              <a:t>LLM Agent不做高频逐笔，聚焦决策辅助、异常检测与策略研究；波动率感知是被低估的关键参数</a:t>
            </a:r>
          </a:p>
        </p:txBody>
      </p:sp>
      <p:sp>
        <p:nvSpPr>
          <p:cNvPr id="10" name="TextBox 9"/>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11" name="TextBox 10"/>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292608"/>
          </a:xfrm>
          <a:prstGeom prst="rect">
            <a:avLst/>
          </a:prstGeom>
          <a:noFill/>
        </p:spPr>
        <p:txBody>
          <a:bodyPr wrap="square" lIns="0" tIns="0" rIns="0" bIns="0" anchor="t">
            <a:spAutoFit/>
          </a:bodyPr>
          <a:lstStyle/>
          <a:p>
            <a:pPr algn="l">
              <a:lnSpc>
                <a:spcPct val="112000"/>
              </a:lnSpc>
            </a:pPr>
            <a:r>
              <a:rPr sz="1200" b="1" i="0">
                <a:solidFill>
                  <a:srgbClr val="9A7B14"/>
                </a:solidFill>
                <a:latin typeface="Noto Sans CJK SC"/>
                <a:ea typeface="Noto Sans CJK SC"/>
                <a:cs typeface="Noto Sans CJK SC"/>
              </a:rPr>
              <a:t>01 行业大势 · THE WAVE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范式转移与结构性痛点：从「人写策略」到「AI原生投研」</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Paradigm Shift: From Handcrafted to AI-Native Investing</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783080"/>
            <a:ext cx="4572000" cy="274320"/>
          </a:xfrm>
          <a:prstGeom prst="rect">
            <a:avLst/>
          </a:prstGeom>
          <a:noFill/>
        </p:spPr>
        <p:txBody>
          <a:bodyPr wrap="square" lIns="0" tIns="0" rIns="0" bIns="0" anchor="t">
            <a:spAutoFit/>
          </a:bodyPr>
          <a:lstStyle/>
          <a:p>
            <a:pPr algn="l">
              <a:lnSpc>
                <a:spcPct val="112000"/>
              </a:lnSpc>
            </a:pPr>
            <a:r>
              <a:rPr sz="1250" b="1" i="0">
                <a:solidFill>
                  <a:srgbClr val="6B7688"/>
                </a:solidFill>
                <a:latin typeface="Noto Sans CJK SC"/>
                <a:ea typeface="Noto Sans CJK SC"/>
                <a:cs typeface="Noto Sans CJK SC"/>
              </a:rPr>
              <a:t>传统模式  Traditional Workflow</a:t>
            </a:r>
          </a:p>
        </p:txBody>
      </p:sp>
      <p:sp>
        <p:nvSpPr>
          <p:cNvPr id="8" name="Rounded Rectangle 7"/>
          <p:cNvSpPr/>
          <p:nvPr/>
        </p:nvSpPr>
        <p:spPr>
          <a:xfrm>
            <a:off x="548640" y="2084831"/>
            <a:ext cx="11091672" cy="566928"/>
          </a:xfrm>
          <a:prstGeom prst="roundRect">
            <a:avLst>
              <a:gd name="adj" fmla="val 50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084831"/>
            <a:ext cx="1463040" cy="566928"/>
          </a:xfrm>
          <a:prstGeom prst="rect">
            <a:avLst/>
          </a:prstGeom>
          <a:noFill/>
        </p:spPr>
        <p:txBody>
          <a:bodyPr wrap="square" lIns="0" tIns="0" rIns="0" bIns="0" anchor="ctr">
            <a:spAutoFit/>
          </a:bodyPr>
          <a:lstStyle/>
          <a:p>
            <a:pPr algn="ctr">
              <a:lnSpc>
                <a:spcPct val="112000"/>
              </a:lnSpc>
            </a:pPr>
            <a:r>
              <a:rPr sz="1250" b="1" i="0">
                <a:solidFill>
                  <a:srgbClr val="6B7688"/>
                </a:solidFill>
                <a:latin typeface="Noto Sans CJK SC"/>
                <a:ea typeface="Noto Sans CJK SC"/>
                <a:cs typeface="Noto Sans CJK SC"/>
              </a:rPr>
              <a:t>人工研报</a:t>
            </a:r>
          </a:p>
        </p:txBody>
      </p:sp>
      <p:sp>
        <p:nvSpPr>
          <p:cNvPr id="10" name="TextBox 9"/>
          <p:cNvSpPr txBox="1"/>
          <p:nvPr/>
        </p:nvSpPr>
        <p:spPr>
          <a:xfrm>
            <a:off x="2103120" y="2084831"/>
            <a:ext cx="548640" cy="566928"/>
          </a:xfrm>
          <a:prstGeom prst="rect">
            <a:avLst/>
          </a:prstGeom>
          <a:noFill/>
        </p:spPr>
        <p:txBody>
          <a:bodyPr wrap="square" lIns="0" tIns="0" rIns="0" bIns="0" anchor="ctr">
            <a:spAutoFit/>
          </a:bodyPr>
          <a:lstStyle/>
          <a:p>
            <a:pPr algn="ctr">
              <a:lnSpc>
                <a:spcPct val="112000"/>
              </a:lnSpc>
            </a:pPr>
            <a:r>
              <a:rPr sz="1300" b="0" i="0">
                <a:solidFill>
                  <a:srgbClr val="8FA8CC"/>
                </a:solidFill>
                <a:latin typeface="Noto Sans CJK SC"/>
                <a:ea typeface="Noto Sans CJK SC"/>
                <a:cs typeface="Noto Sans CJK SC"/>
              </a:rPr>
              <a:t>→</a:t>
            </a:r>
          </a:p>
        </p:txBody>
      </p:sp>
      <p:sp>
        <p:nvSpPr>
          <p:cNvPr id="11" name="TextBox 10"/>
          <p:cNvSpPr txBox="1"/>
          <p:nvPr/>
        </p:nvSpPr>
        <p:spPr>
          <a:xfrm>
            <a:off x="2788920" y="2084831"/>
            <a:ext cx="1463040" cy="566928"/>
          </a:xfrm>
          <a:prstGeom prst="rect">
            <a:avLst/>
          </a:prstGeom>
          <a:noFill/>
        </p:spPr>
        <p:txBody>
          <a:bodyPr wrap="square" lIns="0" tIns="0" rIns="0" bIns="0" anchor="ctr">
            <a:spAutoFit/>
          </a:bodyPr>
          <a:lstStyle/>
          <a:p>
            <a:pPr algn="ctr">
              <a:lnSpc>
                <a:spcPct val="112000"/>
              </a:lnSpc>
            </a:pPr>
            <a:r>
              <a:rPr sz="1250" b="1" i="0">
                <a:solidFill>
                  <a:srgbClr val="6B7688"/>
                </a:solidFill>
                <a:latin typeface="Noto Sans CJK SC"/>
                <a:ea typeface="Noto Sans CJK SC"/>
                <a:cs typeface="Noto Sans CJK SC"/>
              </a:rPr>
              <a:t>手工因子</a:t>
            </a:r>
          </a:p>
        </p:txBody>
      </p:sp>
      <p:sp>
        <p:nvSpPr>
          <p:cNvPr id="12" name="TextBox 11"/>
          <p:cNvSpPr txBox="1"/>
          <p:nvPr/>
        </p:nvSpPr>
        <p:spPr>
          <a:xfrm>
            <a:off x="4023360" y="2084831"/>
            <a:ext cx="548640" cy="566928"/>
          </a:xfrm>
          <a:prstGeom prst="rect">
            <a:avLst/>
          </a:prstGeom>
          <a:noFill/>
        </p:spPr>
        <p:txBody>
          <a:bodyPr wrap="square" lIns="0" tIns="0" rIns="0" bIns="0" anchor="ctr">
            <a:spAutoFit/>
          </a:bodyPr>
          <a:lstStyle/>
          <a:p>
            <a:pPr algn="ctr">
              <a:lnSpc>
                <a:spcPct val="112000"/>
              </a:lnSpc>
            </a:pPr>
            <a:r>
              <a:rPr sz="1300" b="0" i="0">
                <a:solidFill>
                  <a:srgbClr val="8FA8CC"/>
                </a:solidFill>
                <a:latin typeface="Noto Sans CJK SC"/>
                <a:ea typeface="Noto Sans CJK SC"/>
                <a:cs typeface="Noto Sans CJK SC"/>
              </a:rPr>
              <a:t>→</a:t>
            </a:r>
          </a:p>
        </p:txBody>
      </p:sp>
      <p:sp>
        <p:nvSpPr>
          <p:cNvPr id="13" name="TextBox 12"/>
          <p:cNvSpPr txBox="1"/>
          <p:nvPr/>
        </p:nvSpPr>
        <p:spPr>
          <a:xfrm>
            <a:off x="4709160" y="2084831"/>
            <a:ext cx="1463040" cy="566928"/>
          </a:xfrm>
          <a:prstGeom prst="rect">
            <a:avLst/>
          </a:prstGeom>
          <a:noFill/>
        </p:spPr>
        <p:txBody>
          <a:bodyPr wrap="square" lIns="0" tIns="0" rIns="0" bIns="0" anchor="ctr">
            <a:spAutoFit/>
          </a:bodyPr>
          <a:lstStyle/>
          <a:p>
            <a:pPr algn="ctr">
              <a:lnSpc>
                <a:spcPct val="112000"/>
              </a:lnSpc>
            </a:pPr>
            <a:r>
              <a:rPr sz="1250" b="1" i="0">
                <a:solidFill>
                  <a:srgbClr val="6B7688"/>
                </a:solidFill>
                <a:latin typeface="Noto Sans CJK SC"/>
                <a:ea typeface="Noto Sans CJK SC"/>
                <a:cs typeface="Noto Sans CJK SC"/>
              </a:rPr>
              <a:t>经验决策</a:t>
            </a:r>
          </a:p>
        </p:txBody>
      </p:sp>
      <p:sp>
        <p:nvSpPr>
          <p:cNvPr id="14" name="TextBox 13"/>
          <p:cNvSpPr txBox="1"/>
          <p:nvPr/>
        </p:nvSpPr>
        <p:spPr>
          <a:xfrm>
            <a:off x="5943600" y="2084831"/>
            <a:ext cx="548640" cy="566928"/>
          </a:xfrm>
          <a:prstGeom prst="rect">
            <a:avLst/>
          </a:prstGeom>
          <a:noFill/>
        </p:spPr>
        <p:txBody>
          <a:bodyPr wrap="square" lIns="0" tIns="0" rIns="0" bIns="0" anchor="ctr">
            <a:spAutoFit/>
          </a:bodyPr>
          <a:lstStyle/>
          <a:p>
            <a:pPr algn="ctr">
              <a:lnSpc>
                <a:spcPct val="112000"/>
              </a:lnSpc>
            </a:pPr>
            <a:r>
              <a:rPr sz="1300" b="0" i="0">
                <a:solidFill>
                  <a:srgbClr val="8FA8CC"/>
                </a:solidFill>
                <a:latin typeface="Noto Sans CJK SC"/>
                <a:ea typeface="Noto Sans CJK SC"/>
                <a:cs typeface="Noto Sans CJK SC"/>
              </a:rPr>
              <a:t>→</a:t>
            </a:r>
          </a:p>
        </p:txBody>
      </p:sp>
      <p:sp>
        <p:nvSpPr>
          <p:cNvPr id="15" name="TextBox 14"/>
          <p:cNvSpPr txBox="1"/>
          <p:nvPr/>
        </p:nvSpPr>
        <p:spPr>
          <a:xfrm>
            <a:off x="6629400" y="2084831"/>
            <a:ext cx="1463040" cy="566928"/>
          </a:xfrm>
          <a:prstGeom prst="rect">
            <a:avLst/>
          </a:prstGeom>
          <a:noFill/>
        </p:spPr>
        <p:txBody>
          <a:bodyPr wrap="square" lIns="0" tIns="0" rIns="0" bIns="0" anchor="ctr">
            <a:spAutoFit/>
          </a:bodyPr>
          <a:lstStyle/>
          <a:p>
            <a:pPr algn="ctr">
              <a:lnSpc>
                <a:spcPct val="112000"/>
              </a:lnSpc>
            </a:pPr>
            <a:r>
              <a:rPr sz="1250" b="1" i="0">
                <a:solidFill>
                  <a:srgbClr val="6B7688"/>
                </a:solidFill>
                <a:latin typeface="Noto Sans CJK SC"/>
                <a:ea typeface="Noto Sans CJK SC"/>
                <a:cs typeface="Noto Sans CJK SC"/>
              </a:rPr>
              <a:t>人工下单</a:t>
            </a:r>
          </a:p>
        </p:txBody>
      </p:sp>
      <p:sp>
        <p:nvSpPr>
          <p:cNvPr id="16" name="TextBox 15"/>
          <p:cNvSpPr txBox="1"/>
          <p:nvPr/>
        </p:nvSpPr>
        <p:spPr>
          <a:xfrm>
            <a:off x="548640" y="2798064"/>
            <a:ext cx="4572000" cy="274320"/>
          </a:xfrm>
          <a:prstGeom prst="rect">
            <a:avLst/>
          </a:prstGeom>
          <a:noFill/>
        </p:spPr>
        <p:txBody>
          <a:bodyPr wrap="square" lIns="0" tIns="0" rIns="0" bIns="0" anchor="t">
            <a:spAutoFit/>
          </a:bodyPr>
          <a:lstStyle/>
          <a:p>
            <a:pPr algn="l">
              <a:lnSpc>
                <a:spcPct val="112000"/>
              </a:lnSpc>
            </a:pPr>
            <a:r>
              <a:rPr sz="1250" b="1" i="0">
                <a:solidFill>
                  <a:srgbClr val="9A7B14"/>
                </a:solidFill>
                <a:latin typeface="Noto Sans CJK SC"/>
                <a:ea typeface="Noto Sans CJK SC"/>
                <a:cs typeface="Noto Sans CJK SC"/>
              </a:rPr>
              <a:t>AI原生模式  AI-Native Workflow（本平台技术路线）</a:t>
            </a:r>
          </a:p>
        </p:txBody>
      </p:sp>
      <p:sp>
        <p:nvSpPr>
          <p:cNvPr id="17" name="Rounded Rectangle 16"/>
          <p:cNvSpPr/>
          <p:nvPr/>
        </p:nvSpPr>
        <p:spPr>
          <a:xfrm>
            <a:off x="548640" y="3099816"/>
            <a:ext cx="11091672" cy="566928"/>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3099816"/>
            <a:ext cx="1584524" cy="566928"/>
          </a:xfrm>
          <a:prstGeom prst="rect">
            <a:avLst/>
          </a:prstGeom>
          <a:noFill/>
        </p:spPr>
        <p:txBody>
          <a:bodyPr wrap="square" lIns="0" tIns="0" rIns="0" bIns="0" anchor="ctr">
            <a:spAutoFit/>
          </a:bodyPr>
          <a:lstStyle/>
          <a:p>
            <a:pPr algn="ctr">
              <a:lnSpc>
                <a:spcPct val="112000"/>
              </a:lnSpc>
            </a:pPr>
            <a:r>
              <a:rPr sz="1250" b="1" i="0">
                <a:solidFill>
                  <a:srgbClr val="FFFFFF"/>
                </a:solidFill>
                <a:latin typeface="Noto Sans CJK SC"/>
                <a:ea typeface="Noto Sans CJK SC"/>
                <a:cs typeface="Noto Sans CJK SC"/>
              </a:rPr>
              <a:t>全维数据</a:t>
            </a:r>
          </a:p>
        </p:txBody>
      </p:sp>
      <p:sp>
        <p:nvSpPr>
          <p:cNvPr id="19" name="TextBox 18"/>
          <p:cNvSpPr txBox="1"/>
          <p:nvPr/>
        </p:nvSpPr>
        <p:spPr>
          <a:xfrm>
            <a:off x="1904564" y="3099816"/>
            <a:ext cx="228600" cy="566928"/>
          </a:xfrm>
          <a:prstGeom prst="rect">
            <a:avLst/>
          </a:prstGeom>
          <a:noFill/>
        </p:spPr>
        <p:txBody>
          <a:bodyPr wrap="square" lIns="0" tIns="0" rIns="0" bIns="0" anchor="ctr">
            <a:spAutoFit/>
          </a:bodyPr>
          <a:lstStyle/>
          <a:p>
            <a:pPr algn="ctr">
              <a:lnSpc>
                <a:spcPct val="112000"/>
              </a:lnSpc>
            </a:pPr>
            <a:r>
              <a:rPr sz="1400" b="0" i="0">
                <a:solidFill>
                  <a:srgbClr val="E3C55C"/>
                </a:solidFill>
                <a:latin typeface="Noto Sans CJK SC"/>
                <a:ea typeface="Noto Sans CJK SC"/>
                <a:cs typeface="Noto Sans CJK SC"/>
              </a:rPr>
              <a:t>›</a:t>
            </a:r>
          </a:p>
        </p:txBody>
      </p:sp>
      <p:sp>
        <p:nvSpPr>
          <p:cNvPr id="20" name="TextBox 19"/>
          <p:cNvSpPr txBox="1"/>
          <p:nvPr/>
        </p:nvSpPr>
        <p:spPr>
          <a:xfrm>
            <a:off x="2133164" y="3099816"/>
            <a:ext cx="1584524" cy="566928"/>
          </a:xfrm>
          <a:prstGeom prst="rect">
            <a:avLst/>
          </a:prstGeom>
          <a:noFill/>
        </p:spPr>
        <p:txBody>
          <a:bodyPr wrap="square" lIns="0" tIns="0" rIns="0" bIns="0" anchor="ctr">
            <a:spAutoFit/>
          </a:bodyPr>
          <a:lstStyle/>
          <a:p>
            <a:pPr algn="ctr">
              <a:lnSpc>
                <a:spcPct val="112000"/>
              </a:lnSpc>
            </a:pPr>
            <a:r>
              <a:rPr sz="1250" b="1" i="0">
                <a:solidFill>
                  <a:srgbClr val="FFFFFF"/>
                </a:solidFill>
                <a:latin typeface="Noto Sans CJK SC"/>
                <a:ea typeface="Noto Sans CJK SC"/>
                <a:cs typeface="Noto Sans CJK SC"/>
              </a:rPr>
              <a:t>AI智能解析</a:t>
            </a:r>
          </a:p>
        </p:txBody>
      </p:sp>
      <p:sp>
        <p:nvSpPr>
          <p:cNvPr id="21" name="TextBox 20"/>
          <p:cNvSpPr txBox="1"/>
          <p:nvPr/>
        </p:nvSpPr>
        <p:spPr>
          <a:xfrm>
            <a:off x="3489089" y="3099816"/>
            <a:ext cx="228600" cy="566928"/>
          </a:xfrm>
          <a:prstGeom prst="rect">
            <a:avLst/>
          </a:prstGeom>
          <a:noFill/>
        </p:spPr>
        <p:txBody>
          <a:bodyPr wrap="square" lIns="0" tIns="0" rIns="0" bIns="0" anchor="ctr">
            <a:spAutoFit/>
          </a:bodyPr>
          <a:lstStyle/>
          <a:p>
            <a:pPr algn="ctr">
              <a:lnSpc>
                <a:spcPct val="112000"/>
              </a:lnSpc>
            </a:pPr>
            <a:r>
              <a:rPr sz="1400" b="0" i="0">
                <a:solidFill>
                  <a:srgbClr val="E3C55C"/>
                </a:solidFill>
                <a:latin typeface="Noto Sans CJK SC"/>
                <a:ea typeface="Noto Sans CJK SC"/>
                <a:cs typeface="Noto Sans CJK SC"/>
              </a:rPr>
              <a:t>›</a:t>
            </a:r>
          </a:p>
        </p:txBody>
      </p:sp>
      <p:sp>
        <p:nvSpPr>
          <p:cNvPr id="22" name="TextBox 21"/>
          <p:cNvSpPr txBox="1"/>
          <p:nvPr/>
        </p:nvSpPr>
        <p:spPr>
          <a:xfrm>
            <a:off x="3717689" y="3099816"/>
            <a:ext cx="1584524" cy="566928"/>
          </a:xfrm>
          <a:prstGeom prst="rect">
            <a:avLst/>
          </a:prstGeom>
          <a:noFill/>
        </p:spPr>
        <p:txBody>
          <a:bodyPr wrap="square" lIns="0" tIns="0" rIns="0" bIns="0" anchor="ctr">
            <a:spAutoFit/>
          </a:bodyPr>
          <a:lstStyle/>
          <a:p>
            <a:pPr algn="ctr">
              <a:lnSpc>
                <a:spcPct val="112000"/>
              </a:lnSpc>
            </a:pPr>
            <a:r>
              <a:rPr sz="1250" b="1" i="0">
                <a:solidFill>
                  <a:srgbClr val="FFFFFF"/>
                </a:solidFill>
                <a:latin typeface="Noto Sans CJK SC"/>
                <a:ea typeface="Noto Sans CJK SC"/>
                <a:cs typeface="Noto Sans CJK SC"/>
              </a:rPr>
              <a:t>数理建模</a:t>
            </a:r>
          </a:p>
        </p:txBody>
      </p:sp>
      <p:sp>
        <p:nvSpPr>
          <p:cNvPr id="23" name="TextBox 22"/>
          <p:cNvSpPr txBox="1"/>
          <p:nvPr/>
        </p:nvSpPr>
        <p:spPr>
          <a:xfrm>
            <a:off x="5073613" y="3099816"/>
            <a:ext cx="228600" cy="566928"/>
          </a:xfrm>
          <a:prstGeom prst="rect">
            <a:avLst/>
          </a:prstGeom>
          <a:noFill/>
        </p:spPr>
        <p:txBody>
          <a:bodyPr wrap="square" lIns="0" tIns="0" rIns="0" bIns="0" anchor="ctr">
            <a:spAutoFit/>
          </a:bodyPr>
          <a:lstStyle/>
          <a:p>
            <a:pPr algn="ctr">
              <a:lnSpc>
                <a:spcPct val="112000"/>
              </a:lnSpc>
            </a:pPr>
            <a:r>
              <a:rPr sz="1400" b="0" i="0">
                <a:solidFill>
                  <a:srgbClr val="E3C55C"/>
                </a:solidFill>
                <a:latin typeface="Noto Sans CJK SC"/>
                <a:ea typeface="Noto Sans CJK SC"/>
                <a:cs typeface="Noto Sans CJK SC"/>
              </a:rPr>
              <a:t>›</a:t>
            </a:r>
          </a:p>
        </p:txBody>
      </p:sp>
      <p:sp>
        <p:nvSpPr>
          <p:cNvPr id="24" name="TextBox 23"/>
          <p:cNvSpPr txBox="1"/>
          <p:nvPr/>
        </p:nvSpPr>
        <p:spPr>
          <a:xfrm>
            <a:off x="5302213" y="3099816"/>
            <a:ext cx="1584524" cy="566928"/>
          </a:xfrm>
          <a:prstGeom prst="rect">
            <a:avLst/>
          </a:prstGeom>
          <a:noFill/>
        </p:spPr>
        <p:txBody>
          <a:bodyPr wrap="square" lIns="0" tIns="0" rIns="0" bIns="0" anchor="ctr">
            <a:spAutoFit/>
          </a:bodyPr>
          <a:lstStyle/>
          <a:p>
            <a:pPr algn="ctr">
              <a:lnSpc>
                <a:spcPct val="112000"/>
              </a:lnSpc>
            </a:pPr>
            <a:r>
              <a:rPr sz="1250" b="1" i="0">
                <a:solidFill>
                  <a:srgbClr val="FFFFFF"/>
                </a:solidFill>
                <a:latin typeface="Noto Sans CJK SC"/>
                <a:ea typeface="Noto Sans CJK SC"/>
                <a:cs typeface="Noto Sans CJK SC"/>
              </a:rPr>
              <a:t>策略自生成</a:t>
            </a:r>
          </a:p>
        </p:txBody>
      </p:sp>
      <p:sp>
        <p:nvSpPr>
          <p:cNvPr id="25" name="TextBox 24"/>
          <p:cNvSpPr txBox="1"/>
          <p:nvPr/>
        </p:nvSpPr>
        <p:spPr>
          <a:xfrm>
            <a:off x="6658138" y="3099816"/>
            <a:ext cx="228600" cy="566928"/>
          </a:xfrm>
          <a:prstGeom prst="rect">
            <a:avLst/>
          </a:prstGeom>
          <a:noFill/>
        </p:spPr>
        <p:txBody>
          <a:bodyPr wrap="square" lIns="0" tIns="0" rIns="0" bIns="0" anchor="ctr">
            <a:spAutoFit/>
          </a:bodyPr>
          <a:lstStyle/>
          <a:p>
            <a:pPr algn="ctr">
              <a:lnSpc>
                <a:spcPct val="112000"/>
              </a:lnSpc>
            </a:pPr>
            <a:r>
              <a:rPr sz="1400" b="0" i="0">
                <a:solidFill>
                  <a:srgbClr val="E3C55C"/>
                </a:solidFill>
                <a:latin typeface="Noto Sans CJK SC"/>
                <a:ea typeface="Noto Sans CJK SC"/>
                <a:cs typeface="Noto Sans CJK SC"/>
              </a:rPr>
              <a:t>›</a:t>
            </a:r>
          </a:p>
        </p:txBody>
      </p:sp>
      <p:sp>
        <p:nvSpPr>
          <p:cNvPr id="26" name="TextBox 25"/>
          <p:cNvSpPr txBox="1"/>
          <p:nvPr/>
        </p:nvSpPr>
        <p:spPr>
          <a:xfrm>
            <a:off x="6886738" y="3099816"/>
            <a:ext cx="1584524" cy="566928"/>
          </a:xfrm>
          <a:prstGeom prst="rect">
            <a:avLst/>
          </a:prstGeom>
          <a:noFill/>
        </p:spPr>
        <p:txBody>
          <a:bodyPr wrap="square" lIns="0" tIns="0" rIns="0" bIns="0" anchor="ctr">
            <a:spAutoFit/>
          </a:bodyPr>
          <a:lstStyle/>
          <a:p>
            <a:pPr algn="ctr">
              <a:lnSpc>
                <a:spcPct val="112000"/>
              </a:lnSpc>
            </a:pPr>
            <a:r>
              <a:rPr sz="1250" b="1" i="0">
                <a:solidFill>
                  <a:srgbClr val="FFFFFF"/>
                </a:solidFill>
                <a:latin typeface="Noto Sans CJK SC"/>
                <a:ea typeface="Noto Sans CJK SC"/>
                <a:cs typeface="Noto Sans CJK SC"/>
              </a:rPr>
              <a:t>多维回测</a:t>
            </a:r>
          </a:p>
        </p:txBody>
      </p:sp>
      <p:sp>
        <p:nvSpPr>
          <p:cNvPr id="27" name="TextBox 26"/>
          <p:cNvSpPr txBox="1"/>
          <p:nvPr/>
        </p:nvSpPr>
        <p:spPr>
          <a:xfrm>
            <a:off x="8242662" y="3099816"/>
            <a:ext cx="228600" cy="566928"/>
          </a:xfrm>
          <a:prstGeom prst="rect">
            <a:avLst/>
          </a:prstGeom>
          <a:noFill/>
        </p:spPr>
        <p:txBody>
          <a:bodyPr wrap="square" lIns="0" tIns="0" rIns="0" bIns="0" anchor="ctr">
            <a:spAutoFit/>
          </a:bodyPr>
          <a:lstStyle/>
          <a:p>
            <a:pPr algn="ctr">
              <a:lnSpc>
                <a:spcPct val="112000"/>
              </a:lnSpc>
            </a:pPr>
            <a:r>
              <a:rPr sz="1400" b="0" i="0">
                <a:solidFill>
                  <a:srgbClr val="E3C55C"/>
                </a:solidFill>
                <a:latin typeface="Noto Sans CJK SC"/>
                <a:ea typeface="Noto Sans CJK SC"/>
                <a:cs typeface="Noto Sans CJK SC"/>
              </a:rPr>
              <a:t>›</a:t>
            </a:r>
          </a:p>
        </p:txBody>
      </p:sp>
      <p:sp>
        <p:nvSpPr>
          <p:cNvPr id="28" name="TextBox 27"/>
          <p:cNvSpPr txBox="1"/>
          <p:nvPr/>
        </p:nvSpPr>
        <p:spPr>
          <a:xfrm>
            <a:off x="8471262" y="3099816"/>
            <a:ext cx="1584524" cy="566928"/>
          </a:xfrm>
          <a:prstGeom prst="rect">
            <a:avLst/>
          </a:prstGeom>
          <a:noFill/>
        </p:spPr>
        <p:txBody>
          <a:bodyPr wrap="square" lIns="0" tIns="0" rIns="0" bIns="0" anchor="ctr">
            <a:spAutoFit/>
          </a:bodyPr>
          <a:lstStyle/>
          <a:p>
            <a:pPr algn="ctr">
              <a:lnSpc>
                <a:spcPct val="112000"/>
              </a:lnSpc>
            </a:pPr>
            <a:r>
              <a:rPr sz="1250" b="1" i="0">
                <a:solidFill>
                  <a:srgbClr val="FFFFFF"/>
                </a:solidFill>
                <a:latin typeface="Noto Sans CJK SC"/>
                <a:ea typeface="Noto Sans CJK SC"/>
                <a:cs typeface="Noto Sans CJK SC"/>
              </a:rPr>
              <a:t>风控约束</a:t>
            </a:r>
          </a:p>
        </p:txBody>
      </p:sp>
      <p:sp>
        <p:nvSpPr>
          <p:cNvPr id="29" name="TextBox 28"/>
          <p:cNvSpPr txBox="1"/>
          <p:nvPr/>
        </p:nvSpPr>
        <p:spPr>
          <a:xfrm>
            <a:off x="9827187" y="3099816"/>
            <a:ext cx="228600" cy="566928"/>
          </a:xfrm>
          <a:prstGeom prst="rect">
            <a:avLst/>
          </a:prstGeom>
          <a:noFill/>
        </p:spPr>
        <p:txBody>
          <a:bodyPr wrap="square" lIns="0" tIns="0" rIns="0" bIns="0" anchor="ctr">
            <a:spAutoFit/>
          </a:bodyPr>
          <a:lstStyle/>
          <a:p>
            <a:pPr algn="ctr">
              <a:lnSpc>
                <a:spcPct val="112000"/>
              </a:lnSpc>
            </a:pPr>
            <a:r>
              <a:rPr sz="1400" b="0" i="0">
                <a:solidFill>
                  <a:srgbClr val="E3C55C"/>
                </a:solidFill>
                <a:latin typeface="Noto Sans CJK SC"/>
                <a:ea typeface="Noto Sans CJK SC"/>
                <a:cs typeface="Noto Sans CJK SC"/>
              </a:rPr>
              <a:t>›</a:t>
            </a:r>
          </a:p>
        </p:txBody>
      </p:sp>
      <p:sp>
        <p:nvSpPr>
          <p:cNvPr id="30" name="TextBox 29"/>
          <p:cNvSpPr txBox="1"/>
          <p:nvPr/>
        </p:nvSpPr>
        <p:spPr>
          <a:xfrm>
            <a:off x="10055787" y="3099816"/>
            <a:ext cx="1584524" cy="566928"/>
          </a:xfrm>
          <a:prstGeom prst="rect">
            <a:avLst/>
          </a:prstGeom>
          <a:noFill/>
        </p:spPr>
        <p:txBody>
          <a:bodyPr wrap="square" lIns="0" tIns="0" rIns="0" bIns="0" anchor="ctr">
            <a:spAutoFit/>
          </a:bodyPr>
          <a:lstStyle/>
          <a:p>
            <a:pPr algn="ctr">
              <a:lnSpc>
                <a:spcPct val="112000"/>
              </a:lnSpc>
            </a:pPr>
            <a:r>
              <a:rPr sz="1250" b="1" i="0">
                <a:solidFill>
                  <a:srgbClr val="FFFFFF"/>
                </a:solidFill>
                <a:latin typeface="Noto Sans CJK SC"/>
                <a:ea typeface="Noto Sans CJK SC"/>
                <a:cs typeface="Noto Sans CJK SC"/>
              </a:rPr>
              <a:t>合规执行</a:t>
            </a:r>
          </a:p>
        </p:txBody>
      </p:sp>
      <p:sp>
        <p:nvSpPr>
          <p:cNvPr id="31" name="Rounded Rectangle 30"/>
          <p:cNvSpPr/>
          <p:nvPr/>
        </p:nvSpPr>
        <p:spPr>
          <a:xfrm>
            <a:off x="548640" y="3950208"/>
            <a:ext cx="2697480" cy="212140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777240" y="4160520"/>
            <a:ext cx="384048" cy="384048"/>
          </a:xfrm>
          <a:prstGeom prst="roundRect">
            <a:avLst>
              <a:gd name="adj" fmla="val 35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 y="4160520"/>
            <a:ext cx="384048" cy="384048"/>
          </a:xfrm>
          <a:prstGeom prst="rect">
            <a:avLst/>
          </a:prstGeom>
          <a:noFill/>
        </p:spPr>
        <p:txBody>
          <a:bodyPr wrap="square" lIns="0" tIns="0" rIns="0" bIns="0" anchor="ctr">
            <a:spAutoFit/>
          </a:bodyPr>
          <a:lstStyle/>
          <a:p>
            <a:pPr algn="ctr">
              <a:lnSpc>
                <a:spcPct val="112000"/>
              </a:lnSpc>
            </a:pPr>
            <a:r>
              <a:rPr sz="1600" b="1" i="0">
                <a:solidFill>
                  <a:srgbClr val="9A7B14"/>
                </a:solidFill>
                <a:latin typeface="Noto Sans CJK SC"/>
                <a:ea typeface="Noto Sans CJK SC"/>
                <a:cs typeface="Noto Sans CJK SC"/>
              </a:rPr>
              <a:t>!</a:t>
            </a:r>
          </a:p>
        </p:txBody>
      </p:sp>
      <p:sp>
        <p:nvSpPr>
          <p:cNvPr id="34" name="TextBox 33"/>
          <p:cNvSpPr txBox="1"/>
          <p:nvPr/>
        </p:nvSpPr>
        <p:spPr>
          <a:xfrm>
            <a:off x="777240" y="4681728"/>
            <a:ext cx="2286000" cy="320040"/>
          </a:xfrm>
          <a:prstGeom prst="rect">
            <a:avLst/>
          </a:prstGeom>
          <a:noFill/>
        </p:spPr>
        <p:txBody>
          <a:bodyPr wrap="square" lIns="0" tIns="0" rIns="0" bIns="0" anchor="t">
            <a:spAutoFit/>
          </a:bodyPr>
          <a:lstStyle/>
          <a:p>
            <a:pPr algn="l">
              <a:lnSpc>
                <a:spcPct val="112000"/>
              </a:lnSpc>
            </a:pPr>
            <a:r>
              <a:rPr sz="1350" b="1" i="0">
                <a:solidFill>
                  <a:srgbClr val="1B2A4A"/>
                </a:solidFill>
                <a:latin typeface="Noto Sans CJK SC"/>
                <a:ea typeface="Noto Sans CJK SC"/>
                <a:cs typeface="Noto Sans CJK SC"/>
              </a:rPr>
              <a:t>Alpha持续衰减</a:t>
            </a:r>
          </a:p>
        </p:txBody>
      </p:sp>
      <p:sp>
        <p:nvSpPr>
          <p:cNvPr id="35" name="TextBox 34"/>
          <p:cNvSpPr txBox="1"/>
          <p:nvPr/>
        </p:nvSpPr>
        <p:spPr>
          <a:xfrm>
            <a:off x="777240" y="5029200"/>
            <a:ext cx="2286000" cy="960120"/>
          </a:xfrm>
          <a:prstGeom prst="rect">
            <a:avLst/>
          </a:prstGeom>
          <a:noFill/>
        </p:spPr>
        <p:txBody>
          <a:bodyPr wrap="square" lIns="0" tIns="0" rIns="0" bIns="0" anchor="t">
            <a:spAutoFit/>
          </a:bodyPr>
          <a:lstStyle/>
          <a:p>
            <a:pPr algn="l">
              <a:lnSpc>
                <a:spcPct val="120000"/>
              </a:lnSpc>
            </a:pPr>
            <a:r>
              <a:rPr sz="1050" b="0" i="0">
                <a:solidFill>
                  <a:srgbClr val="2A3242"/>
                </a:solidFill>
                <a:latin typeface="Noto Sans CJK SC"/>
                <a:ea typeface="Noto Sans CJK SC"/>
                <a:cs typeface="Noto Sans CJK SC"/>
              </a:rPr>
              <a:t>量价类因子自2025年8月起持续回撤，策略同质化加剧，超额收益获取难度系统性上升</a:t>
            </a:r>
          </a:p>
        </p:txBody>
      </p:sp>
      <p:sp>
        <p:nvSpPr>
          <p:cNvPr id="36" name="Rounded Rectangle 35"/>
          <p:cNvSpPr/>
          <p:nvPr/>
        </p:nvSpPr>
        <p:spPr>
          <a:xfrm>
            <a:off x="3355848" y="3950208"/>
            <a:ext cx="2697480" cy="212140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3584448" y="4160520"/>
            <a:ext cx="384048" cy="384048"/>
          </a:xfrm>
          <a:prstGeom prst="roundRect">
            <a:avLst>
              <a:gd name="adj" fmla="val 35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84448" y="4160520"/>
            <a:ext cx="384048" cy="384048"/>
          </a:xfrm>
          <a:prstGeom prst="rect">
            <a:avLst/>
          </a:prstGeom>
          <a:noFill/>
        </p:spPr>
        <p:txBody>
          <a:bodyPr wrap="square" lIns="0" tIns="0" rIns="0" bIns="0" anchor="ctr">
            <a:spAutoFit/>
          </a:bodyPr>
          <a:lstStyle/>
          <a:p>
            <a:pPr algn="ctr">
              <a:lnSpc>
                <a:spcPct val="112000"/>
              </a:lnSpc>
            </a:pPr>
            <a:r>
              <a:rPr sz="1600" b="1" i="0">
                <a:solidFill>
                  <a:srgbClr val="9A7B14"/>
                </a:solidFill>
                <a:latin typeface="Noto Sans CJK SC"/>
                <a:ea typeface="Noto Sans CJK SC"/>
                <a:cs typeface="Noto Sans CJK SC"/>
              </a:rPr>
              <a:t>!</a:t>
            </a:r>
          </a:p>
        </p:txBody>
      </p:sp>
      <p:sp>
        <p:nvSpPr>
          <p:cNvPr id="39" name="TextBox 38"/>
          <p:cNvSpPr txBox="1"/>
          <p:nvPr/>
        </p:nvSpPr>
        <p:spPr>
          <a:xfrm>
            <a:off x="3584448" y="4681728"/>
            <a:ext cx="2286000" cy="320040"/>
          </a:xfrm>
          <a:prstGeom prst="rect">
            <a:avLst/>
          </a:prstGeom>
          <a:noFill/>
        </p:spPr>
        <p:txBody>
          <a:bodyPr wrap="square" lIns="0" tIns="0" rIns="0" bIns="0" anchor="t">
            <a:spAutoFit/>
          </a:bodyPr>
          <a:lstStyle/>
          <a:p>
            <a:pPr algn="l">
              <a:lnSpc>
                <a:spcPct val="112000"/>
              </a:lnSpc>
            </a:pPr>
            <a:r>
              <a:rPr sz="1350" b="1" i="0">
                <a:solidFill>
                  <a:srgbClr val="1B2A4A"/>
                </a:solidFill>
                <a:latin typeface="Noto Sans CJK SC"/>
                <a:ea typeface="Noto Sans CJK SC"/>
                <a:cs typeface="Noto Sans CJK SC"/>
              </a:rPr>
              <a:t>中小机构困境</a:t>
            </a:r>
          </a:p>
        </p:txBody>
      </p:sp>
      <p:sp>
        <p:nvSpPr>
          <p:cNvPr id="40" name="TextBox 39"/>
          <p:cNvSpPr txBox="1"/>
          <p:nvPr/>
        </p:nvSpPr>
        <p:spPr>
          <a:xfrm>
            <a:off x="3584448" y="5029200"/>
            <a:ext cx="2286000" cy="960120"/>
          </a:xfrm>
          <a:prstGeom prst="rect">
            <a:avLst/>
          </a:prstGeom>
          <a:noFill/>
        </p:spPr>
        <p:txBody>
          <a:bodyPr wrap="square" lIns="0" tIns="0" rIns="0" bIns="0" anchor="t">
            <a:spAutoFit/>
          </a:bodyPr>
          <a:lstStyle/>
          <a:p>
            <a:pPr algn="l">
              <a:lnSpc>
                <a:spcPct val="120000"/>
              </a:lnSpc>
            </a:pPr>
            <a:r>
              <a:rPr sz="1050" b="0" i="0">
                <a:solidFill>
                  <a:srgbClr val="2A3242"/>
                </a:solidFill>
                <a:latin typeface="Noto Sans CJK SC"/>
                <a:ea typeface="Noto Sans CJK SC"/>
                <a:cs typeface="Noto Sans CJK SC"/>
              </a:rPr>
              <a:t>算力、数据与人才成本高企，模型迭代速度落后于头部，生存空间被持续压缩</a:t>
            </a:r>
          </a:p>
        </p:txBody>
      </p:sp>
      <p:sp>
        <p:nvSpPr>
          <p:cNvPr id="41" name="Rounded Rectangle 40"/>
          <p:cNvSpPr/>
          <p:nvPr/>
        </p:nvSpPr>
        <p:spPr>
          <a:xfrm>
            <a:off x="6163056" y="3950208"/>
            <a:ext cx="2697480" cy="212140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391656" y="4160520"/>
            <a:ext cx="384048" cy="384048"/>
          </a:xfrm>
          <a:prstGeom prst="roundRect">
            <a:avLst>
              <a:gd name="adj" fmla="val 35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91656" y="4160520"/>
            <a:ext cx="384048" cy="384048"/>
          </a:xfrm>
          <a:prstGeom prst="rect">
            <a:avLst/>
          </a:prstGeom>
          <a:noFill/>
        </p:spPr>
        <p:txBody>
          <a:bodyPr wrap="square" lIns="0" tIns="0" rIns="0" bIns="0" anchor="ctr">
            <a:spAutoFit/>
          </a:bodyPr>
          <a:lstStyle/>
          <a:p>
            <a:pPr algn="ctr">
              <a:lnSpc>
                <a:spcPct val="112000"/>
              </a:lnSpc>
            </a:pPr>
            <a:r>
              <a:rPr sz="1600" b="1" i="0">
                <a:solidFill>
                  <a:srgbClr val="9A7B14"/>
                </a:solidFill>
                <a:latin typeface="Noto Sans CJK SC"/>
                <a:ea typeface="Noto Sans CJK SC"/>
                <a:cs typeface="Noto Sans CJK SC"/>
              </a:rPr>
              <a:t>!</a:t>
            </a:r>
          </a:p>
        </p:txBody>
      </p:sp>
      <p:sp>
        <p:nvSpPr>
          <p:cNvPr id="44" name="TextBox 43"/>
          <p:cNvSpPr txBox="1"/>
          <p:nvPr/>
        </p:nvSpPr>
        <p:spPr>
          <a:xfrm>
            <a:off x="6391656" y="4681728"/>
            <a:ext cx="2286000" cy="320040"/>
          </a:xfrm>
          <a:prstGeom prst="rect">
            <a:avLst/>
          </a:prstGeom>
          <a:noFill/>
        </p:spPr>
        <p:txBody>
          <a:bodyPr wrap="square" lIns="0" tIns="0" rIns="0" bIns="0" anchor="t">
            <a:spAutoFit/>
          </a:bodyPr>
          <a:lstStyle/>
          <a:p>
            <a:pPr algn="l">
              <a:lnSpc>
                <a:spcPct val="112000"/>
              </a:lnSpc>
            </a:pPr>
            <a:r>
              <a:rPr sz="1350" b="1" i="0">
                <a:solidFill>
                  <a:srgbClr val="1B2A4A"/>
                </a:solidFill>
                <a:latin typeface="Noto Sans CJK SC"/>
                <a:ea typeface="Noto Sans CJK SC"/>
                <a:cs typeface="Noto Sans CJK SC"/>
              </a:rPr>
              <a:t>个人投资者门槛</a:t>
            </a:r>
          </a:p>
        </p:txBody>
      </p:sp>
      <p:sp>
        <p:nvSpPr>
          <p:cNvPr id="45" name="TextBox 44"/>
          <p:cNvSpPr txBox="1"/>
          <p:nvPr/>
        </p:nvSpPr>
        <p:spPr>
          <a:xfrm>
            <a:off x="6391656" y="5029200"/>
            <a:ext cx="2286000" cy="960120"/>
          </a:xfrm>
          <a:prstGeom prst="rect">
            <a:avLst/>
          </a:prstGeom>
          <a:noFill/>
        </p:spPr>
        <p:txBody>
          <a:bodyPr wrap="square" lIns="0" tIns="0" rIns="0" bIns="0" anchor="t">
            <a:spAutoFit/>
          </a:bodyPr>
          <a:lstStyle/>
          <a:p>
            <a:pPr algn="l">
              <a:lnSpc>
                <a:spcPct val="120000"/>
              </a:lnSpc>
            </a:pPr>
            <a:r>
              <a:rPr sz="1050" b="0" i="0">
                <a:solidFill>
                  <a:srgbClr val="2A3242"/>
                </a:solidFill>
                <a:latin typeface="Noto Sans CJK SC"/>
                <a:ea typeface="Noto Sans CJK SC"/>
                <a:cs typeface="Noto Sans CJK SC"/>
              </a:rPr>
              <a:t>缺乏专业量化工具与系统化风险认知，难以应对高频与跨市场风险</a:t>
            </a:r>
          </a:p>
        </p:txBody>
      </p:sp>
      <p:sp>
        <p:nvSpPr>
          <p:cNvPr id="46" name="Rounded Rectangle 45"/>
          <p:cNvSpPr/>
          <p:nvPr/>
        </p:nvSpPr>
        <p:spPr>
          <a:xfrm>
            <a:off x="8970264" y="3950208"/>
            <a:ext cx="2697480" cy="212140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9198864" y="4160520"/>
            <a:ext cx="384048" cy="384048"/>
          </a:xfrm>
          <a:prstGeom prst="roundRect">
            <a:avLst>
              <a:gd name="adj" fmla="val 35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98864" y="4160520"/>
            <a:ext cx="384048" cy="384048"/>
          </a:xfrm>
          <a:prstGeom prst="rect">
            <a:avLst/>
          </a:prstGeom>
          <a:noFill/>
        </p:spPr>
        <p:txBody>
          <a:bodyPr wrap="square" lIns="0" tIns="0" rIns="0" bIns="0" anchor="ctr">
            <a:spAutoFit/>
          </a:bodyPr>
          <a:lstStyle/>
          <a:p>
            <a:pPr algn="ctr">
              <a:lnSpc>
                <a:spcPct val="112000"/>
              </a:lnSpc>
            </a:pPr>
            <a:r>
              <a:rPr sz="1600" b="1" i="0">
                <a:solidFill>
                  <a:srgbClr val="9A7B14"/>
                </a:solidFill>
                <a:latin typeface="Noto Sans CJK SC"/>
                <a:ea typeface="Noto Sans CJK SC"/>
                <a:cs typeface="Noto Sans CJK SC"/>
              </a:rPr>
              <a:t>!</a:t>
            </a:r>
          </a:p>
        </p:txBody>
      </p:sp>
      <p:sp>
        <p:nvSpPr>
          <p:cNvPr id="49" name="TextBox 48"/>
          <p:cNvSpPr txBox="1"/>
          <p:nvPr/>
        </p:nvSpPr>
        <p:spPr>
          <a:xfrm>
            <a:off x="9198864" y="4681728"/>
            <a:ext cx="2286000" cy="320040"/>
          </a:xfrm>
          <a:prstGeom prst="rect">
            <a:avLst/>
          </a:prstGeom>
          <a:noFill/>
        </p:spPr>
        <p:txBody>
          <a:bodyPr wrap="square" lIns="0" tIns="0" rIns="0" bIns="0" anchor="t">
            <a:spAutoFit/>
          </a:bodyPr>
          <a:lstStyle/>
          <a:p>
            <a:pPr algn="l">
              <a:lnSpc>
                <a:spcPct val="112000"/>
              </a:lnSpc>
            </a:pPr>
            <a:r>
              <a:rPr sz="1350" b="1" i="0">
                <a:solidFill>
                  <a:srgbClr val="1B2A4A"/>
                </a:solidFill>
                <a:latin typeface="Noto Sans CJK SC"/>
                <a:ea typeface="Noto Sans CJK SC"/>
                <a:cs typeface="Noto Sans CJK SC"/>
              </a:rPr>
              <a:t>合规能力稀缺</a:t>
            </a:r>
          </a:p>
        </p:txBody>
      </p:sp>
      <p:sp>
        <p:nvSpPr>
          <p:cNvPr id="50" name="TextBox 49"/>
          <p:cNvSpPr txBox="1"/>
          <p:nvPr/>
        </p:nvSpPr>
        <p:spPr>
          <a:xfrm>
            <a:off x="9198864" y="5029200"/>
            <a:ext cx="2286000" cy="960120"/>
          </a:xfrm>
          <a:prstGeom prst="rect">
            <a:avLst/>
          </a:prstGeom>
          <a:noFill/>
        </p:spPr>
        <p:txBody>
          <a:bodyPr wrap="square" lIns="0" tIns="0" rIns="0" bIns="0" anchor="t">
            <a:spAutoFit/>
          </a:bodyPr>
          <a:lstStyle/>
          <a:p>
            <a:pPr algn="l">
              <a:lnSpc>
                <a:spcPct val="120000"/>
              </a:lnSpc>
            </a:pPr>
            <a:r>
              <a:rPr sz="1050" b="0" i="0">
                <a:solidFill>
                  <a:srgbClr val="2A3242"/>
                </a:solidFill>
                <a:latin typeface="Noto Sans CJK SC"/>
                <a:ea typeface="Noto Sans CJK SC"/>
                <a:cs typeface="Noto Sans CJK SC"/>
              </a:rPr>
              <a:t>程序化交易新规落地，报告、行为、系统、高频四重管理，合规体系成为准入门槛</a:t>
            </a:r>
          </a:p>
        </p:txBody>
      </p:sp>
      <p:sp>
        <p:nvSpPr>
          <p:cNvPr id="51" name="TextBox 50"/>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52" name="TextBox 51"/>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292608"/>
          </a:xfrm>
          <a:prstGeom prst="rect">
            <a:avLst/>
          </a:prstGeom>
          <a:noFill/>
        </p:spPr>
        <p:txBody>
          <a:bodyPr wrap="square" lIns="0" tIns="0" rIns="0" bIns="0" anchor="t">
            <a:spAutoFit/>
          </a:bodyPr>
          <a:lstStyle/>
          <a:p>
            <a:pPr algn="l">
              <a:lnSpc>
                <a:spcPct val="112000"/>
              </a:lnSpc>
            </a:pPr>
            <a:r>
              <a:rPr sz="1200" b="1" i="0">
                <a:solidFill>
                  <a:srgbClr val="9A7B14"/>
                </a:solidFill>
                <a:latin typeface="Noto Sans CJK SC"/>
                <a:ea typeface="Noto Sans CJK SC"/>
                <a:cs typeface="Noto Sans CJK SC"/>
              </a:rPr>
              <a:t>01 行业大势 · THE WAVE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监管新规落地：合规先行者赢得确定性空间</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Regulatory Reset: Compliance as the Moat</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822960" y="2395728"/>
            <a:ext cx="10698480" cy="0"/>
          </a:xfrm>
          <a:prstGeom prst="line">
            <a:avLst/>
          </a:prstGeom>
          <a:ln w="20320">
            <a:solidFill>
              <a:srgbClr val="C9A227"/>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627631" y="2313432"/>
            <a:ext cx="164592" cy="164592"/>
          </a:xfrm>
          <a:prstGeom prst="ellipse">
            <a:avLst/>
          </a:prstGeom>
          <a:solidFill>
            <a:srgbClr val="1B2A4A"/>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874519"/>
            <a:ext cx="2286000" cy="365760"/>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874519"/>
            <a:ext cx="2286000" cy="365760"/>
          </a:xfrm>
          <a:prstGeom prst="rect">
            <a:avLst/>
          </a:prstGeom>
          <a:noFill/>
        </p:spPr>
        <p:txBody>
          <a:bodyPr wrap="square" lIns="0" tIns="0" rIns="0" bIns="0" anchor="ctr">
            <a:spAutoFit/>
          </a:bodyPr>
          <a:lstStyle/>
          <a:p>
            <a:pPr algn="ctr">
              <a:lnSpc>
                <a:spcPct val="112000"/>
              </a:lnSpc>
            </a:pPr>
            <a:r>
              <a:rPr sz="1200" b="1" i="0">
                <a:solidFill>
                  <a:srgbClr val="FFFFFF"/>
                </a:solidFill>
                <a:latin typeface="Noto Sans CJK SC"/>
                <a:ea typeface="Noto Sans CJK SC"/>
                <a:cs typeface="Noto Sans CJK SC"/>
              </a:rPr>
              <a:t>2024.04</a:t>
            </a:r>
          </a:p>
        </p:txBody>
      </p:sp>
      <p:sp>
        <p:nvSpPr>
          <p:cNvPr id="11" name="Rounded Rectangle 10"/>
          <p:cNvSpPr/>
          <p:nvPr/>
        </p:nvSpPr>
        <p:spPr>
          <a:xfrm>
            <a:off x="548640" y="2697480"/>
            <a:ext cx="2286000" cy="1691640"/>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2834640"/>
            <a:ext cx="1993392" cy="347472"/>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新「国九条」</a:t>
            </a:r>
          </a:p>
        </p:txBody>
      </p:sp>
      <p:sp>
        <p:nvSpPr>
          <p:cNvPr id="13" name="TextBox 12"/>
          <p:cNvSpPr txBox="1"/>
          <p:nvPr/>
        </p:nvSpPr>
        <p:spPr>
          <a:xfrm>
            <a:off x="713232" y="3218688"/>
            <a:ext cx="2011680" cy="109728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明确提出出台程序化交易监管规定，加强对高频量化交易的监管</a:t>
            </a:r>
          </a:p>
        </p:txBody>
      </p:sp>
      <p:sp>
        <p:nvSpPr>
          <p:cNvPr id="14" name="Oval 13"/>
          <p:cNvSpPr/>
          <p:nvPr/>
        </p:nvSpPr>
        <p:spPr>
          <a:xfrm>
            <a:off x="4389120" y="2313432"/>
            <a:ext cx="164592" cy="164592"/>
          </a:xfrm>
          <a:prstGeom prst="ellipse">
            <a:avLst/>
          </a:prstGeom>
          <a:solidFill>
            <a:srgbClr val="1B2A4A"/>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310128" y="1874519"/>
            <a:ext cx="2286000" cy="365760"/>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10128" y="1874519"/>
            <a:ext cx="2286000" cy="365760"/>
          </a:xfrm>
          <a:prstGeom prst="rect">
            <a:avLst/>
          </a:prstGeom>
          <a:noFill/>
        </p:spPr>
        <p:txBody>
          <a:bodyPr wrap="square" lIns="0" tIns="0" rIns="0" bIns="0" anchor="ctr">
            <a:spAutoFit/>
          </a:bodyPr>
          <a:lstStyle/>
          <a:p>
            <a:pPr algn="ctr">
              <a:lnSpc>
                <a:spcPct val="112000"/>
              </a:lnSpc>
            </a:pPr>
            <a:r>
              <a:rPr sz="1200" b="1" i="0">
                <a:solidFill>
                  <a:srgbClr val="FFFFFF"/>
                </a:solidFill>
                <a:latin typeface="Noto Sans CJK SC"/>
                <a:ea typeface="Noto Sans CJK SC"/>
                <a:cs typeface="Noto Sans CJK SC"/>
              </a:rPr>
              <a:t>2024.05</a:t>
            </a:r>
          </a:p>
        </p:txBody>
      </p:sp>
      <p:sp>
        <p:nvSpPr>
          <p:cNvPr id="17" name="Rounded Rectangle 16"/>
          <p:cNvSpPr/>
          <p:nvPr/>
        </p:nvSpPr>
        <p:spPr>
          <a:xfrm>
            <a:off x="3310128" y="2697480"/>
            <a:ext cx="2286000" cy="1691640"/>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4720" y="2834640"/>
            <a:ext cx="1993392" cy="347472"/>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证监会《管理规定》</a:t>
            </a:r>
          </a:p>
        </p:txBody>
      </p:sp>
      <p:sp>
        <p:nvSpPr>
          <p:cNvPr id="19" name="TextBox 18"/>
          <p:cNvSpPr txBox="1"/>
          <p:nvPr/>
        </p:nvSpPr>
        <p:spPr>
          <a:xfrm>
            <a:off x="3474720" y="3218688"/>
            <a:ext cx="2011680" cy="109728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发布《证券市场程序化交易管理规定（试行）》，确立总体监管框架</a:t>
            </a:r>
          </a:p>
        </p:txBody>
      </p:sp>
      <p:sp>
        <p:nvSpPr>
          <p:cNvPr id="20" name="Oval 19"/>
          <p:cNvSpPr/>
          <p:nvPr/>
        </p:nvSpPr>
        <p:spPr>
          <a:xfrm>
            <a:off x="7150607" y="2313432"/>
            <a:ext cx="164592" cy="164592"/>
          </a:xfrm>
          <a:prstGeom prst="ellipse">
            <a:avLst/>
          </a:prstGeom>
          <a:solidFill>
            <a:srgbClr val="1B2A4A"/>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071616" y="1874519"/>
            <a:ext cx="2286000" cy="365760"/>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71616" y="1874519"/>
            <a:ext cx="2286000" cy="365760"/>
          </a:xfrm>
          <a:prstGeom prst="rect">
            <a:avLst/>
          </a:prstGeom>
          <a:noFill/>
        </p:spPr>
        <p:txBody>
          <a:bodyPr wrap="square" lIns="0" tIns="0" rIns="0" bIns="0" anchor="ctr">
            <a:spAutoFit/>
          </a:bodyPr>
          <a:lstStyle/>
          <a:p>
            <a:pPr algn="ctr">
              <a:lnSpc>
                <a:spcPct val="112000"/>
              </a:lnSpc>
            </a:pPr>
            <a:r>
              <a:rPr sz="1200" b="1" i="0">
                <a:solidFill>
                  <a:srgbClr val="FFFFFF"/>
                </a:solidFill>
                <a:latin typeface="Noto Sans CJK SC"/>
                <a:ea typeface="Noto Sans CJK SC"/>
                <a:cs typeface="Noto Sans CJK SC"/>
              </a:rPr>
              <a:t>2025.04</a:t>
            </a:r>
          </a:p>
        </p:txBody>
      </p:sp>
      <p:sp>
        <p:nvSpPr>
          <p:cNvPr id="23" name="Rounded Rectangle 22"/>
          <p:cNvSpPr/>
          <p:nvPr/>
        </p:nvSpPr>
        <p:spPr>
          <a:xfrm>
            <a:off x="6071616" y="2697480"/>
            <a:ext cx="2286000" cy="1691640"/>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36207" y="2834640"/>
            <a:ext cx="1993392" cy="347472"/>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交易所《实施细则》</a:t>
            </a:r>
          </a:p>
        </p:txBody>
      </p:sp>
      <p:sp>
        <p:nvSpPr>
          <p:cNvPr id="25" name="TextBox 24"/>
          <p:cNvSpPr txBox="1"/>
          <p:nvPr/>
        </p:nvSpPr>
        <p:spPr>
          <a:xfrm>
            <a:off x="6236207" y="3218688"/>
            <a:ext cx="2011680" cy="109728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沪深北交易所发布实施细则：报告管理、行为管理、系统管理、高频管理全覆盖</a:t>
            </a:r>
          </a:p>
        </p:txBody>
      </p:sp>
      <p:sp>
        <p:nvSpPr>
          <p:cNvPr id="26" name="Oval 25"/>
          <p:cNvSpPr/>
          <p:nvPr/>
        </p:nvSpPr>
        <p:spPr>
          <a:xfrm>
            <a:off x="9912096" y="2313432"/>
            <a:ext cx="164592" cy="164592"/>
          </a:xfrm>
          <a:prstGeom prst="ellipse">
            <a:avLst/>
          </a:prstGeom>
          <a:solidFill>
            <a:srgbClr val="1B2A4A"/>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833104" y="1874519"/>
            <a:ext cx="228600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33104" y="1874519"/>
            <a:ext cx="2286000" cy="365760"/>
          </a:xfrm>
          <a:prstGeom prst="rect">
            <a:avLst/>
          </a:prstGeom>
          <a:noFill/>
        </p:spPr>
        <p:txBody>
          <a:bodyPr wrap="square" lIns="0" tIns="0" rIns="0" bIns="0" anchor="ctr">
            <a:spAutoFit/>
          </a:bodyPr>
          <a:lstStyle/>
          <a:p>
            <a:pPr algn="ctr">
              <a:lnSpc>
                <a:spcPct val="112000"/>
              </a:lnSpc>
            </a:pPr>
            <a:r>
              <a:rPr sz="1200" b="1" i="0">
                <a:solidFill>
                  <a:srgbClr val="121D36"/>
                </a:solidFill>
                <a:latin typeface="Noto Sans CJK SC"/>
                <a:ea typeface="Noto Sans CJK SC"/>
                <a:cs typeface="Noto Sans CJK SC"/>
              </a:rPr>
              <a:t>2025.07</a:t>
            </a:r>
          </a:p>
        </p:txBody>
      </p:sp>
      <p:sp>
        <p:nvSpPr>
          <p:cNvPr id="29" name="Rounded Rectangle 28"/>
          <p:cNvSpPr/>
          <p:nvPr/>
        </p:nvSpPr>
        <p:spPr>
          <a:xfrm>
            <a:off x="8833104" y="2697480"/>
            <a:ext cx="2286000" cy="1691640"/>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97696" y="2834640"/>
            <a:ext cx="1993392" cy="347472"/>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细则正式生效</a:t>
            </a:r>
          </a:p>
        </p:txBody>
      </p:sp>
      <p:sp>
        <p:nvSpPr>
          <p:cNvPr id="31" name="TextBox 30"/>
          <p:cNvSpPr txBox="1"/>
          <p:nvPr/>
        </p:nvSpPr>
        <p:spPr>
          <a:xfrm>
            <a:off x="8997696" y="3218688"/>
            <a:ext cx="2011680" cy="109728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每秒申报/撤单超300笔等情形被认定为高频交易，从严监管、差异化收费</a:t>
            </a:r>
          </a:p>
        </p:txBody>
      </p:sp>
      <p:sp>
        <p:nvSpPr>
          <p:cNvPr id="32" name="Rounded Rectangle 31"/>
          <p:cNvSpPr/>
          <p:nvPr/>
        </p:nvSpPr>
        <p:spPr>
          <a:xfrm>
            <a:off x="548640" y="4663440"/>
            <a:ext cx="5440680" cy="146304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8" y="4828032"/>
            <a:ext cx="4892040" cy="1188720"/>
          </a:xfrm>
          <a:prstGeom prst="rect">
            <a:avLst/>
          </a:prstGeom>
          <a:noFill/>
        </p:spPr>
        <p:txBody>
          <a:bodyPr wrap="square" lIns="0" tIns="0" rIns="0" bIns="0" anchor="t">
            <a:spAutoFit/>
          </a:bodyPr>
          <a:lstStyle/>
          <a:p>
            <a:pPr algn="l">
              <a:lnSpc>
                <a:spcPct val="112000"/>
              </a:lnSpc>
              <a:spcBef>
                <a:spcPts val="0"/>
              </a:spcBef>
              <a:spcAft>
                <a:spcPts val="400"/>
              </a:spcAft>
            </a:pPr>
            <a:r>
              <a:rPr sz="1300" b="1" i="0">
                <a:solidFill>
                  <a:srgbClr val="2C4A7C"/>
                </a:solidFill>
                <a:latin typeface="Noto Sans CJK SC"/>
                <a:ea typeface="Noto Sans CJK SC"/>
                <a:cs typeface="Noto Sans CJK SC"/>
              </a:rPr>
              <a:t>对行业：出清与规范化</a:t>
            </a:r>
          </a:p>
          <a:p>
            <a:pPr algn="l">
              <a:lnSpc>
                <a:spcPct val="122000"/>
              </a:lnSpc>
              <a:spcBef>
                <a:spcPts val="0"/>
              </a:spcBef>
              <a:spcAft>
                <a:spcPts val="0"/>
              </a:spcAft>
            </a:pPr>
            <a:r>
              <a:rPr sz="1150" b="0" i="0">
                <a:solidFill>
                  <a:srgbClr val="2A3242"/>
                </a:solidFill>
                <a:latin typeface="Noto Sans CJK SC"/>
                <a:ea typeface="Noto Sans CJK SC"/>
                <a:cs typeface="Noto Sans CJK SC"/>
              </a:rPr>
              <a:t>高频与异常交易行为被从严约束，劣质策略与违规玩家加速出清，行业竞争回归投研硬实力。</a:t>
            </a:r>
          </a:p>
        </p:txBody>
      </p:sp>
      <p:sp>
        <p:nvSpPr>
          <p:cNvPr id="34" name="Rounded Rectangle 33"/>
          <p:cNvSpPr/>
          <p:nvPr/>
        </p:nvSpPr>
        <p:spPr>
          <a:xfrm>
            <a:off x="6199632" y="4663440"/>
            <a:ext cx="5440680" cy="1463040"/>
          </a:xfrm>
          <a:prstGeom prst="roundRect">
            <a:avLst>
              <a:gd name="adj" fmla="val 8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92240" y="4828032"/>
            <a:ext cx="4892040" cy="1188720"/>
          </a:xfrm>
          <a:prstGeom prst="rect">
            <a:avLst/>
          </a:prstGeom>
          <a:noFill/>
        </p:spPr>
        <p:txBody>
          <a:bodyPr wrap="square" lIns="0" tIns="0" rIns="0" bIns="0" anchor="t">
            <a:spAutoFit/>
          </a:bodyPr>
          <a:lstStyle/>
          <a:p>
            <a:pPr algn="l">
              <a:lnSpc>
                <a:spcPct val="112000"/>
              </a:lnSpc>
              <a:spcBef>
                <a:spcPts val="0"/>
              </a:spcBef>
              <a:spcAft>
                <a:spcPts val="400"/>
              </a:spcAft>
            </a:pPr>
            <a:r>
              <a:rPr sz="1300" b="1" i="0">
                <a:solidFill>
                  <a:srgbClr val="9A7B14"/>
                </a:solidFill>
                <a:latin typeface="Noto Sans CJK SC"/>
                <a:ea typeface="Noto Sans CJK SC"/>
                <a:cs typeface="Noto Sans CJK SC"/>
              </a:rPr>
              <a:t>对本平台：护城河</a:t>
            </a:r>
          </a:p>
          <a:p>
            <a:pPr algn="l">
              <a:lnSpc>
                <a:spcPct val="122000"/>
              </a:lnSpc>
              <a:spcBef>
                <a:spcPts val="0"/>
              </a:spcBef>
              <a:spcAft>
                <a:spcPts val="0"/>
              </a:spcAft>
            </a:pPr>
            <a:r>
              <a:rPr sz="1150" b="0" i="0">
                <a:solidFill>
                  <a:srgbClr val="2A3242"/>
                </a:solidFill>
                <a:latin typeface="Noto Sans CJK SC"/>
                <a:ea typeface="Noto Sans CJK SC"/>
                <a:cs typeface="Noto Sans CJK SC"/>
              </a:rPr>
              <a:t>平台以「合规先行」为顶层设计：中美双合规架构（纽约SRFK律所+国内资管主体），新规环境下合规能力直接转化为竞争优势。</a:t>
            </a:r>
          </a:p>
        </p:txBody>
      </p:sp>
      <p:sp>
        <p:nvSpPr>
          <p:cNvPr id="36" name="TextBox 35"/>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37" name="TextBox 36"/>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D3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66560"/>
            <a:ext cx="12191695"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051560"/>
            <a:ext cx="3108960" cy="1828800"/>
          </a:xfrm>
          <a:prstGeom prst="rect">
            <a:avLst/>
          </a:prstGeom>
          <a:noFill/>
        </p:spPr>
        <p:txBody>
          <a:bodyPr wrap="square" lIns="0" tIns="0" rIns="0" bIns="0" anchor="t">
            <a:spAutoFit/>
          </a:bodyPr>
          <a:lstStyle/>
          <a:p>
            <a:pPr algn="l">
              <a:lnSpc>
                <a:spcPct val="112000"/>
              </a:lnSpc>
            </a:pPr>
            <a:r>
              <a:rPr sz="10800" b="1" i="0">
                <a:solidFill>
                  <a:srgbClr val="25365C"/>
                </a:solidFill>
                <a:latin typeface="Noto Sans CJK SC"/>
                <a:ea typeface="Noto Sans CJK SC"/>
                <a:cs typeface="Noto Sans CJK SC"/>
              </a:rPr>
              <a:t>02</a:t>
            </a:r>
          </a:p>
        </p:txBody>
      </p:sp>
      <p:sp>
        <p:nvSpPr>
          <p:cNvPr id="7" name="Rectangle 6"/>
          <p:cNvSpPr/>
          <p:nvPr/>
        </p:nvSpPr>
        <p:spPr>
          <a:xfrm>
            <a:off x="777240" y="2880360"/>
            <a:ext cx="8229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127248"/>
            <a:ext cx="10607040" cy="868680"/>
          </a:xfrm>
          <a:prstGeom prst="rect">
            <a:avLst/>
          </a:prstGeom>
          <a:noFill/>
        </p:spPr>
        <p:txBody>
          <a:bodyPr wrap="square" lIns="0" tIns="0" rIns="0" bIns="0" anchor="t">
            <a:spAutoFit/>
          </a:bodyPr>
          <a:lstStyle/>
          <a:p>
            <a:pPr algn="l">
              <a:lnSpc>
                <a:spcPct val="112000"/>
              </a:lnSpc>
            </a:pPr>
            <a:r>
              <a:rPr sz="4000" b="1" i="0">
                <a:solidFill>
                  <a:srgbClr val="FFFFFF"/>
                </a:solidFill>
                <a:latin typeface="Noto Sans CJK SC"/>
                <a:ea typeface="Noto Sans CJK SC"/>
                <a:cs typeface="Noto Sans CJK SC"/>
              </a:rPr>
              <a:t>平台介绍</a:t>
            </a:r>
          </a:p>
        </p:txBody>
      </p:sp>
      <p:sp>
        <p:nvSpPr>
          <p:cNvPr id="9" name="TextBox 8"/>
          <p:cNvSpPr txBox="1"/>
          <p:nvPr/>
        </p:nvSpPr>
        <p:spPr>
          <a:xfrm>
            <a:off x="841248" y="4005072"/>
            <a:ext cx="10607040" cy="411480"/>
          </a:xfrm>
          <a:prstGeom prst="rect">
            <a:avLst/>
          </a:prstGeom>
          <a:noFill/>
        </p:spPr>
        <p:txBody>
          <a:bodyPr wrap="square" lIns="0" tIns="0" rIns="0" bIns="0" anchor="t">
            <a:spAutoFit/>
          </a:bodyPr>
          <a:lstStyle/>
          <a:p>
            <a:pPr algn="l">
              <a:lnSpc>
                <a:spcPct val="112000"/>
              </a:lnSpc>
            </a:pPr>
            <a:r>
              <a:rPr sz="1700" b="0" i="0">
                <a:solidFill>
                  <a:srgbClr val="E3C55C"/>
                </a:solidFill>
                <a:latin typeface="Noto Sans CJK SC"/>
                <a:ea typeface="Noto Sans CJK SC"/>
                <a:cs typeface="Noto Sans CJK SC"/>
              </a:rPr>
              <a:t>THE PLATFORM</a:t>
            </a:r>
          </a:p>
        </p:txBody>
      </p:sp>
      <p:sp>
        <p:nvSpPr>
          <p:cNvPr id="10" name="TextBox 9"/>
          <p:cNvSpPr txBox="1"/>
          <p:nvPr/>
        </p:nvSpPr>
        <p:spPr>
          <a:xfrm>
            <a:off x="841248" y="4553712"/>
            <a:ext cx="10789920" cy="411480"/>
          </a:xfrm>
          <a:prstGeom prst="rect">
            <a:avLst/>
          </a:prstGeom>
          <a:noFill/>
        </p:spPr>
        <p:txBody>
          <a:bodyPr wrap="square" lIns="0" tIns="0" rIns="0" bIns="0" anchor="t">
            <a:spAutoFit/>
          </a:bodyPr>
          <a:lstStyle/>
          <a:p>
            <a:pPr algn="l">
              <a:lnSpc>
                <a:spcPct val="112000"/>
              </a:lnSpc>
            </a:pPr>
            <a:r>
              <a:rPr sz="1450" b="0" i="0">
                <a:solidFill>
                  <a:srgbClr val="B9C4D6"/>
                </a:solidFill>
                <a:latin typeface="Noto Sans CJK SC"/>
                <a:ea typeface="Noto Sans CJK SC"/>
                <a:cs typeface="Noto Sans CJK SC"/>
              </a:rPr>
              <a:t>一站式AI量化投资与交易基础设施</a:t>
            </a:r>
          </a:p>
        </p:txBody>
      </p:sp>
      <p:sp>
        <p:nvSpPr>
          <p:cNvPr id="11" name="Rounded Rectangle 10"/>
          <p:cNvSpPr/>
          <p:nvPr/>
        </p:nvSpPr>
        <p:spPr>
          <a:xfrm>
            <a:off x="841248" y="5230368"/>
            <a:ext cx="10515600" cy="685800"/>
          </a:xfrm>
          <a:prstGeom prst="roundRect">
            <a:avLst>
              <a:gd name="adj" fmla="val 50000"/>
            </a:avLst>
          </a:prstGeom>
          <a:solidFill>
            <a:srgbClr val="1E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5230368"/>
            <a:ext cx="10058400" cy="685800"/>
          </a:xfrm>
          <a:prstGeom prst="rect">
            <a:avLst/>
          </a:prstGeom>
          <a:noFill/>
        </p:spPr>
        <p:txBody>
          <a:bodyPr wrap="square" lIns="0" tIns="0" rIns="0" bIns="0" anchor="ctr">
            <a:spAutoFit/>
          </a:bodyPr>
          <a:lstStyle/>
          <a:p>
            <a:pPr algn="l">
              <a:lnSpc>
                <a:spcPct val="112000"/>
              </a:lnSpc>
            </a:pPr>
            <a:r>
              <a:rPr sz="1300" b="0" i="0">
                <a:solidFill>
                  <a:srgbClr val="D5DDEA"/>
                </a:solidFill>
                <a:latin typeface="Noto Sans CJK SC"/>
                <a:ea typeface="Noto Sans CJK SC"/>
                <a:cs typeface="Noto Sans CJK SC"/>
              </a:rPr>
              <a:t>十年沉淀的数理金融模型</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华尔街级专家团队</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产业级算力底座</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中美双合规架构</a:t>
            </a:r>
          </a:p>
        </p:txBody>
      </p:sp>
      <p:sp>
        <p:nvSpPr>
          <p:cNvPr id="13" name="TextBox 12"/>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5A6884"/>
                </a:solidFill>
                <a:latin typeface="Noto Sans CJK SC"/>
                <a:ea typeface="Noto Sans CJK SC"/>
                <a:cs typeface="Noto Sans CJK SC"/>
              </a:rPr>
              <a:t>道一（江苏）资产管理有限公司  ·  AI量化投资与交易创新平台  ·  2026  ·  内部资料</a:t>
            </a:r>
          </a:p>
        </p:txBody>
      </p:sp>
      <p:sp>
        <p:nvSpPr>
          <p:cNvPr id="14" name="TextBox 13"/>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C9A227"/>
                </a:solidFill>
                <a:latin typeface="Noto Sans CJK SC"/>
                <a:ea typeface="Noto Sans CJK SC"/>
                <a:cs typeface="Noto Sans CJK SC"/>
              </a:rPr>
              <a:t>09</a:t>
            </a:r>
          </a:p>
        </p:txBody>
      </p:sp>
      <p:pic>
        <p:nvPicPr>
          <p:cNvPr id="4" name="Picture 3">
            <a:extLst>
              <a:ext uri="{FF2B5EF4-FFF2-40B4-BE49-F238E27FC236}">
                <a16:creationId xmlns:a16="http://schemas.microsoft.com/office/drawing/2014/main" id="{D8C71B6F-F2E4-5DCA-3AF7-D6999AA28E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7736" y="107039"/>
            <a:ext cx="5199012" cy="51990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194925"/>
          </a:xfrm>
          <a:prstGeom prst="rect">
            <a:avLst/>
          </a:prstGeom>
          <a:noFill/>
        </p:spPr>
        <p:txBody>
          <a:bodyPr wrap="square" lIns="0" tIns="0" rIns="0" bIns="0" anchor="t">
            <a:spAutoFit/>
          </a:bodyPr>
          <a:lstStyle/>
          <a:p>
            <a:pPr algn="l">
              <a:lnSpc>
                <a:spcPct val="112000"/>
              </a:lnSpc>
            </a:pPr>
            <a:r>
              <a:rPr sz="1200" b="1" i="0" dirty="0">
                <a:solidFill>
                  <a:srgbClr val="9A7B14"/>
                </a:solidFill>
                <a:latin typeface="Noto Sans CJK SC"/>
                <a:ea typeface="Noto Sans CJK SC"/>
                <a:cs typeface="Noto Sans CJK SC"/>
              </a:rPr>
              <a:t>02 </a:t>
            </a:r>
            <a:r>
              <a:rPr lang="zh-CN" altLang="en-US" sz="1200" b="1" dirty="0">
                <a:solidFill>
                  <a:srgbClr val="9A7B14"/>
                </a:solidFill>
                <a:latin typeface="Noto Sans CJK SC"/>
                <a:ea typeface="Noto Sans CJK SC"/>
                <a:cs typeface="Noto Sans CJK SC"/>
              </a:rPr>
              <a:t>联盟</a:t>
            </a:r>
            <a:r>
              <a:rPr sz="1200" b="1" i="0" dirty="0" err="1">
                <a:solidFill>
                  <a:srgbClr val="9A7B14"/>
                </a:solidFill>
                <a:latin typeface="Noto Sans CJK SC"/>
                <a:ea typeface="Noto Sans CJK SC"/>
                <a:cs typeface="Noto Sans CJK SC"/>
              </a:rPr>
              <a:t>介绍</a:t>
            </a:r>
            <a:r>
              <a:rPr sz="1200" b="1" i="0" dirty="0">
                <a:solidFill>
                  <a:srgbClr val="9A7B14"/>
                </a:solidFill>
                <a:latin typeface="Noto Sans CJK SC"/>
                <a:ea typeface="Noto Sans CJK SC"/>
                <a:cs typeface="Noto Sans CJK SC"/>
              </a:rPr>
              <a:t> · THE </a:t>
            </a:r>
            <a:r>
              <a:rPr lang="en-US" altLang="zh-CN" sz="1200" b="1" dirty="0">
                <a:solidFill>
                  <a:srgbClr val="9A7B14"/>
                </a:solidFill>
                <a:latin typeface="Noto Sans CJK SC"/>
                <a:ea typeface="Noto Sans CJK SC"/>
                <a:cs typeface="Noto Sans CJK SC"/>
              </a:rPr>
              <a:t>ALLIANCE</a:t>
            </a:r>
            <a:endParaRPr sz="1200" b="1" i="0" dirty="0">
              <a:solidFill>
                <a:srgbClr val="9A7B14"/>
              </a:solidFill>
              <a:latin typeface="Noto Sans CJK SC"/>
              <a:ea typeface="Noto Sans CJK SC"/>
              <a:cs typeface="Noto Sans CJK SC"/>
            </a:endParaRP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平台定位：机构级AI量化能力的产品化与普惠化</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Positioning: Institutional-Grade AI Quant, Democratized</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10512"/>
            <a:ext cx="11091672" cy="1371600"/>
          </a:xfrm>
          <a:prstGeom prst="roundRect">
            <a:avLst>
              <a:gd name="adj" fmla="val 7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810512"/>
            <a:ext cx="91440"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11680"/>
            <a:ext cx="10332720" cy="1005840"/>
          </a:xfrm>
          <a:prstGeom prst="rect">
            <a:avLst/>
          </a:prstGeom>
          <a:noFill/>
        </p:spPr>
        <p:txBody>
          <a:bodyPr wrap="square" lIns="0" tIns="0" rIns="0" bIns="0" anchor="t">
            <a:spAutoFit/>
          </a:bodyPr>
          <a:lstStyle/>
          <a:p>
            <a:pPr algn="l">
              <a:lnSpc>
                <a:spcPct val="112000"/>
              </a:lnSpc>
              <a:spcBef>
                <a:spcPts val="0"/>
              </a:spcBef>
              <a:spcAft>
                <a:spcPts val="600"/>
              </a:spcAft>
            </a:pPr>
            <a:r>
              <a:rPr sz="1650" b="0" i="0">
                <a:solidFill>
                  <a:srgbClr val="FFFFFF"/>
                </a:solidFill>
                <a:latin typeface="Noto Sans CJK SC"/>
                <a:ea typeface="Noto Sans CJK SC"/>
                <a:cs typeface="Noto Sans CJK SC"/>
              </a:rPr>
              <a:t>面向个人活跃投资者、交易员与中小机构，提供</a:t>
            </a:r>
            <a:r>
              <a:rPr sz="1650" b="1" i="0">
                <a:solidFill>
                  <a:srgbClr val="E3C55C"/>
                </a:solidFill>
                <a:latin typeface="Noto Sans CJK SC"/>
                <a:ea typeface="Noto Sans CJK SC"/>
                <a:cs typeface="Noto Sans CJK SC"/>
              </a:rPr>
              <a:t>一站式AI量化投资与交易基础设施</a:t>
            </a:r>
            <a:r>
              <a:rPr sz="1650" b="0" i="0">
                <a:solidFill>
                  <a:srgbClr val="FFFFFF"/>
                </a:solidFill>
                <a:latin typeface="Noto Sans CJK SC"/>
                <a:ea typeface="Noto Sans CJK SC"/>
                <a:cs typeface="Noto Sans CJK SC"/>
              </a:rPr>
              <a:t>，</a:t>
            </a:r>
          </a:p>
          <a:p>
            <a:pPr algn="l">
              <a:lnSpc>
                <a:spcPct val="112000"/>
              </a:lnSpc>
              <a:spcBef>
                <a:spcPts val="0"/>
              </a:spcBef>
              <a:spcAft>
                <a:spcPts val="0"/>
              </a:spcAft>
            </a:pPr>
            <a:r>
              <a:rPr sz="1650" b="0" i="0">
                <a:solidFill>
                  <a:srgbClr val="FFFFFF"/>
                </a:solidFill>
                <a:latin typeface="Noto Sans CJK SC"/>
                <a:ea typeface="Noto Sans CJK SC"/>
                <a:cs typeface="Noto Sans CJK SC"/>
              </a:rPr>
              <a:t>将华尔街级的模型、算力、风控与合规能力，以平台产品形态普惠开放。</a:t>
            </a:r>
          </a:p>
        </p:txBody>
      </p:sp>
      <p:sp>
        <p:nvSpPr>
          <p:cNvPr id="10" name="Rounded Rectangle 9"/>
          <p:cNvSpPr/>
          <p:nvPr/>
        </p:nvSpPr>
        <p:spPr>
          <a:xfrm>
            <a:off x="548640" y="3401568"/>
            <a:ext cx="3602736" cy="2487168"/>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22959" y="3639312"/>
            <a:ext cx="566928" cy="566928"/>
          </a:xfrm>
          <a:prstGeom prst="roundRect">
            <a:avLst>
              <a:gd name="adj" fmla="val 50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3639312"/>
            <a:ext cx="566928" cy="566928"/>
          </a:xfrm>
          <a:prstGeom prst="rect">
            <a:avLst/>
          </a:prstGeom>
          <a:noFill/>
        </p:spPr>
        <p:txBody>
          <a:bodyPr wrap="square" lIns="0" tIns="0" rIns="0" bIns="0" anchor="ctr">
            <a:spAutoFit/>
          </a:bodyPr>
          <a:lstStyle/>
          <a:p>
            <a:pPr algn="ctr">
              <a:lnSpc>
                <a:spcPct val="112000"/>
              </a:lnSpc>
            </a:pPr>
            <a:r>
              <a:rPr sz="2200" b="1" i="0">
                <a:solidFill>
                  <a:srgbClr val="9A7B14"/>
                </a:solidFill>
                <a:latin typeface="Noto Sans CJK SC"/>
                <a:ea typeface="Noto Sans CJK SC"/>
                <a:cs typeface="Noto Sans CJK SC"/>
              </a:rPr>
              <a:t>A</a:t>
            </a:r>
          </a:p>
        </p:txBody>
      </p:sp>
      <p:sp>
        <p:nvSpPr>
          <p:cNvPr id="13" name="TextBox 12"/>
          <p:cNvSpPr txBox="1"/>
          <p:nvPr/>
        </p:nvSpPr>
        <p:spPr>
          <a:xfrm>
            <a:off x="1536192" y="3675887"/>
            <a:ext cx="2468880" cy="411480"/>
          </a:xfrm>
          <a:prstGeom prst="rect">
            <a:avLst/>
          </a:prstGeom>
          <a:noFill/>
        </p:spPr>
        <p:txBody>
          <a:bodyPr wrap="square" lIns="0" tIns="0" rIns="0" bIns="0" anchor="t">
            <a:spAutoFit/>
          </a:bodyPr>
          <a:lstStyle/>
          <a:p>
            <a:pPr algn="l">
              <a:lnSpc>
                <a:spcPct val="112000"/>
              </a:lnSpc>
            </a:pPr>
            <a:r>
              <a:rPr sz="1700" b="1" i="0">
                <a:solidFill>
                  <a:srgbClr val="1B2A4A"/>
                </a:solidFill>
                <a:latin typeface="Noto Sans CJK SC"/>
                <a:ea typeface="Noto Sans CJK SC"/>
                <a:cs typeface="Noto Sans CJK SC"/>
              </a:rPr>
              <a:t>AI原生</a:t>
            </a:r>
          </a:p>
        </p:txBody>
      </p:sp>
      <p:sp>
        <p:nvSpPr>
          <p:cNvPr id="14" name="TextBox 13"/>
          <p:cNvSpPr txBox="1"/>
          <p:nvPr/>
        </p:nvSpPr>
        <p:spPr>
          <a:xfrm>
            <a:off x="1536192" y="4096512"/>
            <a:ext cx="2468880" cy="274320"/>
          </a:xfrm>
          <a:prstGeom prst="rect">
            <a:avLst/>
          </a:prstGeom>
          <a:noFill/>
        </p:spPr>
        <p:txBody>
          <a:bodyPr wrap="square" lIns="0" tIns="0" rIns="0" bIns="0" anchor="t">
            <a:spAutoFit/>
          </a:bodyPr>
          <a:lstStyle/>
          <a:p>
            <a:pPr algn="l">
              <a:lnSpc>
                <a:spcPct val="112000"/>
              </a:lnSpc>
            </a:pPr>
            <a:r>
              <a:rPr sz="1100" b="0" i="0">
                <a:solidFill>
                  <a:srgbClr val="6B7688"/>
                </a:solidFill>
                <a:latin typeface="Noto Sans CJK SC"/>
                <a:ea typeface="Noto Sans CJK SC"/>
                <a:cs typeface="Noto Sans CJK SC"/>
              </a:rPr>
              <a:t>AI-Native</a:t>
            </a:r>
          </a:p>
        </p:txBody>
      </p:sp>
      <p:sp>
        <p:nvSpPr>
          <p:cNvPr id="15" name="TextBox 14"/>
          <p:cNvSpPr txBox="1"/>
          <p:nvPr/>
        </p:nvSpPr>
        <p:spPr>
          <a:xfrm>
            <a:off x="822959" y="4498848"/>
            <a:ext cx="3108960" cy="1371600"/>
          </a:xfrm>
          <a:prstGeom prst="rect">
            <a:avLst/>
          </a:prstGeom>
          <a:noFill/>
        </p:spPr>
        <p:txBody>
          <a:bodyPr wrap="square" lIns="0" tIns="0" rIns="0" bIns="0" anchor="t">
            <a:spAutoFit/>
          </a:bodyPr>
          <a:lstStyle/>
          <a:p>
            <a:pPr algn="l">
              <a:lnSpc>
                <a:spcPct val="130000"/>
              </a:lnSpc>
            </a:pPr>
            <a:r>
              <a:rPr sz="1150" b="0" i="0">
                <a:solidFill>
                  <a:srgbClr val="2A3242"/>
                </a:solidFill>
                <a:latin typeface="Noto Sans CJK SC"/>
                <a:ea typeface="Noto Sans CJK SC"/>
                <a:cs typeface="Noto Sans CJK SC"/>
              </a:rPr>
              <a:t>从因子挖掘、策略生成到组合管理与执行，全流程由AI与数理模型驱动，而非传统工具堆叠</a:t>
            </a:r>
          </a:p>
        </p:txBody>
      </p:sp>
      <p:sp>
        <p:nvSpPr>
          <p:cNvPr id="16" name="Rounded Rectangle 15"/>
          <p:cNvSpPr/>
          <p:nvPr/>
        </p:nvSpPr>
        <p:spPr>
          <a:xfrm>
            <a:off x="4293107" y="3401568"/>
            <a:ext cx="3602736" cy="2487168"/>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67427" y="3639312"/>
            <a:ext cx="566928" cy="566928"/>
          </a:xfrm>
          <a:prstGeom prst="roundRect">
            <a:avLst>
              <a:gd name="adj" fmla="val 50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67427" y="3639312"/>
            <a:ext cx="566928" cy="566928"/>
          </a:xfrm>
          <a:prstGeom prst="rect">
            <a:avLst/>
          </a:prstGeom>
          <a:noFill/>
        </p:spPr>
        <p:txBody>
          <a:bodyPr wrap="square" lIns="0" tIns="0" rIns="0" bIns="0" anchor="ctr">
            <a:spAutoFit/>
          </a:bodyPr>
          <a:lstStyle/>
          <a:p>
            <a:pPr algn="ctr">
              <a:lnSpc>
                <a:spcPct val="112000"/>
              </a:lnSpc>
            </a:pPr>
            <a:r>
              <a:rPr sz="2200" b="1" i="0">
                <a:solidFill>
                  <a:srgbClr val="9A7B14"/>
                </a:solidFill>
                <a:latin typeface="Noto Sans CJK SC"/>
                <a:ea typeface="Noto Sans CJK SC"/>
                <a:cs typeface="Noto Sans CJK SC"/>
              </a:rPr>
              <a:t>模</a:t>
            </a:r>
          </a:p>
        </p:txBody>
      </p:sp>
      <p:sp>
        <p:nvSpPr>
          <p:cNvPr id="19" name="TextBox 18"/>
          <p:cNvSpPr txBox="1"/>
          <p:nvPr/>
        </p:nvSpPr>
        <p:spPr>
          <a:xfrm>
            <a:off x="5280659" y="3675887"/>
            <a:ext cx="2468880" cy="411480"/>
          </a:xfrm>
          <a:prstGeom prst="rect">
            <a:avLst/>
          </a:prstGeom>
          <a:noFill/>
        </p:spPr>
        <p:txBody>
          <a:bodyPr wrap="square" lIns="0" tIns="0" rIns="0" bIns="0" anchor="t">
            <a:spAutoFit/>
          </a:bodyPr>
          <a:lstStyle/>
          <a:p>
            <a:pPr algn="l">
              <a:lnSpc>
                <a:spcPct val="112000"/>
              </a:lnSpc>
            </a:pPr>
            <a:r>
              <a:rPr sz="1700" b="1" i="0">
                <a:solidFill>
                  <a:srgbClr val="1B2A4A"/>
                </a:solidFill>
                <a:latin typeface="Noto Sans CJK SC"/>
                <a:ea typeface="Noto Sans CJK SC"/>
                <a:cs typeface="Noto Sans CJK SC"/>
              </a:rPr>
              <a:t>模型为王</a:t>
            </a:r>
          </a:p>
        </p:txBody>
      </p:sp>
      <p:sp>
        <p:nvSpPr>
          <p:cNvPr id="20" name="TextBox 19"/>
          <p:cNvSpPr txBox="1"/>
          <p:nvPr/>
        </p:nvSpPr>
        <p:spPr>
          <a:xfrm>
            <a:off x="5280659" y="4096512"/>
            <a:ext cx="2468880" cy="274320"/>
          </a:xfrm>
          <a:prstGeom prst="rect">
            <a:avLst/>
          </a:prstGeom>
          <a:noFill/>
        </p:spPr>
        <p:txBody>
          <a:bodyPr wrap="square" lIns="0" tIns="0" rIns="0" bIns="0" anchor="t">
            <a:spAutoFit/>
          </a:bodyPr>
          <a:lstStyle/>
          <a:p>
            <a:pPr algn="l">
              <a:lnSpc>
                <a:spcPct val="112000"/>
              </a:lnSpc>
            </a:pPr>
            <a:r>
              <a:rPr sz="1100" b="0" i="0">
                <a:solidFill>
                  <a:srgbClr val="6B7688"/>
                </a:solidFill>
                <a:latin typeface="Noto Sans CJK SC"/>
                <a:ea typeface="Noto Sans CJK SC"/>
                <a:cs typeface="Noto Sans CJK SC"/>
              </a:rPr>
              <a:t>Model-First</a:t>
            </a:r>
          </a:p>
        </p:txBody>
      </p:sp>
      <p:sp>
        <p:nvSpPr>
          <p:cNvPr id="21" name="TextBox 20"/>
          <p:cNvSpPr txBox="1"/>
          <p:nvPr/>
        </p:nvSpPr>
        <p:spPr>
          <a:xfrm>
            <a:off x="4567427" y="4498848"/>
            <a:ext cx="3108960" cy="1371600"/>
          </a:xfrm>
          <a:prstGeom prst="rect">
            <a:avLst/>
          </a:prstGeom>
          <a:noFill/>
        </p:spPr>
        <p:txBody>
          <a:bodyPr wrap="square" lIns="0" tIns="0" rIns="0" bIns="0" anchor="t">
            <a:spAutoFit/>
          </a:bodyPr>
          <a:lstStyle/>
          <a:p>
            <a:pPr algn="l">
              <a:lnSpc>
                <a:spcPct val="130000"/>
              </a:lnSpc>
            </a:pPr>
            <a:r>
              <a:rPr sz="1150" b="0" i="0">
                <a:solidFill>
                  <a:srgbClr val="2A3242"/>
                </a:solidFill>
                <a:latin typeface="Noto Sans CJK SC"/>
                <a:ea typeface="Noto Sans CJK SC"/>
                <a:cs typeface="Noto Sans CJK SC"/>
              </a:rPr>
              <a:t>John Ding自2015年沉淀的独有数理金融体系（SPY/VIX/PDE/AI模型），历经deepvix.com十年实盘检验</a:t>
            </a:r>
          </a:p>
        </p:txBody>
      </p:sp>
      <p:sp>
        <p:nvSpPr>
          <p:cNvPr id="22" name="Rounded Rectangle 21"/>
          <p:cNvSpPr/>
          <p:nvPr/>
        </p:nvSpPr>
        <p:spPr>
          <a:xfrm>
            <a:off x="8037575" y="3401568"/>
            <a:ext cx="3602736" cy="2487168"/>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311896" y="3639312"/>
            <a:ext cx="566928" cy="566928"/>
          </a:xfrm>
          <a:prstGeom prst="roundRect">
            <a:avLst>
              <a:gd name="adj" fmla="val 50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11896" y="3639312"/>
            <a:ext cx="566928" cy="566928"/>
          </a:xfrm>
          <a:prstGeom prst="rect">
            <a:avLst/>
          </a:prstGeom>
          <a:noFill/>
        </p:spPr>
        <p:txBody>
          <a:bodyPr wrap="square" lIns="0" tIns="0" rIns="0" bIns="0" anchor="ctr">
            <a:spAutoFit/>
          </a:bodyPr>
          <a:lstStyle/>
          <a:p>
            <a:pPr algn="ctr">
              <a:lnSpc>
                <a:spcPct val="112000"/>
              </a:lnSpc>
            </a:pPr>
            <a:r>
              <a:rPr sz="2200" b="1" i="0">
                <a:solidFill>
                  <a:srgbClr val="9A7B14"/>
                </a:solidFill>
                <a:latin typeface="Noto Sans CJK SC"/>
                <a:ea typeface="Noto Sans CJK SC"/>
                <a:cs typeface="Noto Sans CJK SC"/>
              </a:rPr>
              <a:t>合</a:t>
            </a:r>
          </a:p>
        </p:txBody>
      </p:sp>
      <p:sp>
        <p:nvSpPr>
          <p:cNvPr id="25" name="TextBox 24"/>
          <p:cNvSpPr txBox="1"/>
          <p:nvPr/>
        </p:nvSpPr>
        <p:spPr>
          <a:xfrm>
            <a:off x="9025128" y="3675887"/>
            <a:ext cx="2468880" cy="411480"/>
          </a:xfrm>
          <a:prstGeom prst="rect">
            <a:avLst/>
          </a:prstGeom>
          <a:noFill/>
        </p:spPr>
        <p:txBody>
          <a:bodyPr wrap="square" lIns="0" tIns="0" rIns="0" bIns="0" anchor="t">
            <a:spAutoFit/>
          </a:bodyPr>
          <a:lstStyle/>
          <a:p>
            <a:pPr algn="l">
              <a:lnSpc>
                <a:spcPct val="112000"/>
              </a:lnSpc>
            </a:pPr>
            <a:r>
              <a:rPr sz="1700" b="1" i="0">
                <a:solidFill>
                  <a:srgbClr val="1B2A4A"/>
                </a:solidFill>
                <a:latin typeface="Noto Sans CJK SC"/>
                <a:ea typeface="Noto Sans CJK SC"/>
                <a:cs typeface="Noto Sans CJK SC"/>
              </a:rPr>
              <a:t>合规先行</a:t>
            </a:r>
          </a:p>
        </p:txBody>
      </p:sp>
      <p:sp>
        <p:nvSpPr>
          <p:cNvPr id="26" name="TextBox 25"/>
          <p:cNvSpPr txBox="1"/>
          <p:nvPr/>
        </p:nvSpPr>
        <p:spPr>
          <a:xfrm>
            <a:off x="9025128" y="4096512"/>
            <a:ext cx="2468880" cy="274320"/>
          </a:xfrm>
          <a:prstGeom prst="rect">
            <a:avLst/>
          </a:prstGeom>
          <a:noFill/>
        </p:spPr>
        <p:txBody>
          <a:bodyPr wrap="square" lIns="0" tIns="0" rIns="0" bIns="0" anchor="t">
            <a:spAutoFit/>
          </a:bodyPr>
          <a:lstStyle/>
          <a:p>
            <a:pPr algn="l">
              <a:lnSpc>
                <a:spcPct val="112000"/>
              </a:lnSpc>
            </a:pPr>
            <a:r>
              <a:rPr sz="1100" b="0" i="0">
                <a:solidFill>
                  <a:srgbClr val="6B7688"/>
                </a:solidFill>
                <a:latin typeface="Noto Sans CJK SC"/>
                <a:ea typeface="Noto Sans CJK SC"/>
                <a:cs typeface="Noto Sans CJK SC"/>
              </a:rPr>
              <a:t>Compliance-First</a:t>
            </a:r>
          </a:p>
        </p:txBody>
      </p:sp>
      <p:sp>
        <p:nvSpPr>
          <p:cNvPr id="27" name="TextBox 26"/>
          <p:cNvSpPr txBox="1"/>
          <p:nvPr/>
        </p:nvSpPr>
        <p:spPr>
          <a:xfrm>
            <a:off x="8311896" y="4498848"/>
            <a:ext cx="3108960" cy="1371600"/>
          </a:xfrm>
          <a:prstGeom prst="rect">
            <a:avLst/>
          </a:prstGeom>
          <a:noFill/>
        </p:spPr>
        <p:txBody>
          <a:bodyPr wrap="square" lIns="0" tIns="0" rIns="0" bIns="0" anchor="t">
            <a:spAutoFit/>
          </a:bodyPr>
          <a:lstStyle/>
          <a:p>
            <a:pPr algn="l">
              <a:lnSpc>
                <a:spcPct val="130000"/>
              </a:lnSpc>
            </a:pPr>
            <a:r>
              <a:rPr sz="1150" b="0" i="0">
                <a:solidFill>
                  <a:srgbClr val="2A3242"/>
                </a:solidFill>
                <a:latin typeface="Noto Sans CJK SC"/>
                <a:ea typeface="Noto Sans CJK SC"/>
                <a:cs typeface="Noto Sans CJK SC"/>
              </a:rPr>
              <a:t>纽约SRFK律所自2015年提供证券合规顾问，叠加国内资管主体，构建中美双合规架构</a:t>
            </a:r>
          </a:p>
        </p:txBody>
      </p:sp>
      <p:sp>
        <p:nvSpPr>
          <p:cNvPr id="28" name="TextBox 27"/>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29" name="TextBox 28"/>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194925"/>
          </a:xfrm>
          <a:prstGeom prst="rect">
            <a:avLst/>
          </a:prstGeom>
          <a:noFill/>
        </p:spPr>
        <p:txBody>
          <a:bodyPr wrap="square" lIns="0" tIns="0" rIns="0" bIns="0" anchor="t">
            <a:spAutoFit/>
          </a:bodyPr>
          <a:lstStyle/>
          <a:p>
            <a:pPr>
              <a:lnSpc>
                <a:spcPct val="112000"/>
              </a:lnSpc>
            </a:pPr>
            <a:r>
              <a:rPr lang="en-US" altLang="zh-CN" sz="1200" b="1" dirty="0">
                <a:solidFill>
                  <a:srgbClr val="9A7B14"/>
                </a:solidFill>
                <a:latin typeface="Noto Sans CJK SC"/>
                <a:ea typeface="Noto Sans CJK SC"/>
                <a:cs typeface="Noto Sans CJK SC"/>
              </a:rPr>
              <a:t>02 </a:t>
            </a:r>
            <a:r>
              <a:rPr lang="zh-CN" altLang="en-US" sz="1200" b="1" dirty="0">
                <a:solidFill>
                  <a:srgbClr val="9A7B14"/>
                </a:solidFill>
                <a:latin typeface="Noto Sans CJK SC"/>
                <a:ea typeface="Noto Sans CJK SC"/>
                <a:cs typeface="Noto Sans CJK SC"/>
              </a:rPr>
              <a:t>联盟介绍 </a:t>
            </a:r>
            <a:r>
              <a:rPr lang="en-US" altLang="zh-CN" sz="1200" b="1" dirty="0">
                <a:solidFill>
                  <a:srgbClr val="9A7B14"/>
                </a:solidFill>
                <a:latin typeface="Noto Sans CJK SC"/>
                <a:ea typeface="Noto Sans CJK SC"/>
                <a:cs typeface="Noto Sans CJK SC"/>
              </a:rPr>
              <a:t>· </a:t>
            </a:r>
            <a:r>
              <a:rPr lang="en-US" sz="1200" b="1" dirty="0">
                <a:solidFill>
                  <a:srgbClr val="9A7B14"/>
                </a:solidFill>
                <a:latin typeface="Noto Sans CJK SC"/>
                <a:ea typeface="Noto Sans CJK SC"/>
                <a:cs typeface="Noto Sans CJK SC"/>
              </a:rPr>
              <a:t>THE ALLIANCE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核心技术体系：John Ding数理金融模型（2015年起）</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Core Models: John Ding Quantitative Finance Framework Since 2015</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48640" y="1810512"/>
          <a:ext cx="11091672" cy="3675888"/>
        </p:xfrm>
        <a:graphic>
          <a:graphicData uri="http://schemas.openxmlformats.org/drawingml/2006/table">
            <a:tbl>
              <a:tblPr>
                <a:tableStyleId>{5C22544A-7EE6-4342-B048-85BDC9FD1C3A}</a:tableStyleId>
              </a:tblPr>
              <a:tblGrid>
                <a:gridCol w="28803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553712">
                  <a:extLst>
                    <a:ext uri="{9D8B030D-6E8A-4147-A177-3AD203B41FA5}">
                      <a16:colId xmlns:a16="http://schemas.microsoft.com/office/drawing/2014/main" val="20002"/>
                    </a:ext>
                  </a:extLst>
                </a:gridCol>
              </a:tblGrid>
              <a:tr h="384048">
                <a:tc>
                  <a:txBody>
                    <a:bodyPr/>
                    <a:lstStyle/>
                    <a:p>
                      <a:pPr algn="l"/>
                      <a:r>
                        <a:rPr sz="1200" b="1" i="0">
                          <a:solidFill>
                            <a:srgbClr val="FFFFFF"/>
                          </a:solidFill>
                          <a:latin typeface="Noto Sans CJK SC"/>
                          <a:ea typeface="Noto Sans CJK SC"/>
                          <a:cs typeface="Noto Sans CJK SC"/>
                        </a:rPr>
                        <a:t>模型 / Model</a:t>
                      </a:r>
                    </a:p>
                  </a:txBody>
                  <a:tcPr marR="73152" marT="27432" marB="27432" anchor="ctr">
                    <a:solidFill>
                      <a:srgbClr val="1B2A4A"/>
                    </a:solidFill>
                  </a:tcPr>
                </a:tc>
                <a:tc>
                  <a:txBody>
                    <a:bodyPr/>
                    <a:lstStyle/>
                    <a:p>
                      <a:pPr algn="l"/>
                      <a:r>
                        <a:rPr sz="1200" b="1" i="0">
                          <a:solidFill>
                            <a:srgbClr val="FFFFFF"/>
                          </a:solidFill>
                          <a:latin typeface="Noto Sans CJK SC"/>
                          <a:ea typeface="Noto Sans CJK SC"/>
                          <a:cs typeface="Noto Sans CJK SC"/>
                        </a:rPr>
                        <a:t>方法与基础 / Methodology</a:t>
                      </a:r>
                    </a:p>
                  </a:txBody>
                  <a:tcPr marR="73152" marT="27432" marB="27432" anchor="ctr">
                    <a:solidFill>
                      <a:srgbClr val="1B2A4A"/>
                    </a:solidFill>
                  </a:tcPr>
                </a:tc>
                <a:tc>
                  <a:txBody>
                    <a:bodyPr/>
                    <a:lstStyle/>
                    <a:p>
                      <a:pPr algn="l"/>
                      <a:r>
                        <a:rPr sz="1200" b="1" i="0">
                          <a:solidFill>
                            <a:srgbClr val="FFFFFF"/>
                          </a:solidFill>
                          <a:latin typeface="Noto Sans CJK SC"/>
                          <a:ea typeface="Noto Sans CJK SC"/>
                          <a:cs typeface="Noto Sans CJK SC"/>
                        </a:rPr>
                        <a:t>核心能力 / Capability</a:t>
                      </a:r>
                    </a:p>
                  </a:txBody>
                  <a:tcPr marR="73152" marT="27432" marB="27432" anchor="ctr">
                    <a:solidFill>
                      <a:srgbClr val="1B2A4A"/>
                    </a:solidFill>
                  </a:tcPr>
                </a:tc>
                <a:extLst>
                  <a:ext uri="{0D108BD9-81ED-4DB2-BD59-A6C34878D82A}">
                    <a16:rowId xmlns:a16="http://schemas.microsoft.com/office/drawing/2014/main" val="10000"/>
                  </a:ext>
                </a:extLst>
              </a:tr>
              <a:tr h="658368">
                <a:tc>
                  <a:txBody>
                    <a:bodyPr/>
                    <a:lstStyle/>
                    <a:p>
                      <a:pPr algn="l"/>
                      <a:r>
                        <a:rPr sz="1100" b="1" i="0">
                          <a:solidFill>
                            <a:srgbClr val="1B2A4A"/>
                          </a:solidFill>
                          <a:latin typeface="Noto Sans CJK SC"/>
                          <a:ea typeface="Noto Sans CJK SC"/>
                          <a:cs typeface="Noto Sans CJK SC"/>
                        </a:rPr>
                        <a:t>SPY价格变化模型
SPY Price Change Model</a:t>
                      </a:r>
                    </a:p>
                  </a:txBody>
                  <a:tcPr marR="73152" marT="27432" marB="27432" anchor="ctr">
                    <a:solidFill>
                      <a:srgbClr val="F2F5FA"/>
                    </a:solidFill>
                  </a:tcPr>
                </a:tc>
                <a:tc>
                  <a:txBody>
                    <a:bodyPr/>
                    <a:lstStyle/>
                    <a:p>
                      <a:pPr algn="l"/>
                      <a:r>
                        <a:rPr sz="1100" b="0" i="0">
                          <a:solidFill>
                            <a:srgbClr val="2A3242"/>
                          </a:solidFill>
                          <a:latin typeface="Noto Sans CJK SC"/>
                          <a:ea typeface="Noto Sans CJK SC"/>
                          <a:cs typeface="Noto Sans CJK SC"/>
                        </a:rPr>
                        <a:t>2015年原创发明（Original Invention, 2015）</a:t>
                      </a:r>
                    </a:p>
                  </a:txBody>
                  <a:tcPr marR="73152" marT="27432" marB="27432" anchor="ctr">
                    <a:solidFill>
                      <a:srgbClr val="F2F5FA"/>
                    </a:solidFill>
                  </a:tcPr>
                </a:tc>
                <a:tc>
                  <a:txBody>
                    <a:bodyPr/>
                    <a:lstStyle/>
                    <a:p>
                      <a:pPr algn="l"/>
                      <a:r>
                        <a:rPr sz="1100" b="0" i="0">
                          <a:solidFill>
                            <a:srgbClr val="2A3242"/>
                          </a:solidFill>
                          <a:latin typeface="Noto Sans CJK SC"/>
                          <a:ea typeface="Noto Sans CJK SC"/>
                          <a:cs typeface="Noto Sans CJK SC"/>
                        </a:rPr>
                        <a:t>标普500 ETF（SPY）价格变化预测，十年持续迭代</a:t>
                      </a:r>
                    </a:p>
                  </a:txBody>
                  <a:tcPr marR="73152" marT="27432" marB="27432" anchor="ctr">
                    <a:solidFill>
                      <a:srgbClr val="F2F5FA"/>
                    </a:solidFill>
                  </a:tcPr>
                </a:tc>
                <a:extLst>
                  <a:ext uri="{0D108BD9-81ED-4DB2-BD59-A6C34878D82A}">
                    <a16:rowId xmlns:a16="http://schemas.microsoft.com/office/drawing/2014/main" val="10001"/>
                  </a:ext>
                </a:extLst>
              </a:tr>
              <a:tr h="658368">
                <a:tc>
                  <a:txBody>
                    <a:bodyPr/>
                    <a:lstStyle/>
                    <a:p>
                      <a:pPr algn="l"/>
                      <a:r>
                        <a:rPr sz="1100" b="1" i="0">
                          <a:solidFill>
                            <a:srgbClr val="1B2A4A"/>
                          </a:solidFill>
                          <a:latin typeface="Noto Sans CJK SC"/>
                          <a:ea typeface="Noto Sans CJK SC"/>
                          <a:cs typeface="Noto Sans CJK SC"/>
                        </a:rPr>
                        <a:t>SPY增长率模型
SPY Growth Rate Model</a:t>
                      </a:r>
                    </a:p>
                  </a:txBody>
                  <a:tcPr marR="73152" marT="27432" marB="27432" anchor="ctr">
                    <a:solidFill>
                      <a:srgbClr val="FFFFFF"/>
                    </a:solidFill>
                  </a:tcPr>
                </a:tc>
                <a:tc>
                  <a:txBody>
                    <a:bodyPr/>
                    <a:lstStyle/>
                    <a:p>
                      <a:pPr algn="l"/>
                      <a:r>
                        <a:rPr sz="1100" b="0" i="0">
                          <a:solidFill>
                            <a:srgbClr val="2A3242"/>
                          </a:solidFill>
                          <a:latin typeface="Noto Sans CJK SC"/>
                          <a:ea typeface="Noto Sans CJK SC"/>
                          <a:cs typeface="Noto Sans CJK SC"/>
                        </a:rPr>
                        <a:t>PDE偏微分方程（Partial Differential Equations）</a:t>
                      </a:r>
                    </a:p>
                  </a:txBody>
                  <a:tcPr marR="73152" marT="27432" marB="27432" anchor="ctr">
                    <a:solidFill>
                      <a:srgbClr val="FFFFFF"/>
                    </a:solidFill>
                  </a:tcPr>
                </a:tc>
                <a:tc>
                  <a:txBody>
                    <a:bodyPr/>
                    <a:lstStyle/>
                    <a:p>
                      <a:pPr algn="l"/>
                      <a:r>
                        <a:rPr sz="1100" b="0" i="0">
                          <a:solidFill>
                            <a:srgbClr val="2A3242"/>
                          </a:solidFill>
                          <a:latin typeface="Noto Sans CJK SC"/>
                          <a:ea typeface="Noto Sans CJK SC"/>
                          <a:cs typeface="Noto Sans CJK SC"/>
                        </a:rPr>
                        <a:t>刻画SPY增长率的时变演化规律，捕捉长期趋势结构</a:t>
                      </a:r>
                    </a:p>
                  </a:txBody>
                  <a:tcPr marR="73152" marT="27432" marB="27432" anchor="ctr">
                    <a:solidFill>
                      <a:srgbClr val="FFFFFF"/>
                    </a:solidFill>
                  </a:tcPr>
                </a:tc>
                <a:extLst>
                  <a:ext uri="{0D108BD9-81ED-4DB2-BD59-A6C34878D82A}">
                    <a16:rowId xmlns:a16="http://schemas.microsoft.com/office/drawing/2014/main" val="10002"/>
                  </a:ext>
                </a:extLst>
              </a:tr>
              <a:tr h="658368">
                <a:tc>
                  <a:txBody>
                    <a:bodyPr/>
                    <a:lstStyle/>
                    <a:p>
                      <a:pPr algn="l"/>
                      <a:r>
                        <a:rPr sz="1100" b="1" i="0">
                          <a:solidFill>
                            <a:srgbClr val="1B2A4A"/>
                          </a:solidFill>
                          <a:latin typeface="Noto Sans CJK SC"/>
                          <a:ea typeface="Noto Sans CJK SC"/>
                          <a:cs typeface="Noto Sans CJK SC"/>
                        </a:rPr>
                        <a:t>VIX波动率模型
VIX Volatility Model</a:t>
                      </a:r>
                    </a:p>
                  </a:txBody>
                  <a:tcPr marR="73152" marT="27432" marB="27432" anchor="ctr">
                    <a:solidFill>
                      <a:srgbClr val="F2F5FA"/>
                    </a:solidFill>
                  </a:tcPr>
                </a:tc>
                <a:tc>
                  <a:txBody>
                    <a:bodyPr/>
                    <a:lstStyle/>
                    <a:p>
                      <a:pPr algn="l"/>
                      <a:r>
                        <a:rPr sz="1100" b="0" i="0">
                          <a:solidFill>
                            <a:srgbClr val="2A3242"/>
                          </a:solidFill>
                          <a:latin typeface="Noto Sans CJK SC"/>
                          <a:ea typeface="Noto Sans CJK SC"/>
                          <a:cs typeface="Noto Sans CJK SC"/>
                        </a:rPr>
                        <a:t>Fokker–Planck方程（Fokker–Planck Equation）</a:t>
                      </a:r>
                    </a:p>
                  </a:txBody>
                  <a:tcPr marR="73152" marT="27432" marB="27432" anchor="ctr">
                    <a:solidFill>
                      <a:srgbClr val="F2F5FA"/>
                    </a:solidFill>
                  </a:tcPr>
                </a:tc>
                <a:tc>
                  <a:txBody>
                    <a:bodyPr/>
                    <a:lstStyle/>
                    <a:p>
                      <a:pPr algn="l"/>
                      <a:r>
                        <a:rPr sz="1100" b="0" i="0">
                          <a:solidFill>
                            <a:srgbClr val="2A3242"/>
                          </a:solidFill>
                          <a:latin typeface="Noto Sans CJK SC"/>
                          <a:ea typeface="Noto Sans CJK SC"/>
                          <a:cs typeface="Noto Sans CJK SC"/>
                        </a:rPr>
                        <a:t>量化黑天鹅拖曳力与随机力下的波动率概率密度演化</a:t>
                      </a:r>
                    </a:p>
                  </a:txBody>
                  <a:tcPr marR="73152" marT="27432" marB="27432" anchor="ctr">
                    <a:solidFill>
                      <a:srgbClr val="F2F5FA"/>
                    </a:solidFill>
                  </a:tcPr>
                </a:tc>
                <a:extLst>
                  <a:ext uri="{0D108BD9-81ED-4DB2-BD59-A6C34878D82A}">
                    <a16:rowId xmlns:a16="http://schemas.microsoft.com/office/drawing/2014/main" val="10003"/>
                  </a:ext>
                </a:extLst>
              </a:tr>
              <a:tr h="658368">
                <a:tc>
                  <a:txBody>
                    <a:bodyPr/>
                    <a:lstStyle/>
                    <a:p>
                      <a:pPr algn="l"/>
                      <a:r>
                        <a:rPr sz="1100" b="1" i="0">
                          <a:solidFill>
                            <a:srgbClr val="1B2A4A"/>
                          </a:solidFill>
                          <a:latin typeface="Noto Sans CJK SC"/>
                          <a:ea typeface="Noto Sans CJK SC"/>
                          <a:cs typeface="Noto Sans CJK SC"/>
                        </a:rPr>
                        <a:t>AI模型
AI Model</a:t>
                      </a:r>
                    </a:p>
                  </a:txBody>
                  <a:tcPr marR="73152" marT="27432" marB="27432" anchor="ctr">
                    <a:solidFill>
                      <a:srgbClr val="FFFFFF"/>
                    </a:solidFill>
                  </a:tcPr>
                </a:tc>
                <a:tc>
                  <a:txBody>
                    <a:bodyPr/>
                    <a:lstStyle/>
                    <a:p>
                      <a:pPr algn="l"/>
                      <a:r>
                        <a:rPr sz="1100" b="0" i="0">
                          <a:solidFill>
                            <a:srgbClr val="2A3242"/>
                          </a:solidFill>
                          <a:latin typeface="Noto Sans CJK SC"/>
                          <a:ea typeface="Noto Sans CJK SC"/>
                          <a:cs typeface="Noto Sans CJK SC"/>
                        </a:rPr>
                        <a:t>RNN + TensorFlow 深度学习</a:t>
                      </a:r>
                    </a:p>
                  </a:txBody>
                  <a:tcPr marR="73152" marT="27432" marB="27432" anchor="ctr">
                    <a:solidFill>
                      <a:srgbClr val="FFFFFF"/>
                    </a:solidFill>
                  </a:tcPr>
                </a:tc>
                <a:tc>
                  <a:txBody>
                    <a:bodyPr/>
                    <a:lstStyle/>
                    <a:p>
                      <a:pPr algn="l"/>
                      <a:r>
                        <a:rPr sz="1100" b="0" i="0">
                          <a:solidFill>
                            <a:srgbClr val="2A3242"/>
                          </a:solidFill>
                          <a:latin typeface="Noto Sans CJK SC"/>
                          <a:ea typeface="Noto Sans CJK SC"/>
                          <a:cs typeface="Noto Sans CJK SC"/>
                        </a:rPr>
                        <a:t>神经网络驱动的VIX分析与预测，持续在线学习</a:t>
                      </a:r>
                    </a:p>
                  </a:txBody>
                  <a:tcPr marR="73152" marT="27432" marB="27432" anchor="ctr">
                    <a:solidFill>
                      <a:srgbClr val="FFFFFF"/>
                    </a:solidFill>
                  </a:tcPr>
                </a:tc>
                <a:extLst>
                  <a:ext uri="{0D108BD9-81ED-4DB2-BD59-A6C34878D82A}">
                    <a16:rowId xmlns:a16="http://schemas.microsoft.com/office/drawing/2014/main" val="10004"/>
                  </a:ext>
                </a:extLst>
              </a:tr>
              <a:tr h="658368">
                <a:tc>
                  <a:txBody>
                    <a:bodyPr/>
                    <a:lstStyle/>
                    <a:p>
                      <a:pPr algn="l"/>
                      <a:r>
                        <a:rPr sz="1100" b="1" i="0">
                          <a:solidFill>
                            <a:srgbClr val="1B2A4A"/>
                          </a:solidFill>
                          <a:latin typeface="Noto Sans CJK SC"/>
                          <a:ea typeface="Noto Sans CJK SC"/>
                          <a:cs typeface="Noto Sans CJK SC"/>
                        </a:rPr>
                        <a:t>AI金融量化机器人
AI Quant Robots</a:t>
                      </a:r>
                    </a:p>
                  </a:txBody>
                  <a:tcPr marR="73152" marT="27432" marB="27432" anchor="ctr">
                    <a:solidFill>
                      <a:srgbClr val="F2F5FA"/>
                    </a:solidFill>
                  </a:tcPr>
                </a:tc>
                <a:tc>
                  <a:txBody>
                    <a:bodyPr/>
                    <a:lstStyle/>
                    <a:p>
                      <a:pPr algn="l"/>
                      <a:r>
                        <a:rPr sz="1100" b="0" i="0">
                          <a:solidFill>
                            <a:srgbClr val="2A3242"/>
                          </a:solidFill>
                          <a:latin typeface="Noto Sans CJK SC"/>
                          <a:ea typeface="Noto Sans CJK SC"/>
                          <a:cs typeface="Noto Sans CJK SC"/>
                        </a:rPr>
                        <a:t>数理模型 × AI Agent 融合</a:t>
                      </a:r>
                    </a:p>
                  </a:txBody>
                  <a:tcPr marR="73152" marT="27432" marB="27432" anchor="ctr">
                    <a:solidFill>
                      <a:srgbClr val="F2F5FA"/>
                    </a:solidFill>
                  </a:tcPr>
                </a:tc>
                <a:tc>
                  <a:txBody>
                    <a:bodyPr/>
                    <a:lstStyle/>
                    <a:p>
                      <a:pPr algn="l"/>
                      <a:r>
                        <a:rPr sz="1100" b="0" i="0">
                          <a:solidFill>
                            <a:srgbClr val="2A3242"/>
                          </a:solidFill>
                          <a:latin typeface="Noto Sans CJK SC"/>
                          <a:ea typeface="Noto Sans CJK SC"/>
                          <a:cs typeface="Noto Sans CJK SC"/>
                        </a:rPr>
                        <a:t>道一网络孵化下一代AI金融量化机器人体系</a:t>
                      </a:r>
                    </a:p>
                  </a:txBody>
                  <a:tcPr marR="73152" marT="27432" marB="27432" anchor="ctr">
                    <a:solidFill>
                      <a:srgbClr val="F2F5FA"/>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548640" y="5596128"/>
            <a:ext cx="11091672" cy="621792"/>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596128"/>
            <a:ext cx="10424160" cy="621792"/>
          </a:xfrm>
          <a:prstGeom prst="rect">
            <a:avLst/>
          </a:prstGeom>
          <a:noFill/>
        </p:spPr>
        <p:txBody>
          <a:bodyPr wrap="square" lIns="0" tIns="0" rIns="0" bIns="0" anchor="ctr">
            <a:spAutoFit/>
          </a:bodyPr>
          <a:lstStyle/>
          <a:p>
            <a:pPr algn="l">
              <a:lnSpc>
                <a:spcPct val="112000"/>
              </a:lnSpc>
            </a:pPr>
            <a:r>
              <a:rPr sz="1250" b="1" i="0">
                <a:solidFill>
                  <a:srgbClr val="E3C55C"/>
                </a:solidFill>
                <a:latin typeface="Noto Sans CJK SC"/>
                <a:ea typeface="Noto Sans CJK SC"/>
                <a:cs typeface="Noto Sans CJK SC"/>
              </a:rPr>
              <a:t>研发路径：</a:t>
            </a:r>
            <a:r>
              <a:rPr sz="1250" b="0" i="0">
                <a:solidFill>
                  <a:srgbClr val="FFFFFF"/>
                </a:solidFill>
                <a:latin typeface="Noto Sans CJK SC"/>
                <a:ea typeface="Noto Sans CJK SC"/>
                <a:cs typeface="Noto Sans CJK SC"/>
              </a:rPr>
              <a:t>开源筑基（Qlib / vn.py / backtrader）  →  AI重构（深度学习/Agent）  →  模型融合（数理+AI双引擎）  →  商业落地（平台+基金）</a:t>
            </a:r>
          </a:p>
        </p:txBody>
      </p:sp>
      <p:sp>
        <p:nvSpPr>
          <p:cNvPr id="10" name="TextBox 9"/>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11" name="TextBox 10"/>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194925"/>
          </a:xfrm>
          <a:prstGeom prst="rect">
            <a:avLst/>
          </a:prstGeom>
          <a:noFill/>
        </p:spPr>
        <p:txBody>
          <a:bodyPr wrap="square" lIns="0" tIns="0" rIns="0" bIns="0" anchor="t">
            <a:spAutoFit/>
          </a:bodyPr>
          <a:lstStyle/>
          <a:p>
            <a:pPr>
              <a:lnSpc>
                <a:spcPct val="112000"/>
              </a:lnSpc>
            </a:pPr>
            <a:r>
              <a:rPr lang="en-US" altLang="zh-CN" sz="1200" b="1" dirty="0">
                <a:solidFill>
                  <a:srgbClr val="9A7B14"/>
                </a:solidFill>
                <a:latin typeface="Noto Sans CJK SC"/>
                <a:ea typeface="Noto Sans CJK SC"/>
                <a:cs typeface="Noto Sans CJK SC"/>
              </a:rPr>
              <a:t>02 </a:t>
            </a:r>
            <a:r>
              <a:rPr lang="zh-CN" altLang="en-US" sz="1200" b="1" dirty="0">
                <a:solidFill>
                  <a:srgbClr val="9A7B14"/>
                </a:solidFill>
                <a:latin typeface="Noto Sans CJK SC"/>
                <a:ea typeface="Noto Sans CJK SC"/>
                <a:cs typeface="Noto Sans CJK SC"/>
              </a:rPr>
              <a:t>联盟介绍 </a:t>
            </a:r>
            <a:r>
              <a:rPr lang="en-US" altLang="zh-CN" sz="1200" b="1" dirty="0">
                <a:solidFill>
                  <a:srgbClr val="9A7B14"/>
                </a:solidFill>
                <a:latin typeface="Noto Sans CJK SC"/>
                <a:ea typeface="Noto Sans CJK SC"/>
                <a:cs typeface="Noto Sans CJK SC"/>
              </a:rPr>
              <a:t>· </a:t>
            </a:r>
            <a:r>
              <a:rPr lang="en-US" sz="1200" b="1" dirty="0">
                <a:solidFill>
                  <a:srgbClr val="9A7B14"/>
                </a:solidFill>
                <a:latin typeface="Noto Sans CJK SC"/>
                <a:ea typeface="Noto Sans CJK SC"/>
                <a:cs typeface="Noto Sans CJK SC"/>
              </a:rPr>
              <a:t>THE ALLIANCE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平台六大功能模块：覆盖投研到执行全链路</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Six Platform Modules: From Research to Execution</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10512"/>
            <a:ext cx="3566160" cy="2084831"/>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810512"/>
            <a:ext cx="3566160" cy="822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2048256"/>
            <a:ext cx="3108960" cy="566928"/>
          </a:xfrm>
          <a:prstGeom prst="rect">
            <a:avLst/>
          </a:prstGeom>
          <a:noFill/>
        </p:spPr>
        <p:txBody>
          <a:bodyPr wrap="square" lIns="0" tIns="0" rIns="0" bIns="0" anchor="t">
            <a:spAutoFit/>
          </a:bodyPr>
          <a:lstStyle/>
          <a:p>
            <a:pPr algn="l">
              <a:lnSpc>
                <a:spcPct val="105000"/>
              </a:lnSpc>
            </a:pPr>
            <a:r>
              <a:rPr sz="1450" b="1" i="0">
                <a:solidFill>
                  <a:srgbClr val="1B2A4A"/>
                </a:solidFill>
                <a:latin typeface="Noto Sans CJK SC"/>
                <a:ea typeface="Noto Sans CJK SC"/>
                <a:cs typeface="Noto Sans CJK SC"/>
              </a:rPr>
              <a:t>智能行情与VIX风险引擎</a:t>
            </a:r>
          </a:p>
        </p:txBody>
      </p:sp>
      <p:sp>
        <p:nvSpPr>
          <p:cNvPr id="10" name="TextBox 9"/>
          <p:cNvSpPr txBox="1"/>
          <p:nvPr/>
        </p:nvSpPr>
        <p:spPr>
          <a:xfrm>
            <a:off x="786384" y="2615184"/>
            <a:ext cx="3108960" cy="256032"/>
          </a:xfrm>
          <a:prstGeom prst="rect">
            <a:avLst/>
          </a:prstGeom>
          <a:noFill/>
        </p:spPr>
        <p:txBody>
          <a:bodyPr wrap="square" lIns="0" tIns="0" rIns="0" bIns="0" anchor="t">
            <a:spAutoFit/>
          </a:bodyPr>
          <a:lstStyle/>
          <a:p>
            <a:pPr algn="l">
              <a:lnSpc>
                <a:spcPct val="112000"/>
              </a:lnSpc>
            </a:pPr>
            <a:r>
              <a:rPr sz="1050" b="0" i="0">
                <a:solidFill>
                  <a:srgbClr val="C9A227"/>
                </a:solidFill>
                <a:latin typeface="Noto Sans CJK SC"/>
                <a:ea typeface="Noto Sans CJK SC"/>
                <a:cs typeface="Noto Sans CJK SC"/>
              </a:rPr>
              <a:t>VIX Risk Engine</a:t>
            </a:r>
          </a:p>
        </p:txBody>
      </p:sp>
      <p:sp>
        <p:nvSpPr>
          <p:cNvPr id="11" name="TextBox 10"/>
          <p:cNvSpPr txBox="1"/>
          <p:nvPr/>
        </p:nvSpPr>
        <p:spPr>
          <a:xfrm>
            <a:off x="786384" y="2926080"/>
            <a:ext cx="3154680" cy="868680"/>
          </a:xfrm>
          <a:prstGeom prst="rect">
            <a:avLst/>
          </a:prstGeom>
          <a:noFill/>
        </p:spPr>
        <p:txBody>
          <a:bodyPr wrap="square" lIns="0" tIns="0" rIns="0" bIns="0" anchor="t">
            <a:spAutoFit/>
          </a:bodyPr>
          <a:lstStyle/>
          <a:p>
            <a:pPr algn="l">
              <a:lnSpc>
                <a:spcPct val="122000"/>
              </a:lnSpc>
            </a:pPr>
            <a:r>
              <a:rPr sz="1100" b="0" i="0">
                <a:solidFill>
                  <a:srgbClr val="2A3242"/>
                </a:solidFill>
                <a:latin typeface="Noto Sans CJK SC"/>
                <a:ea typeface="Noto Sans CJK SC"/>
                <a:cs typeface="Noto Sans CJK SC"/>
              </a:rPr>
              <a:t>基于John Ding VIX模型，提供波动率解析与黑天鹅风险量化预警</a:t>
            </a:r>
          </a:p>
        </p:txBody>
      </p:sp>
      <p:sp>
        <p:nvSpPr>
          <p:cNvPr id="12" name="Rounded Rectangle 11"/>
          <p:cNvSpPr/>
          <p:nvPr/>
        </p:nvSpPr>
        <p:spPr>
          <a:xfrm>
            <a:off x="4315968" y="1810512"/>
            <a:ext cx="3566160" cy="2084831"/>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1810512"/>
            <a:ext cx="3566160" cy="82296"/>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2048256"/>
            <a:ext cx="3108960" cy="566928"/>
          </a:xfrm>
          <a:prstGeom prst="rect">
            <a:avLst/>
          </a:prstGeom>
          <a:noFill/>
        </p:spPr>
        <p:txBody>
          <a:bodyPr wrap="square" lIns="0" tIns="0" rIns="0" bIns="0" anchor="t">
            <a:spAutoFit/>
          </a:bodyPr>
          <a:lstStyle/>
          <a:p>
            <a:pPr algn="l">
              <a:lnSpc>
                <a:spcPct val="105000"/>
              </a:lnSpc>
            </a:pPr>
            <a:r>
              <a:rPr sz="1450" b="1" i="0">
                <a:solidFill>
                  <a:srgbClr val="1B2A4A"/>
                </a:solidFill>
                <a:latin typeface="Noto Sans CJK SC"/>
                <a:ea typeface="Noto Sans CJK SC"/>
                <a:cs typeface="Noto Sans CJK SC"/>
              </a:rPr>
              <a:t>AI因子挖掘与策略工厂</a:t>
            </a:r>
          </a:p>
        </p:txBody>
      </p:sp>
      <p:sp>
        <p:nvSpPr>
          <p:cNvPr id="15" name="TextBox 14"/>
          <p:cNvSpPr txBox="1"/>
          <p:nvPr/>
        </p:nvSpPr>
        <p:spPr>
          <a:xfrm>
            <a:off x="4553712" y="2615184"/>
            <a:ext cx="3108960" cy="256032"/>
          </a:xfrm>
          <a:prstGeom prst="rect">
            <a:avLst/>
          </a:prstGeom>
          <a:noFill/>
        </p:spPr>
        <p:txBody>
          <a:bodyPr wrap="square" lIns="0" tIns="0" rIns="0" bIns="0" anchor="t">
            <a:spAutoFit/>
          </a:bodyPr>
          <a:lstStyle/>
          <a:p>
            <a:pPr algn="l">
              <a:lnSpc>
                <a:spcPct val="112000"/>
              </a:lnSpc>
            </a:pPr>
            <a:r>
              <a:rPr sz="1050" b="0" i="0">
                <a:solidFill>
                  <a:srgbClr val="2C4A7C"/>
                </a:solidFill>
                <a:latin typeface="Noto Sans CJK SC"/>
                <a:ea typeface="Noto Sans CJK SC"/>
                <a:cs typeface="Noto Sans CJK SC"/>
              </a:rPr>
              <a:t>AI Factor Factory</a:t>
            </a:r>
          </a:p>
        </p:txBody>
      </p:sp>
      <p:sp>
        <p:nvSpPr>
          <p:cNvPr id="16" name="TextBox 15"/>
          <p:cNvSpPr txBox="1"/>
          <p:nvPr/>
        </p:nvSpPr>
        <p:spPr>
          <a:xfrm>
            <a:off x="4553712" y="2926080"/>
            <a:ext cx="3154680" cy="868680"/>
          </a:xfrm>
          <a:prstGeom prst="rect">
            <a:avLst/>
          </a:prstGeom>
          <a:noFill/>
        </p:spPr>
        <p:txBody>
          <a:bodyPr wrap="square" lIns="0" tIns="0" rIns="0" bIns="0" anchor="t">
            <a:spAutoFit/>
          </a:bodyPr>
          <a:lstStyle/>
          <a:p>
            <a:pPr algn="l">
              <a:lnSpc>
                <a:spcPct val="122000"/>
              </a:lnSpc>
            </a:pPr>
            <a:r>
              <a:rPr sz="1100" b="0" i="0">
                <a:solidFill>
                  <a:srgbClr val="2A3242"/>
                </a:solidFill>
                <a:latin typeface="Noto Sans CJK SC"/>
                <a:ea typeface="Noto Sans CJK SC"/>
                <a:cs typeface="Noto Sans CJK SC"/>
              </a:rPr>
              <a:t>RNN/深度学习驱动的因子构建、策略自动生成与迭代优化</a:t>
            </a:r>
          </a:p>
        </p:txBody>
      </p:sp>
      <p:sp>
        <p:nvSpPr>
          <p:cNvPr id="17" name="Rounded Rectangle 16"/>
          <p:cNvSpPr/>
          <p:nvPr/>
        </p:nvSpPr>
        <p:spPr>
          <a:xfrm>
            <a:off x="8083296" y="1810512"/>
            <a:ext cx="3566160" cy="2084831"/>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83296" y="1810512"/>
            <a:ext cx="3566160" cy="82296"/>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2048256"/>
            <a:ext cx="3108960" cy="566928"/>
          </a:xfrm>
          <a:prstGeom prst="rect">
            <a:avLst/>
          </a:prstGeom>
          <a:noFill/>
        </p:spPr>
        <p:txBody>
          <a:bodyPr wrap="square" lIns="0" tIns="0" rIns="0" bIns="0" anchor="t">
            <a:spAutoFit/>
          </a:bodyPr>
          <a:lstStyle/>
          <a:p>
            <a:pPr algn="l">
              <a:lnSpc>
                <a:spcPct val="105000"/>
              </a:lnSpc>
            </a:pPr>
            <a:r>
              <a:rPr sz="1450" b="1" i="0">
                <a:solidFill>
                  <a:srgbClr val="1B2A4A"/>
                </a:solidFill>
                <a:latin typeface="Noto Sans CJK SC"/>
                <a:ea typeface="Noto Sans CJK SC"/>
                <a:cs typeface="Noto Sans CJK SC"/>
              </a:rPr>
              <a:t>量化回测与组合优化</a:t>
            </a:r>
          </a:p>
        </p:txBody>
      </p:sp>
      <p:sp>
        <p:nvSpPr>
          <p:cNvPr id="20" name="TextBox 19"/>
          <p:cNvSpPr txBox="1"/>
          <p:nvPr/>
        </p:nvSpPr>
        <p:spPr>
          <a:xfrm>
            <a:off x="8321040" y="2615184"/>
            <a:ext cx="3108960" cy="256032"/>
          </a:xfrm>
          <a:prstGeom prst="rect">
            <a:avLst/>
          </a:prstGeom>
          <a:noFill/>
        </p:spPr>
        <p:txBody>
          <a:bodyPr wrap="square" lIns="0" tIns="0" rIns="0" bIns="0" anchor="t">
            <a:spAutoFit/>
          </a:bodyPr>
          <a:lstStyle/>
          <a:p>
            <a:pPr algn="l">
              <a:lnSpc>
                <a:spcPct val="112000"/>
              </a:lnSpc>
            </a:pPr>
            <a:r>
              <a:rPr sz="1050" b="0" i="0">
                <a:solidFill>
                  <a:srgbClr val="2C4A7C"/>
                </a:solidFill>
                <a:latin typeface="Noto Sans CJK SC"/>
                <a:ea typeface="Noto Sans CJK SC"/>
                <a:cs typeface="Noto Sans CJK SC"/>
              </a:rPr>
              <a:t>Backtest &amp; Portfolio</a:t>
            </a:r>
          </a:p>
        </p:txBody>
      </p:sp>
      <p:sp>
        <p:nvSpPr>
          <p:cNvPr id="21" name="TextBox 20"/>
          <p:cNvSpPr txBox="1"/>
          <p:nvPr/>
        </p:nvSpPr>
        <p:spPr>
          <a:xfrm>
            <a:off x="8321040" y="2926080"/>
            <a:ext cx="3154680" cy="868680"/>
          </a:xfrm>
          <a:prstGeom prst="rect">
            <a:avLst/>
          </a:prstGeom>
          <a:noFill/>
        </p:spPr>
        <p:txBody>
          <a:bodyPr wrap="square" lIns="0" tIns="0" rIns="0" bIns="0" anchor="t">
            <a:spAutoFit/>
          </a:bodyPr>
          <a:lstStyle/>
          <a:p>
            <a:pPr algn="l">
              <a:lnSpc>
                <a:spcPct val="122000"/>
              </a:lnSpc>
            </a:pPr>
            <a:r>
              <a:rPr sz="1100" b="0" i="0">
                <a:solidFill>
                  <a:srgbClr val="2A3242"/>
                </a:solidFill>
                <a:latin typeface="Noto Sans CJK SC"/>
                <a:ea typeface="Noto Sans CJK SC"/>
                <a:cs typeface="Noto Sans CJK SC"/>
              </a:rPr>
              <a:t>多资产回测、组合优化与业绩归因，分钟级/Tick级回测底座</a:t>
            </a:r>
          </a:p>
        </p:txBody>
      </p:sp>
      <p:sp>
        <p:nvSpPr>
          <p:cNvPr id="22" name="Rounded Rectangle 21"/>
          <p:cNvSpPr/>
          <p:nvPr/>
        </p:nvSpPr>
        <p:spPr>
          <a:xfrm>
            <a:off x="548640" y="4041648"/>
            <a:ext cx="3566160" cy="2084831"/>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4041648"/>
            <a:ext cx="3566160" cy="82296"/>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6384" y="4279392"/>
            <a:ext cx="3108960" cy="566928"/>
          </a:xfrm>
          <a:prstGeom prst="rect">
            <a:avLst/>
          </a:prstGeom>
          <a:noFill/>
        </p:spPr>
        <p:txBody>
          <a:bodyPr wrap="square" lIns="0" tIns="0" rIns="0" bIns="0" anchor="t">
            <a:spAutoFit/>
          </a:bodyPr>
          <a:lstStyle/>
          <a:p>
            <a:pPr algn="l">
              <a:lnSpc>
                <a:spcPct val="105000"/>
              </a:lnSpc>
            </a:pPr>
            <a:r>
              <a:rPr sz="1450" b="1" i="0">
                <a:solidFill>
                  <a:srgbClr val="1B2A4A"/>
                </a:solidFill>
                <a:latin typeface="Noto Sans CJK SC"/>
                <a:ea typeface="Noto Sans CJK SC"/>
                <a:cs typeface="Noto Sans CJK SC"/>
              </a:rPr>
              <a:t>实盘交易信号与执行</a:t>
            </a:r>
          </a:p>
        </p:txBody>
      </p:sp>
      <p:sp>
        <p:nvSpPr>
          <p:cNvPr id="25" name="TextBox 24"/>
          <p:cNvSpPr txBox="1"/>
          <p:nvPr/>
        </p:nvSpPr>
        <p:spPr>
          <a:xfrm>
            <a:off x="786384" y="4846320"/>
            <a:ext cx="3108960" cy="256032"/>
          </a:xfrm>
          <a:prstGeom prst="rect">
            <a:avLst/>
          </a:prstGeom>
          <a:noFill/>
        </p:spPr>
        <p:txBody>
          <a:bodyPr wrap="square" lIns="0" tIns="0" rIns="0" bIns="0" anchor="t">
            <a:spAutoFit/>
          </a:bodyPr>
          <a:lstStyle/>
          <a:p>
            <a:pPr algn="l">
              <a:lnSpc>
                <a:spcPct val="112000"/>
              </a:lnSpc>
            </a:pPr>
            <a:r>
              <a:rPr sz="1050" b="0" i="0">
                <a:solidFill>
                  <a:srgbClr val="2C4A7C"/>
                </a:solidFill>
                <a:latin typeface="Noto Sans CJK SC"/>
                <a:ea typeface="Noto Sans CJK SC"/>
                <a:cs typeface="Noto Sans CJK SC"/>
              </a:rPr>
              <a:t>Live Signals &amp; Execution</a:t>
            </a:r>
          </a:p>
        </p:txBody>
      </p:sp>
      <p:sp>
        <p:nvSpPr>
          <p:cNvPr id="26" name="TextBox 25"/>
          <p:cNvSpPr txBox="1"/>
          <p:nvPr/>
        </p:nvSpPr>
        <p:spPr>
          <a:xfrm>
            <a:off x="786384" y="5157216"/>
            <a:ext cx="3154680" cy="868680"/>
          </a:xfrm>
          <a:prstGeom prst="rect">
            <a:avLst/>
          </a:prstGeom>
          <a:noFill/>
        </p:spPr>
        <p:txBody>
          <a:bodyPr wrap="square" lIns="0" tIns="0" rIns="0" bIns="0" anchor="t">
            <a:spAutoFit/>
          </a:bodyPr>
          <a:lstStyle/>
          <a:p>
            <a:pPr algn="l">
              <a:lnSpc>
                <a:spcPct val="122000"/>
              </a:lnSpc>
            </a:pPr>
            <a:r>
              <a:rPr sz="1100" b="0" i="0">
                <a:solidFill>
                  <a:srgbClr val="2A3242"/>
                </a:solidFill>
                <a:latin typeface="Noto Sans CJK SC"/>
                <a:ea typeface="Noto Sans CJK SC"/>
                <a:cs typeface="Noto Sans CJK SC"/>
              </a:rPr>
              <a:t>模型生成交易信号，对接合规交易通道，算法执行控冲击成本</a:t>
            </a:r>
          </a:p>
        </p:txBody>
      </p:sp>
      <p:sp>
        <p:nvSpPr>
          <p:cNvPr id="27" name="Rounded Rectangle 26"/>
          <p:cNvSpPr/>
          <p:nvPr/>
        </p:nvSpPr>
        <p:spPr>
          <a:xfrm>
            <a:off x="4315968" y="4041648"/>
            <a:ext cx="3566160" cy="2084831"/>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315968" y="4041648"/>
            <a:ext cx="3566160" cy="822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53712" y="4279392"/>
            <a:ext cx="3108960" cy="566928"/>
          </a:xfrm>
          <a:prstGeom prst="rect">
            <a:avLst/>
          </a:prstGeom>
          <a:noFill/>
        </p:spPr>
        <p:txBody>
          <a:bodyPr wrap="square" lIns="0" tIns="0" rIns="0" bIns="0" anchor="t">
            <a:spAutoFit/>
          </a:bodyPr>
          <a:lstStyle/>
          <a:p>
            <a:pPr algn="l">
              <a:lnSpc>
                <a:spcPct val="105000"/>
              </a:lnSpc>
            </a:pPr>
            <a:r>
              <a:rPr sz="1450" b="1" i="0">
                <a:solidFill>
                  <a:srgbClr val="1B2A4A"/>
                </a:solidFill>
                <a:latin typeface="Noto Sans CJK SC"/>
                <a:ea typeface="Noto Sans CJK SC"/>
                <a:cs typeface="Noto Sans CJK SC"/>
              </a:rPr>
              <a:t>投资者教育与合规投顾</a:t>
            </a:r>
          </a:p>
        </p:txBody>
      </p:sp>
      <p:sp>
        <p:nvSpPr>
          <p:cNvPr id="30" name="TextBox 29"/>
          <p:cNvSpPr txBox="1"/>
          <p:nvPr/>
        </p:nvSpPr>
        <p:spPr>
          <a:xfrm>
            <a:off x="4553712" y="4846320"/>
            <a:ext cx="3108960" cy="256032"/>
          </a:xfrm>
          <a:prstGeom prst="rect">
            <a:avLst/>
          </a:prstGeom>
          <a:noFill/>
        </p:spPr>
        <p:txBody>
          <a:bodyPr wrap="square" lIns="0" tIns="0" rIns="0" bIns="0" anchor="t">
            <a:spAutoFit/>
          </a:bodyPr>
          <a:lstStyle/>
          <a:p>
            <a:pPr algn="l">
              <a:lnSpc>
                <a:spcPct val="112000"/>
              </a:lnSpc>
            </a:pPr>
            <a:r>
              <a:rPr sz="1050" b="0" i="0">
                <a:solidFill>
                  <a:srgbClr val="C9A227"/>
                </a:solidFill>
                <a:latin typeface="Noto Sans CJK SC"/>
                <a:ea typeface="Noto Sans CJK SC"/>
                <a:cs typeface="Noto Sans CJK SC"/>
              </a:rPr>
              <a:t>Education &amp; Advisory</a:t>
            </a:r>
          </a:p>
        </p:txBody>
      </p:sp>
      <p:sp>
        <p:nvSpPr>
          <p:cNvPr id="31" name="TextBox 30"/>
          <p:cNvSpPr txBox="1"/>
          <p:nvPr/>
        </p:nvSpPr>
        <p:spPr>
          <a:xfrm>
            <a:off x="4553712" y="5157216"/>
            <a:ext cx="3154680" cy="868680"/>
          </a:xfrm>
          <a:prstGeom prst="rect">
            <a:avLst/>
          </a:prstGeom>
          <a:noFill/>
        </p:spPr>
        <p:txBody>
          <a:bodyPr wrap="square" lIns="0" tIns="0" rIns="0" bIns="0" anchor="t">
            <a:spAutoFit/>
          </a:bodyPr>
          <a:lstStyle/>
          <a:p>
            <a:pPr algn="l">
              <a:lnSpc>
                <a:spcPct val="122000"/>
              </a:lnSpc>
            </a:pPr>
            <a:r>
              <a:rPr sz="1100" b="0" i="0">
                <a:solidFill>
                  <a:srgbClr val="2A3242"/>
                </a:solidFill>
                <a:latin typeface="Noto Sans CJK SC"/>
                <a:ea typeface="Noto Sans CJK SC"/>
                <a:cs typeface="Noto Sans CJK SC"/>
              </a:rPr>
              <a:t>量化与AI投研课程体系，监管框架内的合规投顾服务</a:t>
            </a:r>
          </a:p>
        </p:txBody>
      </p:sp>
      <p:sp>
        <p:nvSpPr>
          <p:cNvPr id="32" name="Rounded Rectangle 31"/>
          <p:cNvSpPr/>
          <p:nvPr/>
        </p:nvSpPr>
        <p:spPr>
          <a:xfrm>
            <a:off x="8083296" y="4041648"/>
            <a:ext cx="3566160" cy="2084831"/>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083296" y="4041648"/>
            <a:ext cx="3566160" cy="82296"/>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21040" y="4279392"/>
            <a:ext cx="3108960" cy="566928"/>
          </a:xfrm>
          <a:prstGeom prst="rect">
            <a:avLst/>
          </a:prstGeom>
          <a:noFill/>
        </p:spPr>
        <p:txBody>
          <a:bodyPr wrap="square" lIns="0" tIns="0" rIns="0" bIns="0" anchor="t">
            <a:spAutoFit/>
          </a:bodyPr>
          <a:lstStyle/>
          <a:p>
            <a:pPr algn="l">
              <a:lnSpc>
                <a:spcPct val="105000"/>
              </a:lnSpc>
            </a:pPr>
            <a:r>
              <a:rPr sz="1450" b="1" i="0">
                <a:solidFill>
                  <a:srgbClr val="1B2A4A"/>
                </a:solidFill>
                <a:latin typeface="Noto Sans CJK SC"/>
                <a:ea typeface="Noto Sans CJK SC"/>
                <a:cs typeface="Noto Sans CJK SC"/>
              </a:rPr>
              <a:t>机构API与数据服务</a:t>
            </a:r>
          </a:p>
        </p:txBody>
      </p:sp>
      <p:sp>
        <p:nvSpPr>
          <p:cNvPr id="35" name="TextBox 34"/>
          <p:cNvSpPr txBox="1"/>
          <p:nvPr/>
        </p:nvSpPr>
        <p:spPr>
          <a:xfrm>
            <a:off x="8321040" y="4846320"/>
            <a:ext cx="3108960" cy="256032"/>
          </a:xfrm>
          <a:prstGeom prst="rect">
            <a:avLst/>
          </a:prstGeom>
          <a:noFill/>
        </p:spPr>
        <p:txBody>
          <a:bodyPr wrap="square" lIns="0" tIns="0" rIns="0" bIns="0" anchor="t">
            <a:spAutoFit/>
          </a:bodyPr>
          <a:lstStyle/>
          <a:p>
            <a:pPr algn="l">
              <a:lnSpc>
                <a:spcPct val="112000"/>
              </a:lnSpc>
            </a:pPr>
            <a:r>
              <a:rPr sz="1050" b="0" i="0">
                <a:solidFill>
                  <a:srgbClr val="2C4A7C"/>
                </a:solidFill>
                <a:latin typeface="Noto Sans CJK SC"/>
                <a:ea typeface="Noto Sans CJK SC"/>
                <a:cs typeface="Noto Sans CJK SC"/>
              </a:rPr>
              <a:t>Institutional API</a:t>
            </a:r>
          </a:p>
        </p:txBody>
      </p:sp>
      <p:sp>
        <p:nvSpPr>
          <p:cNvPr id="36" name="TextBox 35"/>
          <p:cNvSpPr txBox="1"/>
          <p:nvPr/>
        </p:nvSpPr>
        <p:spPr>
          <a:xfrm>
            <a:off x="8321040" y="5157216"/>
            <a:ext cx="3154680" cy="868680"/>
          </a:xfrm>
          <a:prstGeom prst="rect">
            <a:avLst/>
          </a:prstGeom>
          <a:noFill/>
        </p:spPr>
        <p:txBody>
          <a:bodyPr wrap="square" lIns="0" tIns="0" rIns="0" bIns="0" anchor="t">
            <a:spAutoFit/>
          </a:bodyPr>
          <a:lstStyle/>
          <a:p>
            <a:pPr algn="l">
              <a:lnSpc>
                <a:spcPct val="122000"/>
              </a:lnSpc>
            </a:pPr>
            <a:r>
              <a:rPr sz="1100" b="0" i="0">
                <a:solidFill>
                  <a:srgbClr val="2A3242"/>
                </a:solidFill>
                <a:latin typeface="Noto Sans CJK SC"/>
                <a:ea typeface="Noto Sans CJK SC"/>
                <a:cs typeface="Noto Sans CJK SC"/>
              </a:rPr>
              <a:t>向机构开放模型API与量化数据接口，赋能机构自建体系</a:t>
            </a:r>
          </a:p>
        </p:txBody>
      </p:sp>
      <p:sp>
        <p:nvSpPr>
          <p:cNvPr id="37" name="TextBox 36"/>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38" name="TextBox 37"/>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194925"/>
          </a:xfrm>
          <a:prstGeom prst="rect">
            <a:avLst/>
          </a:prstGeom>
          <a:noFill/>
        </p:spPr>
        <p:txBody>
          <a:bodyPr wrap="square" lIns="0" tIns="0" rIns="0" bIns="0" anchor="t">
            <a:spAutoFit/>
          </a:bodyPr>
          <a:lstStyle/>
          <a:p>
            <a:pPr>
              <a:lnSpc>
                <a:spcPct val="112000"/>
              </a:lnSpc>
            </a:pPr>
            <a:r>
              <a:rPr lang="en-US" altLang="zh-CN" sz="1200" b="1" dirty="0">
                <a:solidFill>
                  <a:srgbClr val="9A7B14"/>
                </a:solidFill>
                <a:latin typeface="Noto Sans CJK SC"/>
                <a:ea typeface="Noto Sans CJK SC"/>
                <a:cs typeface="Noto Sans CJK SC"/>
              </a:rPr>
              <a:t>02 </a:t>
            </a:r>
            <a:r>
              <a:rPr lang="zh-CN" altLang="en-US" sz="1200" b="1" dirty="0">
                <a:solidFill>
                  <a:srgbClr val="9A7B14"/>
                </a:solidFill>
                <a:latin typeface="Noto Sans CJK SC"/>
                <a:ea typeface="Noto Sans CJK SC"/>
                <a:cs typeface="Noto Sans CJK SC"/>
              </a:rPr>
              <a:t>联盟介绍 </a:t>
            </a:r>
            <a:r>
              <a:rPr lang="en-US" altLang="zh-CN" sz="1200" b="1" dirty="0">
                <a:solidFill>
                  <a:srgbClr val="9A7B14"/>
                </a:solidFill>
                <a:latin typeface="Noto Sans CJK SC"/>
                <a:ea typeface="Noto Sans CJK SC"/>
                <a:cs typeface="Noto Sans CJK SC"/>
              </a:rPr>
              <a:t>· </a:t>
            </a:r>
            <a:r>
              <a:rPr lang="en-US" sz="1200" b="1" dirty="0">
                <a:solidFill>
                  <a:srgbClr val="9A7B14"/>
                </a:solidFill>
                <a:latin typeface="Noto Sans CJK SC"/>
                <a:ea typeface="Noto Sans CJK SC"/>
                <a:cs typeface="Noto Sans CJK SC"/>
              </a:rPr>
              <a:t>THE ALLIANCE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三层技术底座：算力 · 模型 · 可信</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Three-Layer Technology Stack: Compute, Models, Trust</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28800"/>
            <a:ext cx="2286000" cy="1371600"/>
          </a:xfrm>
          <a:prstGeom prst="roundRect">
            <a:avLst>
              <a:gd name="adj" fmla="val 8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121408"/>
            <a:ext cx="2286000" cy="457200"/>
          </a:xfrm>
          <a:prstGeom prst="rect">
            <a:avLst/>
          </a:prstGeom>
          <a:noFill/>
        </p:spPr>
        <p:txBody>
          <a:bodyPr wrap="square" lIns="0" tIns="0" rIns="0" bIns="0" anchor="t">
            <a:spAutoFit/>
          </a:bodyPr>
          <a:lstStyle/>
          <a:p>
            <a:pPr algn="ctr">
              <a:lnSpc>
                <a:spcPct val="112000"/>
              </a:lnSpc>
            </a:pPr>
            <a:r>
              <a:rPr sz="2100" b="1" i="0">
                <a:solidFill>
                  <a:srgbClr val="E3C55C"/>
                </a:solidFill>
                <a:latin typeface="Noto Sans CJK SC"/>
                <a:ea typeface="Noto Sans CJK SC"/>
                <a:cs typeface="Noto Sans CJK SC"/>
              </a:rPr>
              <a:t>可信层</a:t>
            </a:r>
          </a:p>
        </p:txBody>
      </p:sp>
      <p:sp>
        <p:nvSpPr>
          <p:cNvPr id="9" name="TextBox 8"/>
          <p:cNvSpPr txBox="1"/>
          <p:nvPr/>
        </p:nvSpPr>
        <p:spPr>
          <a:xfrm>
            <a:off x="548640" y="2633472"/>
            <a:ext cx="2286000" cy="274320"/>
          </a:xfrm>
          <a:prstGeom prst="rect">
            <a:avLst/>
          </a:prstGeom>
          <a:noFill/>
        </p:spPr>
        <p:txBody>
          <a:bodyPr wrap="square" lIns="0" tIns="0" rIns="0" bIns="0" anchor="t">
            <a:spAutoFit/>
          </a:bodyPr>
          <a:lstStyle/>
          <a:p>
            <a:pPr algn="ctr">
              <a:lnSpc>
                <a:spcPct val="112000"/>
              </a:lnSpc>
            </a:pPr>
            <a:r>
              <a:rPr sz="1100" b="0" i="0">
                <a:solidFill>
                  <a:srgbClr val="E3C55C"/>
                </a:solidFill>
                <a:latin typeface="Noto Sans CJK SC"/>
                <a:ea typeface="Noto Sans CJK SC"/>
                <a:cs typeface="Noto Sans CJK SC"/>
              </a:rPr>
              <a:t>TRUST</a:t>
            </a:r>
          </a:p>
        </p:txBody>
      </p:sp>
      <p:sp>
        <p:nvSpPr>
          <p:cNvPr id="10" name="Rounded Rectangle 9"/>
          <p:cNvSpPr/>
          <p:nvPr/>
        </p:nvSpPr>
        <p:spPr>
          <a:xfrm>
            <a:off x="3063240" y="1828800"/>
            <a:ext cx="8577072" cy="1371600"/>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37560" y="1975104"/>
            <a:ext cx="8138160" cy="365760"/>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道一网络区块链操作系统</a:t>
            </a:r>
          </a:p>
        </p:txBody>
      </p:sp>
      <p:sp>
        <p:nvSpPr>
          <p:cNvPr id="12" name="TextBox 11"/>
          <p:cNvSpPr txBox="1"/>
          <p:nvPr/>
        </p:nvSpPr>
        <p:spPr>
          <a:xfrm>
            <a:off x="3337560" y="2359152"/>
            <a:ext cx="8092440" cy="777240"/>
          </a:xfrm>
          <a:prstGeom prst="rect">
            <a:avLst/>
          </a:prstGeom>
          <a:noFill/>
        </p:spPr>
        <p:txBody>
          <a:bodyPr wrap="square" lIns="0" tIns="0" rIns="0" bIns="0" anchor="t">
            <a:spAutoFit/>
          </a:bodyPr>
          <a:lstStyle/>
          <a:p>
            <a:pPr algn="l">
              <a:lnSpc>
                <a:spcPct val="120000"/>
              </a:lnSpc>
            </a:pPr>
            <a:r>
              <a:rPr sz="1150" b="0" i="0">
                <a:solidFill>
                  <a:srgbClr val="2A3242"/>
                </a:solidFill>
                <a:latin typeface="Noto Sans CJK SC"/>
                <a:ea typeface="Noto Sans CJK SC"/>
                <a:cs typeface="Noto Sans CJK SC"/>
              </a:rPr>
              <a:t>Python链外共识 + PoSS绿色共识 + 每秒10万笔交易（工信部信通院测试），为AI决策与交易记录提供可信、可溯源的底座</a:t>
            </a:r>
          </a:p>
        </p:txBody>
      </p:sp>
      <p:sp>
        <p:nvSpPr>
          <p:cNvPr id="13" name="Down Arrow 12"/>
          <p:cNvSpPr/>
          <p:nvPr/>
        </p:nvSpPr>
        <p:spPr>
          <a:xfrm>
            <a:off x="1572768" y="3218688"/>
            <a:ext cx="237744" cy="201168"/>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3456432"/>
            <a:ext cx="2286000" cy="1371600"/>
          </a:xfrm>
          <a:prstGeom prst="roundRect">
            <a:avLst>
              <a:gd name="adj" fmla="val 8000"/>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749040"/>
            <a:ext cx="2286000" cy="457200"/>
          </a:xfrm>
          <a:prstGeom prst="rect">
            <a:avLst/>
          </a:prstGeom>
          <a:noFill/>
        </p:spPr>
        <p:txBody>
          <a:bodyPr wrap="square" lIns="0" tIns="0" rIns="0" bIns="0" anchor="t">
            <a:spAutoFit/>
          </a:bodyPr>
          <a:lstStyle/>
          <a:p>
            <a:pPr algn="ctr">
              <a:lnSpc>
                <a:spcPct val="112000"/>
              </a:lnSpc>
            </a:pPr>
            <a:r>
              <a:rPr sz="2100" b="1" i="0">
                <a:solidFill>
                  <a:srgbClr val="FFFFFF"/>
                </a:solidFill>
                <a:latin typeface="Noto Sans CJK SC"/>
                <a:ea typeface="Noto Sans CJK SC"/>
                <a:cs typeface="Noto Sans CJK SC"/>
              </a:rPr>
              <a:t>模型层</a:t>
            </a:r>
          </a:p>
        </p:txBody>
      </p:sp>
      <p:sp>
        <p:nvSpPr>
          <p:cNvPr id="16" name="TextBox 15"/>
          <p:cNvSpPr txBox="1"/>
          <p:nvPr/>
        </p:nvSpPr>
        <p:spPr>
          <a:xfrm>
            <a:off x="548640" y="4261104"/>
            <a:ext cx="2286000" cy="274320"/>
          </a:xfrm>
          <a:prstGeom prst="rect">
            <a:avLst/>
          </a:prstGeom>
          <a:noFill/>
        </p:spPr>
        <p:txBody>
          <a:bodyPr wrap="square" lIns="0" tIns="0" rIns="0" bIns="0" anchor="t">
            <a:spAutoFit/>
          </a:bodyPr>
          <a:lstStyle/>
          <a:p>
            <a:pPr algn="ctr">
              <a:lnSpc>
                <a:spcPct val="112000"/>
              </a:lnSpc>
            </a:pPr>
            <a:r>
              <a:rPr sz="1100" b="0" i="0">
                <a:solidFill>
                  <a:srgbClr val="E3C55C"/>
                </a:solidFill>
                <a:latin typeface="Noto Sans CJK SC"/>
                <a:ea typeface="Noto Sans CJK SC"/>
                <a:cs typeface="Noto Sans CJK SC"/>
              </a:rPr>
              <a:t>MODEL</a:t>
            </a:r>
          </a:p>
        </p:txBody>
      </p:sp>
      <p:sp>
        <p:nvSpPr>
          <p:cNvPr id="17" name="Rounded Rectangle 16"/>
          <p:cNvSpPr/>
          <p:nvPr/>
        </p:nvSpPr>
        <p:spPr>
          <a:xfrm>
            <a:off x="3063240" y="3456432"/>
            <a:ext cx="8577072" cy="1371600"/>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37560" y="3602736"/>
            <a:ext cx="8138160" cy="365760"/>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John Ding数理金融模型 + 全球开源生态</a:t>
            </a:r>
          </a:p>
        </p:txBody>
      </p:sp>
      <p:sp>
        <p:nvSpPr>
          <p:cNvPr id="19" name="TextBox 18"/>
          <p:cNvSpPr txBox="1"/>
          <p:nvPr/>
        </p:nvSpPr>
        <p:spPr>
          <a:xfrm>
            <a:off x="3337560" y="3986784"/>
            <a:ext cx="8092440" cy="777240"/>
          </a:xfrm>
          <a:prstGeom prst="rect">
            <a:avLst/>
          </a:prstGeom>
          <a:noFill/>
        </p:spPr>
        <p:txBody>
          <a:bodyPr wrap="square" lIns="0" tIns="0" rIns="0" bIns="0" anchor="t">
            <a:spAutoFit/>
          </a:bodyPr>
          <a:lstStyle/>
          <a:p>
            <a:pPr algn="l">
              <a:lnSpc>
                <a:spcPct val="120000"/>
              </a:lnSpc>
            </a:pPr>
            <a:r>
              <a:rPr sz="1150" b="0" i="0">
                <a:solidFill>
                  <a:srgbClr val="2A3242"/>
                </a:solidFill>
                <a:latin typeface="Noto Sans CJK SC"/>
                <a:ea typeface="Noto Sans CJK SC"/>
                <a:cs typeface="Noto Sans CJK SC"/>
              </a:rPr>
              <a:t>独有SPY/VIX/PDE/AI模型体系，融合开源生态：Qlib（11k+★）· vn.py（20k+★）· backtrader（21k+★）· Lean（19k+★）· NautilusTrader（23k+★）</a:t>
            </a:r>
          </a:p>
        </p:txBody>
      </p:sp>
      <p:sp>
        <p:nvSpPr>
          <p:cNvPr id="20" name="Down Arrow 19"/>
          <p:cNvSpPr/>
          <p:nvPr/>
        </p:nvSpPr>
        <p:spPr>
          <a:xfrm>
            <a:off x="1572768" y="4846320"/>
            <a:ext cx="237744" cy="201168"/>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5084064"/>
            <a:ext cx="2286000" cy="1371600"/>
          </a:xfrm>
          <a:prstGeom prst="roundRect">
            <a:avLst>
              <a:gd name="adj" fmla="val 8000"/>
            </a:avLst>
          </a:prstGeom>
          <a:solidFill>
            <a:srgbClr val="4A63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5376672"/>
            <a:ext cx="2286000" cy="457200"/>
          </a:xfrm>
          <a:prstGeom prst="rect">
            <a:avLst/>
          </a:prstGeom>
          <a:noFill/>
        </p:spPr>
        <p:txBody>
          <a:bodyPr wrap="square" lIns="0" tIns="0" rIns="0" bIns="0" anchor="t">
            <a:spAutoFit/>
          </a:bodyPr>
          <a:lstStyle/>
          <a:p>
            <a:pPr algn="ctr">
              <a:lnSpc>
                <a:spcPct val="112000"/>
              </a:lnSpc>
            </a:pPr>
            <a:r>
              <a:rPr sz="2100" b="1" i="0">
                <a:solidFill>
                  <a:srgbClr val="FFFFFF"/>
                </a:solidFill>
                <a:latin typeface="Noto Sans CJK SC"/>
                <a:ea typeface="Noto Sans CJK SC"/>
                <a:cs typeface="Noto Sans CJK SC"/>
              </a:rPr>
              <a:t>算力层</a:t>
            </a:r>
          </a:p>
        </p:txBody>
      </p:sp>
      <p:sp>
        <p:nvSpPr>
          <p:cNvPr id="23" name="TextBox 22"/>
          <p:cNvSpPr txBox="1"/>
          <p:nvPr/>
        </p:nvSpPr>
        <p:spPr>
          <a:xfrm>
            <a:off x="548640" y="5888736"/>
            <a:ext cx="2286000" cy="274320"/>
          </a:xfrm>
          <a:prstGeom prst="rect">
            <a:avLst/>
          </a:prstGeom>
          <a:noFill/>
        </p:spPr>
        <p:txBody>
          <a:bodyPr wrap="square" lIns="0" tIns="0" rIns="0" bIns="0" anchor="t">
            <a:spAutoFit/>
          </a:bodyPr>
          <a:lstStyle/>
          <a:p>
            <a:pPr algn="ctr">
              <a:lnSpc>
                <a:spcPct val="112000"/>
              </a:lnSpc>
            </a:pPr>
            <a:r>
              <a:rPr sz="1100" b="0" i="0">
                <a:solidFill>
                  <a:srgbClr val="E3C55C"/>
                </a:solidFill>
                <a:latin typeface="Noto Sans CJK SC"/>
                <a:ea typeface="Noto Sans CJK SC"/>
                <a:cs typeface="Noto Sans CJK SC"/>
              </a:rPr>
              <a:t>COMPUTE</a:t>
            </a:r>
          </a:p>
        </p:txBody>
      </p:sp>
      <p:sp>
        <p:nvSpPr>
          <p:cNvPr id="24" name="Rounded Rectangle 23"/>
          <p:cNvSpPr/>
          <p:nvPr/>
        </p:nvSpPr>
        <p:spPr>
          <a:xfrm>
            <a:off x="3063240" y="5084064"/>
            <a:ext cx="8577072" cy="1371600"/>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37560" y="5230368"/>
            <a:ext cx="8138160" cy="365760"/>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北电数智产业级AI算力</a:t>
            </a:r>
          </a:p>
        </p:txBody>
      </p:sp>
      <p:sp>
        <p:nvSpPr>
          <p:cNvPr id="26" name="TextBox 25"/>
          <p:cNvSpPr txBox="1"/>
          <p:nvPr/>
        </p:nvSpPr>
        <p:spPr>
          <a:xfrm>
            <a:off x="3337560" y="5614416"/>
            <a:ext cx="8092440" cy="777240"/>
          </a:xfrm>
          <a:prstGeom prst="rect">
            <a:avLst/>
          </a:prstGeom>
          <a:noFill/>
        </p:spPr>
        <p:txBody>
          <a:bodyPr wrap="square" lIns="0" tIns="0" rIns="0" bIns="0" anchor="t">
            <a:spAutoFit/>
          </a:bodyPr>
          <a:lstStyle/>
          <a:p>
            <a:pPr algn="l">
              <a:lnSpc>
                <a:spcPct val="120000"/>
              </a:lnSpc>
            </a:pPr>
            <a:r>
              <a:rPr sz="1150" b="0" i="0">
                <a:solidFill>
                  <a:srgbClr val="2A3242"/>
                </a:solidFill>
                <a:latin typeface="Noto Sans CJK SC"/>
                <a:ea typeface="Noto Sans CJK SC"/>
                <a:cs typeface="Noto Sans CJK SC"/>
              </a:rPr>
              <a:t>高端GPU集群 · 量化模型训练与策略推理 · 全市场分钟级/Tick级回测环境 · AI Agent金融决策运行基座，无需重资产投入基建</a:t>
            </a:r>
          </a:p>
        </p:txBody>
      </p:sp>
      <p:sp>
        <p:nvSpPr>
          <p:cNvPr id="27" name="TextBox 26"/>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28" name="TextBox 27"/>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194925"/>
          </a:xfrm>
          <a:prstGeom prst="rect">
            <a:avLst/>
          </a:prstGeom>
          <a:noFill/>
        </p:spPr>
        <p:txBody>
          <a:bodyPr wrap="square" lIns="0" tIns="0" rIns="0" bIns="0" anchor="t">
            <a:spAutoFit/>
          </a:bodyPr>
          <a:lstStyle/>
          <a:p>
            <a:pPr>
              <a:lnSpc>
                <a:spcPct val="112000"/>
              </a:lnSpc>
            </a:pPr>
            <a:r>
              <a:rPr lang="en-US" altLang="zh-CN" sz="1200" b="1" dirty="0">
                <a:solidFill>
                  <a:srgbClr val="9A7B14"/>
                </a:solidFill>
                <a:latin typeface="Noto Sans CJK SC"/>
                <a:ea typeface="Noto Sans CJK SC"/>
                <a:cs typeface="Noto Sans CJK SC"/>
              </a:rPr>
              <a:t>02 </a:t>
            </a:r>
            <a:r>
              <a:rPr lang="zh-CN" altLang="en-US" sz="1200" b="1" dirty="0">
                <a:solidFill>
                  <a:srgbClr val="9A7B14"/>
                </a:solidFill>
                <a:latin typeface="Noto Sans CJK SC"/>
                <a:ea typeface="Noto Sans CJK SC"/>
                <a:cs typeface="Noto Sans CJK SC"/>
              </a:rPr>
              <a:t>联盟介绍 </a:t>
            </a:r>
            <a:r>
              <a:rPr lang="en-US" altLang="zh-CN" sz="1200" b="1" dirty="0">
                <a:solidFill>
                  <a:srgbClr val="9A7B14"/>
                </a:solidFill>
                <a:latin typeface="Noto Sans CJK SC"/>
                <a:ea typeface="Noto Sans CJK SC"/>
                <a:cs typeface="Noto Sans CJK SC"/>
              </a:rPr>
              <a:t>· </a:t>
            </a:r>
            <a:r>
              <a:rPr lang="en-US" sz="1200" b="1" dirty="0">
                <a:solidFill>
                  <a:srgbClr val="9A7B14"/>
                </a:solidFill>
                <a:latin typeface="Noto Sans CJK SC"/>
                <a:ea typeface="Noto Sans CJK SC"/>
                <a:cs typeface="Noto Sans CJK SC"/>
              </a:rPr>
              <a:t>THE ALLIANCE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创始人与核心团队：华尔街级量化与AI阵容</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Founder &amp; Team: Wall Street-Grade Quant Talent</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10512"/>
            <a:ext cx="4160520" cy="4498848"/>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810512"/>
            <a:ext cx="4160520"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2121408"/>
            <a:ext cx="777240" cy="777240"/>
          </a:xfrm>
          <a:prstGeom prst="roundRect">
            <a:avLst>
              <a:gd name="adj" fmla="val 25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121408"/>
            <a:ext cx="777240" cy="777240"/>
          </a:xfrm>
          <a:prstGeom prst="rect">
            <a:avLst/>
          </a:prstGeom>
          <a:noFill/>
        </p:spPr>
        <p:txBody>
          <a:bodyPr wrap="square" lIns="0" tIns="0" rIns="0" bIns="0" anchor="ctr">
            <a:spAutoFit/>
          </a:bodyPr>
          <a:lstStyle/>
          <a:p>
            <a:pPr algn="ctr">
              <a:lnSpc>
                <a:spcPct val="112000"/>
              </a:lnSpc>
            </a:pPr>
            <a:r>
              <a:rPr sz="2400" b="1" i="0">
                <a:solidFill>
                  <a:srgbClr val="121D36"/>
                </a:solidFill>
                <a:latin typeface="Noto Sans CJK SC"/>
                <a:ea typeface="Noto Sans CJK SC"/>
                <a:cs typeface="Noto Sans CJK SC"/>
              </a:rPr>
              <a:t>JD</a:t>
            </a:r>
          </a:p>
        </p:txBody>
      </p:sp>
      <p:sp>
        <p:nvSpPr>
          <p:cNvPr id="11" name="TextBox 10"/>
          <p:cNvSpPr txBox="1"/>
          <p:nvPr/>
        </p:nvSpPr>
        <p:spPr>
          <a:xfrm>
            <a:off x="1810512" y="2157984"/>
            <a:ext cx="2743200" cy="411480"/>
          </a:xfrm>
          <a:prstGeom prst="rect">
            <a:avLst/>
          </a:prstGeom>
          <a:noFill/>
        </p:spPr>
        <p:txBody>
          <a:bodyPr wrap="square" lIns="0" tIns="0" rIns="0" bIns="0" anchor="t">
            <a:spAutoFit/>
          </a:bodyPr>
          <a:lstStyle/>
          <a:p>
            <a:pPr algn="l">
              <a:lnSpc>
                <a:spcPct val="112000"/>
              </a:lnSpc>
            </a:pPr>
            <a:r>
              <a:rPr sz="1700" b="1" i="0">
                <a:solidFill>
                  <a:srgbClr val="FFFFFF"/>
                </a:solidFill>
                <a:latin typeface="Noto Sans CJK SC"/>
                <a:ea typeface="Noto Sans CJK SC"/>
                <a:cs typeface="Noto Sans CJK SC"/>
              </a:rPr>
              <a:t>John Ding（丁江）</a:t>
            </a:r>
          </a:p>
        </p:txBody>
      </p:sp>
      <p:sp>
        <p:nvSpPr>
          <p:cNvPr id="12" name="TextBox 11"/>
          <p:cNvSpPr txBox="1"/>
          <p:nvPr/>
        </p:nvSpPr>
        <p:spPr>
          <a:xfrm>
            <a:off x="1810512" y="2578608"/>
            <a:ext cx="2743200" cy="274320"/>
          </a:xfrm>
          <a:prstGeom prst="rect">
            <a:avLst/>
          </a:prstGeom>
          <a:noFill/>
        </p:spPr>
        <p:txBody>
          <a:bodyPr wrap="square" lIns="0" tIns="0" rIns="0" bIns="0" anchor="t">
            <a:spAutoFit/>
          </a:bodyPr>
          <a:lstStyle/>
          <a:p>
            <a:pPr algn="l">
              <a:lnSpc>
                <a:spcPct val="112000"/>
              </a:lnSpc>
            </a:pPr>
            <a:r>
              <a:rPr sz="1150" b="0" i="0">
                <a:solidFill>
                  <a:srgbClr val="E3C55C"/>
                </a:solidFill>
                <a:latin typeface="Noto Sans CJK SC"/>
                <a:ea typeface="Noto Sans CJK SC"/>
                <a:cs typeface="Noto Sans CJK SC"/>
              </a:rPr>
              <a:t>创始人 / 首席科学家</a:t>
            </a:r>
          </a:p>
        </p:txBody>
      </p:sp>
      <p:sp>
        <p:nvSpPr>
          <p:cNvPr id="13" name="TextBox 12"/>
          <p:cNvSpPr txBox="1"/>
          <p:nvPr/>
        </p:nvSpPr>
        <p:spPr>
          <a:xfrm>
            <a:off x="868680" y="3127248"/>
            <a:ext cx="3566160" cy="2651760"/>
          </a:xfrm>
          <a:prstGeom prst="rect">
            <a:avLst/>
          </a:prstGeom>
          <a:noFill/>
        </p:spPr>
        <p:txBody>
          <a:bodyPr wrap="square" lIns="0" tIns="0" rIns="0" bIns="0" anchor="t">
            <a:spAutoFit/>
          </a:bodyPr>
          <a:lstStyle/>
          <a:p>
            <a:pPr algn="l">
              <a:lnSpc>
                <a:spcPct val="118000"/>
              </a:lnSpc>
              <a:spcBef>
                <a:spcPts val="0"/>
              </a:spcBef>
              <a:spcAft>
                <a:spcPts val="800"/>
              </a:spcAft>
            </a:pPr>
            <a:r>
              <a:rPr sz="1000" b="0" i="0">
                <a:solidFill>
                  <a:srgbClr val="C9A227"/>
                </a:solidFill>
                <a:latin typeface="Noto Sans CJK SC"/>
                <a:ea typeface="Noto Sans CJK SC"/>
                <a:cs typeface="Noto Sans CJK SC"/>
              </a:rPr>
              <a:t>◆  </a:t>
            </a:r>
            <a:r>
              <a:rPr sz="1100" b="0" i="0">
                <a:solidFill>
                  <a:srgbClr val="D5DDEA"/>
                </a:solidFill>
                <a:latin typeface="Noto Sans CJK SC"/>
                <a:ea typeface="Noto Sans CJK SC"/>
                <a:cs typeface="Noto Sans CJK SC"/>
              </a:rPr>
              <a:t>南京大学天文学士，美国计算机与机械工程双硕士</a:t>
            </a:r>
          </a:p>
          <a:p>
            <a:pPr algn="l">
              <a:lnSpc>
                <a:spcPct val="118000"/>
              </a:lnSpc>
              <a:spcBef>
                <a:spcPts val="0"/>
              </a:spcBef>
              <a:spcAft>
                <a:spcPts val="800"/>
              </a:spcAft>
            </a:pPr>
            <a:r>
              <a:rPr sz="1000" b="0" i="0">
                <a:solidFill>
                  <a:srgbClr val="C9A227"/>
                </a:solidFill>
                <a:latin typeface="Noto Sans CJK SC"/>
                <a:ea typeface="Noto Sans CJK SC"/>
                <a:cs typeface="Noto Sans CJK SC"/>
              </a:rPr>
              <a:t>◆  </a:t>
            </a:r>
            <a:r>
              <a:rPr sz="1100" b="0" i="0">
                <a:solidFill>
                  <a:srgbClr val="D5DDEA"/>
                </a:solidFill>
                <a:latin typeface="Noto Sans CJK SC"/>
                <a:ea typeface="Noto Sans CJK SC"/>
                <a:cs typeface="Noto Sans CJK SC"/>
              </a:rPr>
              <a:t>18年华尔街经历：高盛、摩根士丹利、加拿大皇家银行（RBC）</a:t>
            </a:r>
          </a:p>
          <a:p>
            <a:pPr algn="l">
              <a:lnSpc>
                <a:spcPct val="118000"/>
              </a:lnSpc>
              <a:spcBef>
                <a:spcPts val="0"/>
              </a:spcBef>
              <a:spcAft>
                <a:spcPts val="800"/>
              </a:spcAft>
            </a:pPr>
            <a:r>
              <a:rPr sz="1000" b="0" i="0">
                <a:solidFill>
                  <a:srgbClr val="C9A227"/>
                </a:solidFill>
                <a:latin typeface="Noto Sans CJK SC"/>
                <a:ea typeface="Noto Sans CJK SC"/>
                <a:cs typeface="Noto Sans CJK SC"/>
              </a:rPr>
              <a:t>◆  </a:t>
            </a:r>
            <a:r>
              <a:rPr sz="1100" b="0" i="0">
                <a:solidFill>
                  <a:srgbClr val="D5DDEA"/>
                </a:solidFill>
                <a:latin typeface="Noto Sans CJK SC"/>
                <a:ea typeface="Noto Sans CJK SC"/>
                <a:cs typeface="Noto Sans CJK SC"/>
              </a:rPr>
              <a:t>曾主导RBC区块链研发；美国区块链专利公司CEO</a:t>
            </a:r>
          </a:p>
          <a:p>
            <a:pPr algn="l">
              <a:lnSpc>
                <a:spcPct val="118000"/>
              </a:lnSpc>
              <a:spcBef>
                <a:spcPts val="0"/>
              </a:spcBef>
              <a:spcAft>
                <a:spcPts val="800"/>
              </a:spcAft>
            </a:pPr>
            <a:r>
              <a:rPr sz="1000" b="0" i="0">
                <a:solidFill>
                  <a:srgbClr val="C9A227"/>
                </a:solidFill>
                <a:latin typeface="Noto Sans CJK SC"/>
                <a:ea typeface="Noto Sans CJK SC"/>
                <a:cs typeface="Noto Sans CJK SC"/>
              </a:rPr>
              <a:t>◆  </a:t>
            </a:r>
            <a:r>
              <a:rPr sz="1100" b="0" i="0">
                <a:solidFill>
                  <a:srgbClr val="D5DDEA"/>
                </a:solidFill>
                <a:latin typeface="Noto Sans CJK SC"/>
                <a:ea typeface="Noto Sans CJK SC"/>
                <a:cs typeface="Noto Sans CJK SC"/>
              </a:rPr>
              <a:t>太一云（新三板挂牌）联合创始人；道一集团CEO</a:t>
            </a:r>
          </a:p>
          <a:p>
            <a:pPr algn="l">
              <a:lnSpc>
                <a:spcPct val="118000"/>
              </a:lnSpc>
              <a:spcBef>
                <a:spcPts val="0"/>
              </a:spcBef>
              <a:spcAft>
                <a:spcPts val="800"/>
              </a:spcAft>
            </a:pPr>
            <a:r>
              <a:rPr sz="1000" b="0" i="0">
                <a:solidFill>
                  <a:srgbClr val="C9A227"/>
                </a:solidFill>
                <a:latin typeface="Noto Sans CJK SC"/>
                <a:ea typeface="Noto Sans CJK SC"/>
                <a:cs typeface="Noto Sans CJK SC"/>
              </a:rPr>
              <a:t>◆  </a:t>
            </a:r>
            <a:r>
              <a:rPr sz="1100" b="0" i="0">
                <a:solidFill>
                  <a:srgbClr val="D5DDEA"/>
                </a:solidFill>
                <a:latin typeface="Noto Sans CJK SC"/>
                <a:ea typeface="Noto Sans CJK SC"/>
                <a:cs typeface="Noto Sans CJK SC"/>
              </a:rPr>
              <a:t>领导美国上市公司SSNC人工智能大数据平台设计研发</a:t>
            </a:r>
          </a:p>
        </p:txBody>
      </p:sp>
      <p:sp>
        <p:nvSpPr>
          <p:cNvPr id="14" name="Rounded Rectangle 13"/>
          <p:cNvSpPr/>
          <p:nvPr/>
        </p:nvSpPr>
        <p:spPr>
          <a:xfrm>
            <a:off x="868680" y="5779008"/>
            <a:ext cx="3520440" cy="384048"/>
          </a:xfrm>
          <a:prstGeom prst="roundRect">
            <a:avLst>
              <a:gd name="adj" fmla="val 50000"/>
            </a:avLst>
          </a:prstGeom>
          <a:solidFill>
            <a:srgbClr val="223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760720"/>
            <a:ext cx="3749039" cy="402336"/>
          </a:xfrm>
          <a:prstGeom prst="rect">
            <a:avLst/>
          </a:prstGeom>
          <a:noFill/>
        </p:spPr>
        <p:txBody>
          <a:bodyPr wrap="square" lIns="0" tIns="0" rIns="0" bIns="0" anchor="ctr">
            <a:spAutoFit/>
          </a:bodyPr>
          <a:lstStyle/>
          <a:p>
            <a:pPr algn="ctr">
              <a:lnSpc>
                <a:spcPct val="112000"/>
              </a:lnSpc>
            </a:pPr>
            <a:r>
              <a:rPr sz="1100" b="0" i="0">
                <a:solidFill>
                  <a:srgbClr val="E3C55C"/>
                </a:solidFill>
                <a:latin typeface="Noto Sans CJK SC"/>
                <a:ea typeface="Noto Sans CJK SC"/>
                <a:cs typeface="Noto Sans CJK SC"/>
              </a:rPr>
              <a:t>deepvix.com：565名客户 · 95%好评</a:t>
            </a:r>
          </a:p>
        </p:txBody>
      </p:sp>
      <p:graphicFrame>
        <p:nvGraphicFramePr>
          <p:cNvPr id="16" name="Table 15"/>
          <p:cNvGraphicFramePr>
            <a:graphicFrameLocks noGrp="1"/>
          </p:cNvGraphicFramePr>
          <p:nvPr>
            <p:extLst>
              <p:ext uri="{D42A27DB-BD31-4B8C-83A1-F6EECF244321}">
                <p14:modId xmlns:p14="http://schemas.microsoft.com/office/powerpoint/2010/main" val="622741511"/>
              </p:ext>
            </p:extLst>
          </p:nvPr>
        </p:nvGraphicFramePr>
        <p:xfrm>
          <a:off x="4937760" y="1810512"/>
          <a:ext cx="6702552" cy="2871216"/>
        </p:xfrm>
        <a:graphic>
          <a:graphicData uri="http://schemas.openxmlformats.org/drawingml/2006/table">
            <a:tbl>
              <a:tblPr>
                <a:tableStyleId>{5C22544A-7EE6-4342-B048-85BDC9FD1C3A}</a:tableStyleId>
              </a:tblPr>
              <a:tblGrid>
                <a:gridCol w="1572768">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895344">
                  <a:extLst>
                    <a:ext uri="{9D8B030D-6E8A-4147-A177-3AD203B41FA5}">
                      <a16:colId xmlns:a16="http://schemas.microsoft.com/office/drawing/2014/main" val="20002"/>
                    </a:ext>
                  </a:extLst>
                </a:gridCol>
              </a:tblGrid>
              <a:tr h="384048">
                <a:tc>
                  <a:txBody>
                    <a:bodyPr/>
                    <a:lstStyle/>
                    <a:p>
                      <a:pPr algn="l"/>
                      <a:r>
                        <a:rPr sz="1150" b="1" i="0">
                          <a:solidFill>
                            <a:srgbClr val="FFFFFF"/>
                          </a:solidFill>
                          <a:latin typeface="Noto Sans CJK SC"/>
                          <a:ea typeface="Noto Sans CJK SC"/>
                          <a:cs typeface="Noto Sans CJK SC"/>
                        </a:rPr>
                        <a:t>成员 / Member</a:t>
                      </a:r>
                    </a:p>
                  </a:txBody>
                  <a:tcPr marR="73152" marT="27432" marB="27432" anchor="ctr">
                    <a:solidFill>
                      <a:srgbClr val="1B2A4A"/>
                    </a:solidFill>
                  </a:tcPr>
                </a:tc>
                <a:tc>
                  <a:txBody>
                    <a:bodyPr/>
                    <a:lstStyle/>
                    <a:p>
                      <a:pPr algn="l"/>
                      <a:r>
                        <a:rPr sz="1150" b="1" i="0">
                          <a:solidFill>
                            <a:srgbClr val="FFFFFF"/>
                          </a:solidFill>
                          <a:latin typeface="Noto Sans CJK SC"/>
                          <a:ea typeface="Noto Sans CJK SC"/>
                          <a:cs typeface="Noto Sans CJK SC"/>
                        </a:rPr>
                        <a:t>角色 / Role</a:t>
                      </a:r>
                    </a:p>
                  </a:txBody>
                  <a:tcPr marR="73152" marT="27432" marB="27432" anchor="ctr">
                    <a:solidFill>
                      <a:srgbClr val="1B2A4A"/>
                    </a:solidFill>
                  </a:tcPr>
                </a:tc>
                <a:tc>
                  <a:txBody>
                    <a:bodyPr/>
                    <a:lstStyle/>
                    <a:p>
                      <a:pPr algn="l"/>
                      <a:r>
                        <a:rPr sz="1150" b="1" i="0">
                          <a:solidFill>
                            <a:srgbClr val="FFFFFF"/>
                          </a:solidFill>
                          <a:latin typeface="Noto Sans CJK SC"/>
                          <a:ea typeface="Noto Sans CJK SC"/>
                          <a:cs typeface="Noto Sans CJK SC"/>
                        </a:rPr>
                        <a:t>背景 / Background</a:t>
                      </a:r>
                    </a:p>
                  </a:txBody>
                  <a:tcPr marR="73152" marT="27432" marB="27432" anchor="ctr">
                    <a:solidFill>
                      <a:srgbClr val="1B2A4A"/>
                    </a:solidFill>
                  </a:tcPr>
                </a:tc>
                <a:extLst>
                  <a:ext uri="{0D108BD9-81ED-4DB2-BD59-A6C34878D82A}">
                    <a16:rowId xmlns:a16="http://schemas.microsoft.com/office/drawing/2014/main" val="10000"/>
                  </a:ext>
                </a:extLst>
              </a:tr>
              <a:tr h="621792">
                <a:tc>
                  <a:txBody>
                    <a:bodyPr/>
                    <a:lstStyle/>
                    <a:p>
                      <a:pPr algn="l"/>
                      <a:r>
                        <a:rPr sz="1050" b="1" i="0">
                          <a:solidFill>
                            <a:srgbClr val="1B2A4A"/>
                          </a:solidFill>
                          <a:latin typeface="Noto Sans CJK SC"/>
                          <a:ea typeface="Noto Sans CJK SC"/>
                          <a:cs typeface="Noto Sans CJK SC"/>
                        </a:rPr>
                        <a:t>Karlil Amisial</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量化与投行专家</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金融工程与计算机双硕士；高盛、瑞信、RBC投行总监，抵押衍生品定价专家</a:t>
                      </a:r>
                    </a:p>
                  </a:txBody>
                  <a:tcPr marR="73152" marT="27432" marB="27432" anchor="ctr">
                    <a:solidFill>
                      <a:srgbClr val="F2F5FA"/>
                    </a:solidFill>
                  </a:tcPr>
                </a:tc>
                <a:extLst>
                  <a:ext uri="{0D108BD9-81ED-4DB2-BD59-A6C34878D82A}">
                    <a16:rowId xmlns:a16="http://schemas.microsoft.com/office/drawing/2014/main" val="10001"/>
                  </a:ext>
                </a:extLst>
              </a:tr>
              <a:tr h="621792">
                <a:tc>
                  <a:txBody>
                    <a:bodyPr/>
                    <a:lstStyle/>
                    <a:p>
                      <a:pPr algn="l"/>
                      <a:r>
                        <a:rPr sz="1050" b="1" i="0">
                          <a:solidFill>
                            <a:srgbClr val="1B2A4A"/>
                          </a:solidFill>
                          <a:latin typeface="Noto Sans CJK SC"/>
                          <a:ea typeface="Noto Sans CJK SC"/>
                          <a:cs typeface="Noto Sans CJK SC"/>
                        </a:rPr>
                        <a:t>Geoge Li</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量化分析专家</a:t>
                      </a:r>
                    </a:p>
                  </a:txBody>
                  <a:tcPr marR="73152" marT="27432" marB="27432" anchor="ctr">
                    <a:solidFill>
                      <a:srgbClr val="FFFFFF"/>
                    </a:solidFill>
                  </a:tcPr>
                </a:tc>
                <a:tc>
                  <a:txBody>
                    <a:bodyPr/>
                    <a:lstStyle/>
                    <a:p>
                      <a:pPr algn="l"/>
                      <a:r>
                        <a:rPr sz="1050" b="0" i="0">
                          <a:solidFill>
                            <a:srgbClr val="2A3242"/>
                          </a:solidFill>
                          <a:latin typeface="Noto Sans CJK SC"/>
                          <a:ea typeface="Noto Sans CJK SC"/>
                          <a:cs typeface="Noto Sans CJK SC"/>
                        </a:rPr>
                        <a:t>复旦学士、哥伦比亚大学博士；美国银行量化分析师，20年华尔街经验；Stanford StartX导师</a:t>
                      </a:r>
                    </a:p>
                  </a:txBody>
                  <a:tcPr marR="73152" marT="27432" marB="27432" anchor="ctr">
                    <a:solidFill>
                      <a:srgbClr val="FFFFFF"/>
                    </a:solidFill>
                  </a:tcPr>
                </a:tc>
                <a:extLst>
                  <a:ext uri="{0D108BD9-81ED-4DB2-BD59-A6C34878D82A}">
                    <a16:rowId xmlns:a16="http://schemas.microsoft.com/office/drawing/2014/main" val="10002"/>
                  </a:ext>
                </a:extLst>
              </a:tr>
              <a:tr h="621792">
                <a:tc>
                  <a:txBody>
                    <a:bodyPr/>
                    <a:lstStyle/>
                    <a:p>
                      <a:pPr algn="l"/>
                      <a:r>
                        <a:rPr lang="zh-CN" altLang="en-US" sz="1050" b="1" i="0" dirty="0">
                          <a:solidFill>
                            <a:srgbClr val="1B2A4A"/>
                          </a:solidFill>
                          <a:latin typeface="Noto Sans CJK SC"/>
                          <a:ea typeface="Noto Sans CJK SC"/>
                          <a:cs typeface="Noto Sans CJK SC"/>
                        </a:rPr>
                        <a:t>Kogun Chiang</a:t>
                      </a:r>
                      <a:endParaRPr sz="1050" b="1" i="0" dirty="0">
                        <a:solidFill>
                          <a:srgbClr val="1B2A4A"/>
                        </a:solidFill>
                        <a:latin typeface="Noto Sans CJK SC"/>
                        <a:ea typeface="Noto Sans CJK SC"/>
                        <a:cs typeface="Noto Sans CJK SC"/>
                      </a:endParaRPr>
                    </a:p>
                  </a:txBody>
                  <a:tcPr marR="73152" marT="27432" marB="27432" anchor="ctr">
                    <a:solidFill>
                      <a:srgbClr val="FFFFFF"/>
                    </a:solidFill>
                  </a:tcPr>
                </a:tc>
                <a:tc>
                  <a:txBody>
                    <a:bodyPr/>
                    <a:lstStyle/>
                    <a:p>
                      <a:pPr algn="l"/>
                      <a:r>
                        <a:rPr lang="zh-CN" altLang="en-US" sz="1050" b="0" i="0" dirty="0">
                          <a:solidFill>
                            <a:srgbClr val="2A3242"/>
                          </a:solidFill>
                          <a:latin typeface="Noto Sans CJK SC"/>
                          <a:ea typeface="Noto Sans CJK SC"/>
                          <a:cs typeface="Noto Sans CJK SC"/>
                        </a:rPr>
                        <a:t>联合创始人</a:t>
                      </a:r>
                      <a:endParaRPr sz="1050" b="0" i="0" dirty="0">
                        <a:solidFill>
                          <a:srgbClr val="2A3242"/>
                        </a:solidFill>
                        <a:latin typeface="Noto Sans CJK SC"/>
                        <a:ea typeface="Noto Sans CJK SC"/>
                        <a:cs typeface="Noto Sans CJK SC"/>
                      </a:endParaRPr>
                    </a:p>
                  </a:txBody>
                  <a:tcPr marR="73152" marT="27432" marB="27432" anchor="ctr">
                    <a:solidFill>
                      <a:srgbClr val="FFFFFF"/>
                    </a:solidFill>
                  </a:tcPr>
                </a:tc>
                <a:tc>
                  <a:txBody>
                    <a:bodyPr/>
                    <a:lstStyle/>
                    <a:p>
                      <a:r>
                        <a:rPr lang="zh-CN" altLang="en-US" sz="1050" b="0" i="0" dirty="0">
                          <a:solidFill>
                            <a:srgbClr val="2A3242"/>
                          </a:solidFill>
                          <a:latin typeface="Noto Sans CJK SC"/>
                          <a:ea typeface="Noto Sans CJK SC"/>
                          <a:cs typeface="Noto Sans CJK SC"/>
                        </a:rPr>
                        <a:t>南大学士、原子能院博士；KOGUN分布式算力架构师；</a:t>
                      </a:r>
                      <a:r>
                        <a:rPr lang="en-US" altLang="zh-CN" sz="1050" b="0" i="0" dirty="0">
                          <a:solidFill>
                            <a:srgbClr val="2A3242"/>
                          </a:solidFill>
                          <a:latin typeface="Noto Sans CJK SC"/>
                          <a:ea typeface="Noto Sans CJK SC"/>
                          <a:cs typeface="Noto Sans CJK SC"/>
                        </a:rPr>
                        <a:t>AI</a:t>
                      </a:r>
                      <a:r>
                        <a:rPr lang="zh-CN" altLang="en-US" sz="1050" b="0" i="0" dirty="0">
                          <a:solidFill>
                            <a:srgbClr val="2A3242"/>
                          </a:solidFill>
                          <a:latin typeface="Noto Sans CJK SC"/>
                          <a:ea typeface="Noto Sans CJK SC"/>
                          <a:cs typeface="Noto Sans CJK SC"/>
                        </a:rPr>
                        <a:t>算力专家，第四代先进模块堆电力及供热技术系统设计专家</a:t>
                      </a:r>
                    </a:p>
                  </a:txBody>
                  <a:tcPr marR="73152" marT="27432" marB="27432" anchor="ctr">
                    <a:solidFill>
                      <a:srgbClr val="FFFFFF"/>
                    </a:solidFill>
                  </a:tcPr>
                </a:tc>
                <a:extLst>
                  <a:ext uri="{0D108BD9-81ED-4DB2-BD59-A6C34878D82A}">
                    <a16:rowId xmlns:a16="http://schemas.microsoft.com/office/drawing/2014/main" val="10004"/>
                  </a:ext>
                </a:extLst>
              </a:tr>
              <a:tr h="621792">
                <a:tc>
                  <a:txBody>
                    <a:bodyPr/>
                    <a:lstStyle/>
                    <a:p>
                      <a:pPr algn="l"/>
                      <a:r>
                        <a:rPr sz="1050" b="1" i="0">
                          <a:solidFill>
                            <a:srgbClr val="1B2A4A"/>
                          </a:solidFill>
                          <a:latin typeface="Noto Sans CJK SC"/>
                          <a:ea typeface="Noto Sans CJK SC"/>
                          <a:cs typeface="Noto Sans CJK SC"/>
                        </a:rPr>
                        <a:t>Jay Kaplowitz</a:t>
                      </a:r>
                    </a:p>
                  </a:txBody>
                  <a:tcPr marR="73152" marT="27432" marB="27432" anchor="ctr">
                    <a:solidFill>
                      <a:srgbClr val="F2F5FA"/>
                    </a:solidFill>
                  </a:tcPr>
                </a:tc>
                <a:tc>
                  <a:txBody>
                    <a:bodyPr/>
                    <a:lstStyle/>
                    <a:p>
                      <a:pPr algn="l"/>
                      <a:r>
                        <a:rPr sz="1050" b="0" i="0">
                          <a:solidFill>
                            <a:srgbClr val="2A3242"/>
                          </a:solidFill>
                          <a:latin typeface="Noto Sans CJK SC"/>
                          <a:ea typeface="Noto Sans CJK SC"/>
                          <a:cs typeface="Noto Sans CJK SC"/>
                        </a:rPr>
                        <a:t>法律顾问</a:t>
                      </a:r>
                    </a:p>
                  </a:txBody>
                  <a:tcPr marR="73152" marT="27432" marB="27432" anchor="ctr">
                    <a:solidFill>
                      <a:srgbClr val="F2F5FA"/>
                    </a:solidFill>
                  </a:tcPr>
                </a:tc>
                <a:tc>
                  <a:txBody>
                    <a:bodyPr/>
                    <a:lstStyle/>
                    <a:p>
                      <a:pPr algn="l"/>
                      <a:r>
                        <a:rPr sz="1050" b="0" i="0" dirty="0">
                          <a:solidFill>
                            <a:srgbClr val="2A3242"/>
                          </a:solidFill>
                          <a:latin typeface="Noto Sans CJK SC"/>
                          <a:ea typeface="Noto Sans CJK SC"/>
                          <a:cs typeface="Noto Sans CJK SC"/>
                        </a:rPr>
                        <a:t>波士顿大学J.D.；</a:t>
                      </a:r>
                      <a:r>
                        <a:rPr sz="1050" b="0" i="0" dirty="0" err="1">
                          <a:solidFill>
                            <a:srgbClr val="2A3242"/>
                          </a:solidFill>
                          <a:latin typeface="Noto Sans CJK SC"/>
                          <a:ea typeface="Noto Sans CJK SC"/>
                          <a:cs typeface="Noto Sans CJK SC"/>
                        </a:rPr>
                        <a:t>擅长公司融资、SEC披露、公司治理与公开发行</a:t>
                      </a:r>
                      <a:endParaRPr sz="1050" b="0" i="0" dirty="0">
                        <a:solidFill>
                          <a:srgbClr val="2A3242"/>
                        </a:solidFill>
                        <a:latin typeface="Noto Sans CJK SC"/>
                        <a:ea typeface="Noto Sans CJK SC"/>
                        <a:cs typeface="Noto Sans CJK SC"/>
                      </a:endParaRPr>
                    </a:p>
                  </a:txBody>
                  <a:tcPr marR="73152" marT="27432" marB="27432" anchor="ctr">
                    <a:solidFill>
                      <a:srgbClr val="F2F5FA"/>
                    </a:solidFill>
                  </a:tcPr>
                </a:tc>
                <a:extLst>
                  <a:ext uri="{0D108BD9-81ED-4DB2-BD59-A6C34878D82A}">
                    <a16:rowId xmlns:a16="http://schemas.microsoft.com/office/drawing/2014/main" val="10005"/>
                  </a:ext>
                </a:extLst>
              </a:tr>
            </a:tbl>
          </a:graphicData>
        </a:graphic>
      </p:graphicFrame>
      <p:sp>
        <p:nvSpPr>
          <p:cNvPr id="17" name="Rounded Rectangle 16"/>
          <p:cNvSpPr/>
          <p:nvPr/>
        </p:nvSpPr>
        <p:spPr>
          <a:xfrm>
            <a:off x="4937760" y="5705856"/>
            <a:ext cx="6702552" cy="548640"/>
          </a:xfrm>
          <a:prstGeom prst="roundRect">
            <a:avLst>
              <a:gd name="adj" fmla="val 10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38928" y="5705856"/>
            <a:ext cx="6400800" cy="548640"/>
          </a:xfrm>
          <a:prstGeom prst="rect">
            <a:avLst/>
          </a:prstGeom>
          <a:noFill/>
        </p:spPr>
        <p:txBody>
          <a:bodyPr wrap="square" lIns="0" tIns="0" rIns="0" bIns="0" anchor="ctr">
            <a:spAutoFit/>
          </a:bodyPr>
          <a:lstStyle/>
          <a:p>
            <a:pPr algn="l">
              <a:lnSpc>
                <a:spcPct val="112000"/>
              </a:lnSpc>
            </a:pPr>
            <a:r>
              <a:rPr sz="1050" b="1" i="0">
                <a:solidFill>
                  <a:srgbClr val="9A7B14"/>
                </a:solidFill>
                <a:latin typeface="Noto Sans CJK SC"/>
                <a:ea typeface="Noto Sans CJK SC"/>
                <a:cs typeface="Noto Sans CJK SC"/>
              </a:rPr>
              <a:t>合规顾问：</a:t>
            </a:r>
            <a:r>
              <a:rPr sz="1050" b="0" i="0">
                <a:solidFill>
                  <a:srgbClr val="2A3242"/>
                </a:solidFill>
                <a:latin typeface="Noto Sans CJK SC"/>
                <a:ea typeface="Noto Sans CJK SC"/>
                <a:cs typeface="Noto Sans CJK SC"/>
              </a:rPr>
              <a:t>纽约SRFK律所（Sichenzia Ross Ference Kesner），自2015年起提供证券合规顾问</a:t>
            </a:r>
          </a:p>
        </p:txBody>
      </p:sp>
      <p:sp>
        <p:nvSpPr>
          <p:cNvPr id="19" name="TextBox 18"/>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20" name="TextBox 19"/>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194925"/>
          </a:xfrm>
          <a:prstGeom prst="rect">
            <a:avLst/>
          </a:prstGeom>
          <a:noFill/>
        </p:spPr>
        <p:txBody>
          <a:bodyPr wrap="square" lIns="0" tIns="0" rIns="0" bIns="0" anchor="t">
            <a:spAutoFit/>
          </a:bodyPr>
          <a:lstStyle/>
          <a:p>
            <a:pPr>
              <a:lnSpc>
                <a:spcPct val="112000"/>
              </a:lnSpc>
            </a:pPr>
            <a:r>
              <a:rPr lang="en-US" altLang="zh-CN" sz="1200" b="1" dirty="0">
                <a:solidFill>
                  <a:srgbClr val="9A7B14"/>
                </a:solidFill>
                <a:latin typeface="Noto Sans CJK SC"/>
                <a:ea typeface="Noto Sans CJK SC"/>
                <a:cs typeface="Noto Sans CJK SC"/>
              </a:rPr>
              <a:t>02 </a:t>
            </a:r>
            <a:r>
              <a:rPr lang="zh-CN" altLang="en-US" sz="1200" b="1" dirty="0">
                <a:solidFill>
                  <a:srgbClr val="9A7B14"/>
                </a:solidFill>
                <a:latin typeface="Noto Sans CJK SC"/>
                <a:ea typeface="Noto Sans CJK SC"/>
                <a:cs typeface="Noto Sans CJK SC"/>
              </a:rPr>
              <a:t>联盟介绍 </a:t>
            </a:r>
            <a:r>
              <a:rPr lang="en-US" altLang="zh-CN" sz="1200" b="1" dirty="0">
                <a:solidFill>
                  <a:srgbClr val="9A7B14"/>
                </a:solidFill>
                <a:latin typeface="Noto Sans CJK SC"/>
                <a:ea typeface="Noto Sans CJK SC"/>
                <a:cs typeface="Noto Sans CJK SC"/>
              </a:rPr>
              <a:t>· </a:t>
            </a:r>
            <a:r>
              <a:rPr lang="en-US" sz="1200" b="1" dirty="0">
                <a:solidFill>
                  <a:srgbClr val="9A7B14"/>
                </a:solidFill>
                <a:latin typeface="Noto Sans CJK SC"/>
                <a:ea typeface="Noto Sans CJK SC"/>
                <a:cs typeface="Noto Sans CJK SC"/>
              </a:rPr>
              <a:t>THE ALLIANCE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商业模式：平台 + 服务 + 资管三轮驱动</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Business Model: Platform, Services &amp; Asset Management</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783080"/>
            <a:ext cx="5486400" cy="320040"/>
          </a:xfrm>
          <a:prstGeom prst="rect">
            <a:avLst/>
          </a:prstGeom>
          <a:noFill/>
        </p:spPr>
        <p:txBody>
          <a:bodyPr wrap="square" lIns="0" tIns="0" rIns="0" bIns="0" anchor="t">
            <a:spAutoFit/>
          </a:bodyPr>
          <a:lstStyle/>
          <a:p>
            <a:pPr algn="l">
              <a:lnSpc>
                <a:spcPct val="112000"/>
              </a:lnSpc>
            </a:pPr>
            <a:r>
              <a:rPr sz="1400" b="1" i="0">
                <a:solidFill>
                  <a:srgbClr val="1B2A4A"/>
                </a:solidFill>
                <a:latin typeface="Noto Sans CJK SC"/>
                <a:ea typeface="Noto Sans CJK SC"/>
                <a:cs typeface="Noto Sans CJK SC"/>
              </a:rPr>
              <a:t>五大收入流  Revenue Streams</a:t>
            </a:r>
          </a:p>
        </p:txBody>
      </p:sp>
      <p:sp>
        <p:nvSpPr>
          <p:cNvPr id="8" name="Rounded Rectangle 7"/>
          <p:cNvSpPr/>
          <p:nvPr/>
        </p:nvSpPr>
        <p:spPr>
          <a:xfrm>
            <a:off x="548640" y="2176272"/>
            <a:ext cx="5486400" cy="731520"/>
          </a:xfrm>
          <a:prstGeom prst="roundRect">
            <a:avLst>
              <a:gd name="adj" fmla="val 12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13232" y="2313432"/>
            <a:ext cx="457200" cy="457200"/>
          </a:xfrm>
          <a:prstGeom prst="roundRect">
            <a:avLst>
              <a:gd name="adj" fmla="val 3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313432"/>
            <a:ext cx="457200" cy="457200"/>
          </a:xfrm>
          <a:prstGeom prst="rect">
            <a:avLst/>
          </a:prstGeom>
          <a:noFill/>
        </p:spPr>
        <p:txBody>
          <a:bodyPr wrap="square" lIns="0" tIns="0" rIns="0" bIns="0" anchor="ctr">
            <a:spAutoFit/>
          </a:bodyPr>
          <a:lstStyle/>
          <a:p>
            <a:pPr algn="ctr">
              <a:lnSpc>
                <a:spcPct val="112000"/>
              </a:lnSpc>
            </a:pPr>
            <a:r>
              <a:rPr sz="1200" b="1" i="0">
                <a:solidFill>
                  <a:srgbClr val="E3C55C"/>
                </a:solidFill>
                <a:latin typeface="Noto Sans CJK SC"/>
                <a:ea typeface="Noto Sans CJK SC"/>
                <a:cs typeface="Noto Sans CJK SC"/>
              </a:rPr>
              <a:t>01</a:t>
            </a:r>
          </a:p>
        </p:txBody>
      </p:sp>
      <p:sp>
        <p:nvSpPr>
          <p:cNvPr id="11" name="TextBox 10"/>
          <p:cNvSpPr txBox="1"/>
          <p:nvPr/>
        </p:nvSpPr>
        <p:spPr>
          <a:xfrm>
            <a:off x="1353312" y="2286000"/>
            <a:ext cx="4572000" cy="292608"/>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平台订阅 / 会员费</a:t>
            </a:r>
          </a:p>
        </p:txBody>
      </p:sp>
      <p:sp>
        <p:nvSpPr>
          <p:cNvPr id="12" name="TextBox 11"/>
          <p:cNvSpPr txBox="1"/>
          <p:nvPr/>
        </p:nvSpPr>
        <p:spPr>
          <a:xfrm>
            <a:off x="1353312" y="2578608"/>
            <a:ext cx="4572000" cy="274320"/>
          </a:xfrm>
          <a:prstGeom prst="rect">
            <a:avLst/>
          </a:prstGeom>
          <a:noFill/>
        </p:spPr>
        <p:txBody>
          <a:bodyPr wrap="square" lIns="0" tIns="0" rIns="0" bIns="0" anchor="t">
            <a:spAutoFit/>
          </a:bodyPr>
          <a:lstStyle/>
          <a:p>
            <a:pPr algn="l">
              <a:lnSpc>
                <a:spcPct val="112000"/>
              </a:lnSpc>
            </a:pPr>
            <a:r>
              <a:rPr sz="1000" b="0" i="0">
                <a:solidFill>
                  <a:srgbClr val="6B7688"/>
                </a:solidFill>
                <a:latin typeface="Noto Sans CJK SC"/>
                <a:ea typeface="Noto Sans CJK SC"/>
                <a:cs typeface="Noto Sans CJK SC"/>
              </a:rPr>
              <a:t>VIX分析、风险分析、策略工具按月/年订阅</a:t>
            </a:r>
          </a:p>
        </p:txBody>
      </p:sp>
      <p:sp>
        <p:nvSpPr>
          <p:cNvPr id="13" name="Rounded Rectangle 12"/>
          <p:cNvSpPr/>
          <p:nvPr/>
        </p:nvSpPr>
        <p:spPr>
          <a:xfrm>
            <a:off x="548640" y="3017520"/>
            <a:ext cx="5486400" cy="731520"/>
          </a:xfrm>
          <a:prstGeom prst="roundRect">
            <a:avLst>
              <a:gd name="adj" fmla="val 12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13232" y="3154679"/>
            <a:ext cx="457200" cy="457200"/>
          </a:xfrm>
          <a:prstGeom prst="roundRect">
            <a:avLst>
              <a:gd name="adj" fmla="val 3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3154679"/>
            <a:ext cx="457200" cy="457200"/>
          </a:xfrm>
          <a:prstGeom prst="rect">
            <a:avLst/>
          </a:prstGeom>
          <a:noFill/>
        </p:spPr>
        <p:txBody>
          <a:bodyPr wrap="square" lIns="0" tIns="0" rIns="0" bIns="0" anchor="ctr">
            <a:spAutoFit/>
          </a:bodyPr>
          <a:lstStyle/>
          <a:p>
            <a:pPr algn="ctr">
              <a:lnSpc>
                <a:spcPct val="112000"/>
              </a:lnSpc>
            </a:pPr>
            <a:r>
              <a:rPr sz="1200" b="1" i="0">
                <a:solidFill>
                  <a:srgbClr val="E3C55C"/>
                </a:solidFill>
                <a:latin typeface="Noto Sans CJK SC"/>
                <a:ea typeface="Noto Sans CJK SC"/>
                <a:cs typeface="Noto Sans CJK SC"/>
              </a:rPr>
              <a:t>02</a:t>
            </a:r>
          </a:p>
        </p:txBody>
      </p:sp>
      <p:sp>
        <p:nvSpPr>
          <p:cNvPr id="16" name="TextBox 15"/>
          <p:cNvSpPr txBox="1"/>
          <p:nvPr/>
        </p:nvSpPr>
        <p:spPr>
          <a:xfrm>
            <a:off x="1353312" y="3127248"/>
            <a:ext cx="4572000" cy="292608"/>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交易信号与投顾服务费</a:t>
            </a:r>
          </a:p>
        </p:txBody>
      </p:sp>
      <p:sp>
        <p:nvSpPr>
          <p:cNvPr id="17" name="TextBox 16"/>
          <p:cNvSpPr txBox="1"/>
          <p:nvPr/>
        </p:nvSpPr>
        <p:spPr>
          <a:xfrm>
            <a:off x="1353312" y="3419856"/>
            <a:ext cx="4572000" cy="274320"/>
          </a:xfrm>
          <a:prstGeom prst="rect">
            <a:avLst/>
          </a:prstGeom>
          <a:noFill/>
        </p:spPr>
        <p:txBody>
          <a:bodyPr wrap="square" lIns="0" tIns="0" rIns="0" bIns="0" anchor="t">
            <a:spAutoFit/>
          </a:bodyPr>
          <a:lstStyle/>
          <a:p>
            <a:pPr algn="l">
              <a:lnSpc>
                <a:spcPct val="112000"/>
              </a:lnSpc>
            </a:pPr>
            <a:r>
              <a:rPr sz="1000" b="0" i="0">
                <a:solidFill>
                  <a:srgbClr val="6B7688"/>
                </a:solidFill>
                <a:latin typeface="Noto Sans CJK SC"/>
                <a:ea typeface="Noto Sans CJK SC"/>
                <a:cs typeface="Noto Sans CJK SC"/>
              </a:rPr>
              <a:t>模型信号订阅与合规框架内投顾服务</a:t>
            </a:r>
          </a:p>
        </p:txBody>
      </p:sp>
      <p:sp>
        <p:nvSpPr>
          <p:cNvPr id="18" name="Rounded Rectangle 17"/>
          <p:cNvSpPr/>
          <p:nvPr/>
        </p:nvSpPr>
        <p:spPr>
          <a:xfrm>
            <a:off x="548640" y="3858768"/>
            <a:ext cx="5486400" cy="731520"/>
          </a:xfrm>
          <a:prstGeom prst="roundRect">
            <a:avLst>
              <a:gd name="adj" fmla="val 12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13232" y="3995928"/>
            <a:ext cx="457200" cy="457200"/>
          </a:xfrm>
          <a:prstGeom prst="roundRect">
            <a:avLst>
              <a:gd name="adj" fmla="val 3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995928"/>
            <a:ext cx="457200" cy="457200"/>
          </a:xfrm>
          <a:prstGeom prst="rect">
            <a:avLst/>
          </a:prstGeom>
          <a:noFill/>
        </p:spPr>
        <p:txBody>
          <a:bodyPr wrap="square" lIns="0" tIns="0" rIns="0" bIns="0" anchor="ctr">
            <a:spAutoFit/>
          </a:bodyPr>
          <a:lstStyle/>
          <a:p>
            <a:pPr algn="ctr">
              <a:lnSpc>
                <a:spcPct val="112000"/>
              </a:lnSpc>
            </a:pPr>
            <a:r>
              <a:rPr sz="1200" b="1" i="0">
                <a:solidFill>
                  <a:srgbClr val="E3C55C"/>
                </a:solidFill>
                <a:latin typeface="Noto Sans CJK SC"/>
                <a:ea typeface="Noto Sans CJK SC"/>
                <a:cs typeface="Noto Sans CJK SC"/>
              </a:rPr>
              <a:t>03</a:t>
            </a:r>
          </a:p>
        </p:txBody>
      </p:sp>
      <p:sp>
        <p:nvSpPr>
          <p:cNvPr id="21" name="TextBox 20"/>
          <p:cNvSpPr txBox="1"/>
          <p:nvPr/>
        </p:nvSpPr>
        <p:spPr>
          <a:xfrm>
            <a:off x="1353312" y="3968496"/>
            <a:ext cx="4572000" cy="292608"/>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投资者教育课程</a:t>
            </a:r>
          </a:p>
        </p:txBody>
      </p:sp>
      <p:sp>
        <p:nvSpPr>
          <p:cNvPr id="22" name="TextBox 21"/>
          <p:cNvSpPr txBox="1"/>
          <p:nvPr/>
        </p:nvSpPr>
        <p:spPr>
          <a:xfrm>
            <a:off x="1353312" y="4261104"/>
            <a:ext cx="4572000" cy="274320"/>
          </a:xfrm>
          <a:prstGeom prst="rect">
            <a:avLst/>
          </a:prstGeom>
          <a:noFill/>
        </p:spPr>
        <p:txBody>
          <a:bodyPr wrap="square" lIns="0" tIns="0" rIns="0" bIns="0" anchor="t">
            <a:spAutoFit/>
          </a:bodyPr>
          <a:lstStyle/>
          <a:p>
            <a:pPr algn="l">
              <a:lnSpc>
                <a:spcPct val="112000"/>
              </a:lnSpc>
            </a:pPr>
            <a:r>
              <a:rPr sz="1000" b="0" i="0">
                <a:solidFill>
                  <a:srgbClr val="6B7688"/>
                </a:solidFill>
                <a:latin typeface="Noto Sans CJK SC"/>
                <a:ea typeface="Noto Sans CJK SC"/>
                <a:cs typeface="Noto Sans CJK SC"/>
              </a:rPr>
              <a:t>量化与AI投研体系化培训</a:t>
            </a:r>
          </a:p>
        </p:txBody>
      </p:sp>
      <p:sp>
        <p:nvSpPr>
          <p:cNvPr id="23" name="Rounded Rectangle 22"/>
          <p:cNvSpPr/>
          <p:nvPr/>
        </p:nvSpPr>
        <p:spPr>
          <a:xfrm>
            <a:off x="548640" y="4700016"/>
            <a:ext cx="5486400" cy="731520"/>
          </a:xfrm>
          <a:prstGeom prst="roundRect">
            <a:avLst>
              <a:gd name="adj" fmla="val 12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13232" y="4837176"/>
            <a:ext cx="457200" cy="457200"/>
          </a:xfrm>
          <a:prstGeom prst="roundRect">
            <a:avLst>
              <a:gd name="adj" fmla="val 3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837176"/>
            <a:ext cx="457200" cy="457200"/>
          </a:xfrm>
          <a:prstGeom prst="rect">
            <a:avLst/>
          </a:prstGeom>
          <a:noFill/>
        </p:spPr>
        <p:txBody>
          <a:bodyPr wrap="square" lIns="0" tIns="0" rIns="0" bIns="0" anchor="ctr">
            <a:spAutoFit/>
          </a:bodyPr>
          <a:lstStyle/>
          <a:p>
            <a:pPr algn="ctr">
              <a:lnSpc>
                <a:spcPct val="112000"/>
              </a:lnSpc>
            </a:pPr>
            <a:r>
              <a:rPr sz="1200" b="1" i="0">
                <a:solidFill>
                  <a:srgbClr val="E3C55C"/>
                </a:solidFill>
                <a:latin typeface="Noto Sans CJK SC"/>
                <a:ea typeface="Noto Sans CJK SC"/>
                <a:cs typeface="Noto Sans CJK SC"/>
              </a:rPr>
              <a:t>04</a:t>
            </a:r>
          </a:p>
        </p:txBody>
      </p:sp>
      <p:sp>
        <p:nvSpPr>
          <p:cNvPr id="26" name="TextBox 25"/>
          <p:cNvSpPr txBox="1"/>
          <p:nvPr/>
        </p:nvSpPr>
        <p:spPr>
          <a:xfrm>
            <a:off x="1353312" y="4809744"/>
            <a:ext cx="4572000" cy="292608"/>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资产管理费</a:t>
            </a:r>
          </a:p>
        </p:txBody>
      </p:sp>
      <p:sp>
        <p:nvSpPr>
          <p:cNvPr id="27" name="TextBox 26"/>
          <p:cNvSpPr txBox="1"/>
          <p:nvPr/>
        </p:nvSpPr>
        <p:spPr>
          <a:xfrm>
            <a:off x="1353312" y="5102352"/>
            <a:ext cx="4572000" cy="274320"/>
          </a:xfrm>
          <a:prstGeom prst="rect">
            <a:avLst/>
          </a:prstGeom>
          <a:noFill/>
        </p:spPr>
        <p:txBody>
          <a:bodyPr wrap="square" lIns="0" tIns="0" rIns="0" bIns="0" anchor="t">
            <a:spAutoFit/>
          </a:bodyPr>
          <a:lstStyle/>
          <a:p>
            <a:pPr algn="l">
              <a:lnSpc>
                <a:spcPct val="112000"/>
              </a:lnSpc>
            </a:pPr>
            <a:r>
              <a:rPr sz="1000" b="0" i="0">
                <a:solidFill>
                  <a:srgbClr val="6B7688"/>
                </a:solidFill>
                <a:latin typeface="Noto Sans CJK SC"/>
                <a:ea typeface="Noto Sans CJK SC"/>
                <a:cs typeface="Noto Sans CJK SC"/>
              </a:rPr>
              <a:t>按AUM计提的管理型/投顾型费用</a:t>
            </a:r>
          </a:p>
        </p:txBody>
      </p:sp>
      <p:sp>
        <p:nvSpPr>
          <p:cNvPr id="28" name="Rounded Rectangle 27"/>
          <p:cNvSpPr/>
          <p:nvPr/>
        </p:nvSpPr>
        <p:spPr>
          <a:xfrm>
            <a:off x="548640" y="5541264"/>
            <a:ext cx="5486400" cy="731520"/>
          </a:xfrm>
          <a:prstGeom prst="roundRect">
            <a:avLst>
              <a:gd name="adj" fmla="val 12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13232" y="5678424"/>
            <a:ext cx="457200" cy="457200"/>
          </a:xfrm>
          <a:prstGeom prst="roundRect">
            <a:avLst>
              <a:gd name="adj" fmla="val 3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5678424"/>
            <a:ext cx="457200" cy="457200"/>
          </a:xfrm>
          <a:prstGeom prst="rect">
            <a:avLst/>
          </a:prstGeom>
          <a:noFill/>
        </p:spPr>
        <p:txBody>
          <a:bodyPr wrap="square" lIns="0" tIns="0" rIns="0" bIns="0" anchor="ctr">
            <a:spAutoFit/>
          </a:bodyPr>
          <a:lstStyle/>
          <a:p>
            <a:pPr algn="ctr">
              <a:lnSpc>
                <a:spcPct val="112000"/>
              </a:lnSpc>
            </a:pPr>
            <a:r>
              <a:rPr sz="1200" b="1" i="0">
                <a:solidFill>
                  <a:srgbClr val="E3C55C"/>
                </a:solidFill>
                <a:latin typeface="Noto Sans CJK SC"/>
                <a:ea typeface="Noto Sans CJK SC"/>
                <a:cs typeface="Noto Sans CJK SC"/>
              </a:rPr>
              <a:t>05</a:t>
            </a:r>
          </a:p>
        </p:txBody>
      </p:sp>
      <p:sp>
        <p:nvSpPr>
          <p:cNvPr id="31" name="TextBox 30"/>
          <p:cNvSpPr txBox="1"/>
          <p:nvPr/>
        </p:nvSpPr>
        <p:spPr>
          <a:xfrm>
            <a:off x="1353312" y="5650992"/>
            <a:ext cx="4572000" cy="292608"/>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机构API / 数据服务</a:t>
            </a:r>
          </a:p>
        </p:txBody>
      </p:sp>
      <p:sp>
        <p:nvSpPr>
          <p:cNvPr id="32" name="TextBox 31"/>
          <p:cNvSpPr txBox="1"/>
          <p:nvPr/>
        </p:nvSpPr>
        <p:spPr>
          <a:xfrm>
            <a:off x="1353312" y="5943600"/>
            <a:ext cx="4572000" cy="274320"/>
          </a:xfrm>
          <a:prstGeom prst="rect">
            <a:avLst/>
          </a:prstGeom>
          <a:noFill/>
        </p:spPr>
        <p:txBody>
          <a:bodyPr wrap="square" lIns="0" tIns="0" rIns="0" bIns="0" anchor="t">
            <a:spAutoFit/>
          </a:bodyPr>
          <a:lstStyle/>
          <a:p>
            <a:pPr algn="l">
              <a:lnSpc>
                <a:spcPct val="112000"/>
              </a:lnSpc>
            </a:pPr>
            <a:r>
              <a:rPr sz="1000" b="0" i="0">
                <a:solidFill>
                  <a:srgbClr val="6B7688"/>
                </a:solidFill>
                <a:latin typeface="Noto Sans CJK SC"/>
                <a:ea typeface="Noto Sans CJK SC"/>
                <a:cs typeface="Noto Sans CJK SC"/>
              </a:rPr>
              <a:t>模型API与量化数据接口开放</a:t>
            </a:r>
          </a:p>
        </p:txBody>
      </p:sp>
      <p:sp>
        <p:nvSpPr>
          <p:cNvPr id="33" name="TextBox 32"/>
          <p:cNvSpPr txBox="1"/>
          <p:nvPr/>
        </p:nvSpPr>
        <p:spPr>
          <a:xfrm>
            <a:off x="6400800" y="1783080"/>
            <a:ext cx="5212080" cy="320040"/>
          </a:xfrm>
          <a:prstGeom prst="rect">
            <a:avLst/>
          </a:prstGeom>
          <a:noFill/>
        </p:spPr>
        <p:txBody>
          <a:bodyPr wrap="square" lIns="0" tIns="0" rIns="0" bIns="0" anchor="t">
            <a:spAutoFit/>
          </a:bodyPr>
          <a:lstStyle/>
          <a:p>
            <a:pPr algn="l">
              <a:lnSpc>
                <a:spcPct val="112000"/>
              </a:lnSpc>
            </a:pPr>
            <a:r>
              <a:rPr sz="1400" b="1" i="0">
                <a:solidFill>
                  <a:srgbClr val="1B2A4A"/>
                </a:solidFill>
                <a:latin typeface="Noto Sans CJK SC"/>
                <a:ea typeface="Noto Sans CJK SC"/>
                <a:cs typeface="Noto Sans CJK SC"/>
              </a:rPr>
              <a:t>五类目标客户  Target Clients</a:t>
            </a:r>
          </a:p>
        </p:txBody>
      </p:sp>
      <p:sp>
        <p:nvSpPr>
          <p:cNvPr id="34" name="Rounded Rectangle 33"/>
          <p:cNvSpPr/>
          <p:nvPr/>
        </p:nvSpPr>
        <p:spPr>
          <a:xfrm>
            <a:off x="6400800" y="2176272"/>
            <a:ext cx="5239512" cy="731520"/>
          </a:xfrm>
          <a:prstGeom prst="roundRect">
            <a:avLst>
              <a:gd name="adj" fmla="val 12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38544" y="2286000"/>
            <a:ext cx="4846320" cy="292608"/>
          </a:xfrm>
          <a:prstGeom prst="rect">
            <a:avLst/>
          </a:prstGeom>
          <a:noFill/>
        </p:spPr>
        <p:txBody>
          <a:bodyPr wrap="square" lIns="0" tIns="0" rIns="0" bIns="0" anchor="t">
            <a:spAutoFit/>
          </a:bodyPr>
          <a:lstStyle/>
          <a:p>
            <a:pPr algn="l">
              <a:lnSpc>
                <a:spcPct val="112000"/>
              </a:lnSpc>
            </a:pPr>
            <a:r>
              <a:rPr sz="1250" b="1" i="0">
                <a:solidFill>
                  <a:srgbClr val="2C4A7C"/>
                </a:solidFill>
                <a:latin typeface="Noto Sans CJK SC"/>
                <a:ea typeface="Noto Sans CJK SC"/>
                <a:cs typeface="Noto Sans CJK SC"/>
              </a:rPr>
              <a:t>个人活跃投资者与日内交易员</a:t>
            </a:r>
          </a:p>
        </p:txBody>
      </p:sp>
      <p:sp>
        <p:nvSpPr>
          <p:cNvPr id="36" name="TextBox 35"/>
          <p:cNvSpPr txBox="1"/>
          <p:nvPr/>
        </p:nvSpPr>
        <p:spPr>
          <a:xfrm>
            <a:off x="6638544" y="2578608"/>
            <a:ext cx="4846320" cy="274320"/>
          </a:xfrm>
          <a:prstGeom prst="rect">
            <a:avLst/>
          </a:prstGeom>
          <a:noFill/>
        </p:spPr>
        <p:txBody>
          <a:bodyPr wrap="square" lIns="0" tIns="0" rIns="0" bIns="0" anchor="t">
            <a:spAutoFit/>
          </a:bodyPr>
          <a:lstStyle/>
          <a:p>
            <a:pPr algn="l">
              <a:lnSpc>
                <a:spcPct val="112000"/>
              </a:lnSpc>
            </a:pPr>
            <a:r>
              <a:rPr sz="1000" b="0" i="0">
                <a:solidFill>
                  <a:srgbClr val="2A3242"/>
                </a:solidFill>
                <a:latin typeface="Noto Sans CJK SC"/>
                <a:ea typeface="Noto Sans CJK SC"/>
                <a:cs typeface="Noto Sans CJK SC"/>
              </a:rPr>
              <a:t>量化工具与信号服务的主力付费人群</a:t>
            </a:r>
          </a:p>
        </p:txBody>
      </p:sp>
      <p:sp>
        <p:nvSpPr>
          <p:cNvPr id="37" name="Rounded Rectangle 36"/>
          <p:cNvSpPr/>
          <p:nvPr/>
        </p:nvSpPr>
        <p:spPr>
          <a:xfrm>
            <a:off x="6400800" y="3017520"/>
            <a:ext cx="5239512" cy="731520"/>
          </a:xfrm>
          <a:prstGeom prst="roundRect">
            <a:avLst>
              <a:gd name="adj" fmla="val 12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38544" y="3127248"/>
            <a:ext cx="4846320" cy="292608"/>
          </a:xfrm>
          <a:prstGeom prst="rect">
            <a:avLst/>
          </a:prstGeom>
          <a:noFill/>
        </p:spPr>
        <p:txBody>
          <a:bodyPr wrap="square" lIns="0" tIns="0" rIns="0" bIns="0" anchor="t">
            <a:spAutoFit/>
          </a:bodyPr>
          <a:lstStyle/>
          <a:p>
            <a:pPr algn="l">
              <a:lnSpc>
                <a:spcPct val="112000"/>
              </a:lnSpc>
            </a:pPr>
            <a:r>
              <a:rPr sz="1250" b="1" i="0">
                <a:solidFill>
                  <a:srgbClr val="2C4A7C"/>
                </a:solidFill>
                <a:latin typeface="Noto Sans CJK SC"/>
                <a:ea typeface="Noto Sans CJK SC"/>
                <a:cs typeface="Noto Sans CJK SC"/>
              </a:rPr>
              <a:t>高净值客户与家族办公室</a:t>
            </a:r>
          </a:p>
        </p:txBody>
      </p:sp>
      <p:sp>
        <p:nvSpPr>
          <p:cNvPr id="39" name="TextBox 38"/>
          <p:cNvSpPr txBox="1"/>
          <p:nvPr/>
        </p:nvSpPr>
        <p:spPr>
          <a:xfrm>
            <a:off x="6638544" y="3419856"/>
            <a:ext cx="4846320" cy="274320"/>
          </a:xfrm>
          <a:prstGeom prst="rect">
            <a:avLst/>
          </a:prstGeom>
          <a:noFill/>
        </p:spPr>
        <p:txBody>
          <a:bodyPr wrap="square" lIns="0" tIns="0" rIns="0" bIns="0" anchor="t">
            <a:spAutoFit/>
          </a:bodyPr>
          <a:lstStyle/>
          <a:p>
            <a:pPr algn="l">
              <a:lnSpc>
                <a:spcPct val="112000"/>
              </a:lnSpc>
            </a:pPr>
            <a:r>
              <a:rPr sz="1000" b="0" i="0">
                <a:solidFill>
                  <a:srgbClr val="2A3242"/>
                </a:solidFill>
                <a:latin typeface="Noto Sans CJK SC"/>
                <a:ea typeface="Noto Sans CJK SC"/>
                <a:cs typeface="Noto Sans CJK SC"/>
              </a:rPr>
              <a:t>资管与定制化量化配置需求</a:t>
            </a:r>
          </a:p>
        </p:txBody>
      </p:sp>
      <p:sp>
        <p:nvSpPr>
          <p:cNvPr id="40" name="Rounded Rectangle 39"/>
          <p:cNvSpPr/>
          <p:nvPr/>
        </p:nvSpPr>
        <p:spPr>
          <a:xfrm>
            <a:off x="6400800" y="3858768"/>
            <a:ext cx="5239512" cy="731520"/>
          </a:xfrm>
          <a:prstGeom prst="roundRect">
            <a:avLst>
              <a:gd name="adj" fmla="val 12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38544" y="3968496"/>
            <a:ext cx="4846320" cy="292608"/>
          </a:xfrm>
          <a:prstGeom prst="rect">
            <a:avLst/>
          </a:prstGeom>
          <a:noFill/>
        </p:spPr>
        <p:txBody>
          <a:bodyPr wrap="square" lIns="0" tIns="0" rIns="0" bIns="0" anchor="t">
            <a:spAutoFit/>
          </a:bodyPr>
          <a:lstStyle/>
          <a:p>
            <a:pPr algn="l">
              <a:lnSpc>
                <a:spcPct val="112000"/>
              </a:lnSpc>
            </a:pPr>
            <a:r>
              <a:rPr sz="1250" b="1" i="0">
                <a:solidFill>
                  <a:srgbClr val="2C4A7C"/>
                </a:solidFill>
                <a:latin typeface="Noto Sans CJK SC"/>
                <a:ea typeface="Noto Sans CJK SC"/>
                <a:cs typeface="Noto Sans CJK SC"/>
              </a:rPr>
              <a:t>中小私募与资管机构</a:t>
            </a:r>
          </a:p>
        </p:txBody>
      </p:sp>
      <p:sp>
        <p:nvSpPr>
          <p:cNvPr id="42" name="TextBox 41"/>
          <p:cNvSpPr txBox="1"/>
          <p:nvPr/>
        </p:nvSpPr>
        <p:spPr>
          <a:xfrm>
            <a:off x="6638544" y="4261104"/>
            <a:ext cx="4846320" cy="274320"/>
          </a:xfrm>
          <a:prstGeom prst="rect">
            <a:avLst/>
          </a:prstGeom>
          <a:noFill/>
        </p:spPr>
        <p:txBody>
          <a:bodyPr wrap="square" lIns="0" tIns="0" rIns="0" bIns="0" anchor="t">
            <a:spAutoFit/>
          </a:bodyPr>
          <a:lstStyle/>
          <a:p>
            <a:pPr algn="l">
              <a:lnSpc>
                <a:spcPct val="112000"/>
              </a:lnSpc>
            </a:pPr>
            <a:r>
              <a:rPr sz="1000" b="0" i="0">
                <a:solidFill>
                  <a:srgbClr val="2A3242"/>
                </a:solidFill>
                <a:latin typeface="Noto Sans CJK SC"/>
                <a:ea typeface="Noto Sans CJK SC"/>
                <a:cs typeface="Noto Sans CJK SC"/>
              </a:rPr>
              <a:t>算力、模型与数据的一站式赋能</a:t>
            </a:r>
          </a:p>
        </p:txBody>
      </p:sp>
      <p:sp>
        <p:nvSpPr>
          <p:cNvPr id="43" name="Rounded Rectangle 42"/>
          <p:cNvSpPr/>
          <p:nvPr/>
        </p:nvSpPr>
        <p:spPr>
          <a:xfrm>
            <a:off x="6400800" y="4700016"/>
            <a:ext cx="5239512" cy="731520"/>
          </a:xfrm>
          <a:prstGeom prst="roundRect">
            <a:avLst>
              <a:gd name="adj" fmla="val 12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38544" y="4809744"/>
            <a:ext cx="4846320" cy="292608"/>
          </a:xfrm>
          <a:prstGeom prst="rect">
            <a:avLst/>
          </a:prstGeom>
          <a:noFill/>
        </p:spPr>
        <p:txBody>
          <a:bodyPr wrap="square" lIns="0" tIns="0" rIns="0" bIns="0" anchor="t">
            <a:spAutoFit/>
          </a:bodyPr>
          <a:lstStyle/>
          <a:p>
            <a:pPr algn="l">
              <a:lnSpc>
                <a:spcPct val="112000"/>
              </a:lnSpc>
            </a:pPr>
            <a:r>
              <a:rPr sz="1250" b="1" i="0">
                <a:solidFill>
                  <a:srgbClr val="2C4A7C"/>
                </a:solidFill>
                <a:latin typeface="Noto Sans CJK SC"/>
                <a:ea typeface="Noto Sans CJK SC"/>
                <a:cs typeface="Noto Sans CJK SC"/>
              </a:rPr>
              <a:t>需要VIX/风险度量的持仓机构</a:t>
            </a:r>
          </a:p>
        </p:txBody>
      </p:sp>
      <p:sp>
        <p:nvSpPr>
          <p:cNvPr id="45" name="TextBox 44"/>
          <p:cNvSpPr txBox="1"/>
          <p:nvPr/>
        </p:nvSpPr>
        <p:spPr>
          <a:xfrm>
            <a:off x="6638544" y="5102352"/>
            <a:ext cx="4846320" cy="274320"/>
          </a:xfrm>
          <a:prstGeom prst="rect">
            <a:avLst/>
          </a:prstGeom>
          <a:noFill/>
        </p:spPr>
        <p:txBody>
          <a:bodyPr wrap="square" lIns="0" tIns="0" rIns="0" bIns="0" anchor="t">
            <a:spAutoFit/>
          </a:bodyPr>
          <a:lstStyle/>
          <a:p>
            <a:pPr algn="l">
              <a:lnSpc>
                <a:spcPct val="112000"/>
              </a:lnSpc>
            </a:pPr>
            <a:r>
              <a:rPr sz="1000" b="0" i="0">
                <a:solidFill>
                  <a:srgbClr val="2A3242"/>
                </a:solidFill>
                <a:latin typeface="Noto Sans CJK SC"/>
                <a:ea typeface="Noto Sans CJK SC"/>
                <a:cs typeface="Noto Sans CJK SC"/>
              </a:rPr>
              <a:t>波动率与尾部风险管理刚需</a:t>
            </a:r>
          </a:p>
        </p:txBody>
      </p:sp>
      <p:sp>
        <p:nvSpPr>
          <p:cNvPr id="46" name="Rounded Rectangle 45"/>
          <p:cNvSpPr/>
          <p:nvPr/>
        </p:nvSpPr>
        <p:spPr>
          <a:xfrm>
            <a:off x="6400800" y="5541264"/>
            <a:ext cx="5239512" cy="731520"/>
          </a:xfrm>
          <a:prstGeom prst="roundRect">
            <a:avLst>
              <a:gd name="adj" fmla="val 12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38544" y="5650992"/>
            <a:ext cx="4846320" cy="292608"/>
          </a:xfrm>
          <a:prstGeom prst="rect">
            <a:avLst/>
          </a:prstGeom>
          <a:noFill/>
        </p:spPr>
        <p:txBody>
          <a:bodyPr wrap="square" lIns="0" tIns="0" rIns="0" bIns="0" anchor="t">
            <a:spAutoFit/>
          </a:bodyPr>
          <a:lstStyle/>
          <a:p>
            <a:pPr algn="l">
              <a:lnSpc>
                <a:spcPct val="112000"/>
              </a:lnSpc>
            </a:pPr>
            <a:r>
              <a:rPr sz="1250" b="1" i="0">
                <a:solidFill>
                  <a:srgbClr val="2C4A7C"/>
                </a:solidFill>
                <a:latin typeface="Noto Sans CJK SC"/>
                <a:ea typeface="Noto Sans CJK SC"/>
                <a:cs typeface="Noto Sans CJK SC"/>
              </a:rPr>
              <a:t>海外（美国、南美）量化社区</a:t>
            </a:r>
          </a:p>
        </p:txBody>
      </p:sp>
      <p:sp>
        <p:nvSpPr>
          <p:cNvPr id="48" name="TextBox 47"/>
          <p:cNvSpPr txBox="1"/>
          <p:nvPr/>
        </p:nvSpPr>
        <p:spPr>
          <a:xfrm>
            <a:off x="6638544" y="5943600"/>
            <a:ext cx="4846320" cy="274320"/>
          </a:xfrm>
          <a:prstGeom prst="rect">
            <a:avLst/>
          </a:prstGeom>
          <a:noFill/>
        </p:spPr>
        <p:txBody>
          <a:bodyPr wrap="square" lIns="0" tIns="0" rIns="0" bIns="0" anchor="t">
            <a:spAutoFit/>
          </a:bodyPr>
          <a:lstStyle/>
          <a:p>
            <a:pPr algn="l">
              <a:lnSpc>
                <a:spcPct val="112000"/>
              </a:lnSpc>
            </a:pPr>
            <a:r>
              <a:rPr sz="1000" b="0" i="0">
                <a:solidFill>
                  <a:srgbClr val="2A3242"/>
                </a:solidFill>
                <a:latin typeface="Noto Sans CJK SC"/>
                <a:ea typeface="Noto Sans CJK SC"/>
                <a:cs typeface="Noto Sans CJK SC"/>
              </a:rPr>
              <a:t>deepvix十年积累的国际用户基础</a:t>
            </a:r>
          </a:p>
        </p:txBody>
      </p:sp>
      <p:sp>
        <p:nvSpPr>
          <p:cNvPr id="49" name="TextBox 48"/>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50" name="TextBox 49"/>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194925"/>
          </a:xfrm>
          <a:prstGeom prst="rect">
            <a:avLst/>
          </a:prstGeom>
          <a:noFill/>
        </p:spPr>
        <p:txBody>
          <a:bodyPr wrap="square" lIns="0" tIns="0" rIns="0" bIns="0" anchor="t">
            <a:spAutoFit/>
          </a:bodyPr>
          <a:lstStyle/>
          <a:p>
            <a:pPr>
              <a:lnSpc>
                <a:spcPct val="112000"/>
              </a:lnSpc>
            </a:pPr>
            <a:r>
              <a:rPr lang="en-US" altLang="zh-CN" sz="1200" b="1" dirty="0">
                <a:solidFill>
                  <a:srgbClr val="9A7B14"/>
                </a:solidFill>
                <a:latin typeface="Noto Sans CJK SC"/>
                <a:ea typeface="Noto Sans CJK SC"/>
                <a:cs typeface="Noto Sans CJK SC"/>
              </a:rPr>
              <a:t>02 </a:t>
            </a:r>
            <a:r>
              <a:rPr lang="zh-CN" altLang="en-US" sz="1200" b="1" dirty="0">
                <a:solidFill>
                  <a:srgbClr val="9A7B14"/>
                </a:solidFill>
                <a:latin typeface="Noto Sans CJK SC"/>
                <a:ea typeface="Noto Sans CJK SC"/>
                <a:cs typeface="Noto Sans CJK SC"/>
              </a:rPr>
              <a:t>联盟介绍 </a:t>
            </a:r>
            <a:r>
              <a:rPr lang="en-US" altLang="zh-CN" sz="1200" b="1" dirty="0">
                <a:solidFill>
                  <a:srgbClr val="9A7B14"/>
                </a:solidFill>
                <a:latin typeface="Noto Sans CJK SC"/>
                <a:ea typeface="Noto Sans CJK SC"/>
                <a:cs typeface="Noto Sans CJK SC"/>
              </a:rPr>
              <a:t>· </a:t>
            </a:r>
            <a:r>
              <a:rPr lang="en-US" sz="1200" b="1" dirty="0">
                <a:solidFill>
                  <a:srgbClr val="9A7B14"/>
                </a:solidFill>
                <a:latin typeface="Noto Sans CJK SC"/>
                <a:ea typeface="Noto Sans CJK SC"/>
                <a:cs typeface="Noto Sans CJK SC"/>
              </a:rPr>
              <a:t>THE ALLIANCE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差异化优势：不做单一工具，输出整体能力</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Differentiation: Delivering Capability, Not Just Tools</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2555831277"/>
              </p:ext>
            </p:extLst>
          </p:nvPr>
        </p:nvGraphicFramePr>
        <p:xfrm>
          <a:off x="548640" y="1810512"/>
          <a:ext cx="11091672" cy="3968496"/>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873752">
                  <a:extLst>
                    <a:ext uri="{9D8B030D-6E8A-4147-A177-3AD203B41FA5}">
                      <a16:colId xmlns:a16="http://schemas.microsoft.com/office/drawing/2014/main" val="20002"/>
                    </a:ext>
                  </a:extLst>
                </a:gridCol>
              </a:tblGrid>
              <a:tr h="566928">
                <a:tc>
                  <a:txBody>
                    <a:bodyPr/>
                    <a:lstStyle/>
                    <a:p>
                      <a:pPr algn="l"/>
                      <a:r>
                        <a:rPr sz="1150" b="1" i="0">
                          <a:solidFill>
                            <a:srgbClr val="FFFFFF"/>
                          </a:solidFill>
                          <a:latin typeface="Noto Sans CJK SC"/>
                          <a:ea typeface="Noto Sans CJK SC"/>
                          <a:cs typeface="Noto Sans CJK SC"/>
                        </a:rPr>
                        <a:t>维度 / Dimension</a:t>
                      </a:r>
                    </a:p>
                  </a:txBody>
                  <a:tcPr marR="73152" marT="27432" marB="27432" anchor="ctr">
                    <a:solidFill>
                      <a:srgbClr val="1B2A4A"/>
                    </a:solidFill>
                  </a:tcPr>
                </a:tc>
                <a:tc>
                  <a:txBody>
                    <a:bodyPr/>
                    <a:lstStyle/>
                    <a:p>
                      <a:pPr algn="l"/>
                      <a:r>
                        <a:rPr sz="1150" b="1" i="0">
                          <a:solidFill>
                            <a:srgbClr val="FFFFFF"/>
                          </a:solidFill>
                          <a:latin typeface="Noto Sans CJK SC"/>
                          <a:ea typeface="Noto Sans CJK SC"/>
                          <a:cs typeface="Noto Sans CJK SC"/>
                        </a:rPr>
                        <a:t>通用量化平台与开源框架
Generic Platforms &amp; Open Source</a:t>
                      </a:r>
                    </a:p>
                  </a:txBody>
                  <a:tcPr marR="73152" marT="27432" marB="27432" anchor="ctr">
                    <a:solidFill>
                      <a:srgbClr val="1B2A4A"/>
                    </a:solidFill>
                  </a:tcPr>
                </a:tc>
                <a:tc>
                  <a:txBody>
                    <a:bodyPr/>
                    <a:lstStyle/>
                    <a:p>
                      <a:pPr algn="l"/>
                      <a:r>
                        <a:rPr sz="1150" b="1" i="0">
                          <a:solidFill>
                            <a:srgbClr val="FFFFFF"/>
                          </a:solidFill>
                          <a:latin typeface="Noto Sans CJK SC"/>
                          <a:ea typeface="Noto Sans CJK SC"/>
                          <a:cs typeface="Noto Sans CJK SC"/>
                        </a:rPr>
                        <a:t>AI量化投资与交易创新平台
This Platform</a:t>
                      </a:r>
                    </a:p>
                  </a:txBody>
                  <a:tcPr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sz="1150" b="1" i="0">
                          <a:solidFill>
                            <a:srgbClr val="1B2A4A"/>
                          </a:solidFill>
                          <a:latin typeface="Noto Sans CJK SC"/>
                          <a:ea typeface="Noto Sans CJK SC"/>
                          <a:cs typeface="Noto Sans CJK SC"/>
                        </a:rPr>
                        <a:t>核心模型</a:t>
                      </a:r>
                    </a:p>
                  </a:txBody>
                  <a:tcPr marR="73152" marT="27432" marB="27432" anchor="ctr">
                    <a:solidFill>
                      <a:srgbClr val="F2F5FA"/>
                    </a:solidFill>
                  </a:tcPr>
                </a:tc>
                <a:tc>
                  <a:txBody>
                    <a:bodyPr/>
                    <a:lstStyle/>
                    <a:p>
                      <a:pPr algn="l"/>
                      <a:r>
                        <a:rPr sz="1150" b="0" i="0">
                          <a:solidFill>
                            <a:srgbClr val="2A3242"/>
                          </a:solidFill>
                          <a:latin typeface="Noto Sans CJK SC"/>
                          <a:ea typeface="Noto Sans CJK SC"/>
                          <a:cs typeface="Noto Sans CJK SC"/>
                        </a:rPr>
                        <a:t>需团队从零自建</a:t>
                      </a:r>
                    </a:p>
                  </a:txBody>
                  <a:tcPr marR="73152" marT="27432" marB="27432" anchor="ctr">
                    <a:solidFill>
                      <a:srgbClr val="F2F5FA"/>
                    </a:solidFill>
                  </a:tcPr>
                </a:tc>
                <a:tc>
                  <a:txBody>
                    <a:bodyPr/>
                    <a:lstStyle/>
                    <a:p>
                      <a:pPr algn="l"/>
                      <a:r>
                        <a:rPr sz="1150" b="0" i="0" dirty="0">
                          <a:solidFill>
                            <a:srgbClr val="2A3242"/>
                          </a:solidFill>
                          <a:latin typeface="Noto Sans CJK SC"/>
                          <a:ea typeface="Noto Sans CJK SC"/>
                          <a:cs typeface="Noto Sans CJK SC"/>
                        </a:rPr>
                        <a:t>John </a:t>
                      </a:r>
                      <a:r>
                        <a:rPr sz="1150" b="0" i="0" dirty="0" err="1">
                          <a:solidFill>
                            <a:srgbClr val="2A3242"/>
                          </a:solidFill>
                          <a:latin typeface="Noto Sans CJK SC"/>
                          <a:ea typeface="Noto Sans CJK SC"/>
                          <a:cs typeface="Noto Sans CJK SC"/>
                        </a:rPr>
                        <a:t>Ding独有数理金融体系</a:t>
                      </a:r>
                      <a:r>
                        <a:rPr sz="1150" b="0" i="0" dirty="0">
                          <a:solidFill>
                            <a:srgbClr val="2A3242"/>
                          </a:solidFill>
                          <a:latin typeface="Noto Sans CJK SC"/>
                          <a:ea typeface="Noto Sans CJK SC"/>
                          <a:cs typeface="Noto Sans CJK SC"/>
                        </a:rPr>
                        <a:t>（</a:t>
                      </a:r>
                      <a:r>
                        <a:rPr lang="zh-CN" altLang="en-US" sz="1150" b="0" i="0" dirty="0">
                          <a:solidFill>
                            <a:srgbClr val="2A3242"/>
                          </a:solidFill>
                          <a:latin typeface="Noto Sans CJK SC"/>
                          <a:ea typeface="Noto Sans CJK SC"/>
                          <a:cs typeface="Noto Sans CJK SC"/>
                        </a:rPr>
                        <a:t>二</a:t>
                      </a:r>
                      <a:r>
                        <a:rPr sz="1150" b="0" i="0" dirty="0">
                          <a:solidFill>
                            <a:srgbClr val="2A3242"/>
                          </a:solidFill>
                          <a:latin typeface="Noto Sans CJK SC"/>
                          <a:ea typeface="Noto Sans CJK SC"/>
                          <a:cs typeface="Noto Sans CJK SC"/>
                        </a:rPr>
                        <a:t>十</a:t>
                      </a:r>
                      <a:r>
                        <a:rPr lang="zh-CN" altLang="en-US" sz="1150" b="0" i="0" dirty="0">
                          <a:solidFill>
                            <a:srgbClr val="2A3242"/>
                          </a:solidFill>
                          <a:latin typeface="Noto Sans CJK SC"/>
                          <a:ea typeface="Noto Sans CJK SC"/>
                          <a:cs typeface="Noto Sans CJK SC"/>
                        </a:rPr>
                        <a:t>多年华尔街投行经验</a:t>
                      </a:r>
                      <a:r>
                        <a:rPr sz="1150" b="0" i="0" dirty="0">
                          <a:solidFill>
                            <a:srgbClr val="2A3242"/>
                          </a:solidFill>
                          <a:latin typeface="Noto Sans CJK SC"/>
                          <a:ea typeface="Noto Sans CJK SC"/>
                          <a:cs typeface="Noto Sans CJK SC"/>
                        </a:rPr>
                        <a:t>）</a:t>
                      </a:r>
                    </a:p>
                  </a:txBody>
                  <a:tcPr marR="73152" marT="27432" marB="27432" anchor="ctr">
                    <a:solidFill>
                      <a:srgbClr val="F2F5FA"/>
                    </a:solidFill>
                  </a:tcPr>
                </a:tc>
                <a:extLst>
                  <a:ext uri="{0D108BD9-81ED-4DB2-BD59-A6C34878D82A}">
                    <a16:rowId xmlns:a16="http://schemas.microsoft.com/office/drawing/2014/main" val="10001"/>
                  </a:ext>
                </a:extLst>
              </a:tr>
              <a:tr h="566928">
                <a:tc>
                  <a:txBody>
                    <a:bodyPr/>
                    <a:lstStyle/>
                    <a:p>
                      <a:pPr algn="l"/>
                      <a:r>
                        <a:rPr sz="1150" b="1" i="0">
                          <a:solidFill>
                            <a:srgbClr val="1B2A4A"/>
                          </a:solidFill>
                          <a:latin typeface="Noto Sans CJK SC"/>
                          <a:ea typeface="Noto Sans CJK SC"/>
                          <a:cs typeface="Noto Sans CJK SC"/>
                        </a:rPr>
                        <a:t>专家团队</a:t>
                      </a:r>
                    </a:p>
                  </a:txBody>
                  <a:tcPr marR="73152" marT="27432" marB="27432" anchor="ctr">
                    <a:solidFill>
                      <a:srgbClr val="FFFFFF"/>
                    </a:solidFill>
                  </a:tcPr>
                </a:tc>
                <a:tc>
                  <a:txBody>
                    <a:bodyPr/>
                    <a:lstStyle/>
                    <a:p>
                      <a:pPr algn="l"/>
                      <a:r>
                        <a:rPr sz="1150" b="0" i="0">
                          <a:solidFill>
                            <a:srgbClr val="2A3242"/>
                          </a:solidFill>
                          <a:latin typeface="Noto Sans CJK SC"/>
                          <a:ea typeface="Noto Sans CJK SC"/>
                          <a:cs typeface="Noto Sans CJK SC"/>
                        </a:rPr>
                        <a:t>公开社区，无专属支持</a:t>
                      </a:r>
                    </a:p>
                  </a:txBody>
                  <a:tcPr marR="73152" marT="27432" marB="27432" anchor="ctr">
                    <a:solidFill>
                      <a:srgbClr val="FFFFFF"/>
                    </a:solidFill>
                  </a:tcPr>
                </a:tc>
                <a:tc>
                  <a:txBody>
                    <a:bodyPr/>
                    <a:lstStyle/>
                    <a:p>
                      <a:pPr algn="l"/>
                      <a:r>
                        <a:rPr sz="1150" b="0" i="0">
                          <a:solidFill>
                            <a:srgbClr val="2A3242"/>
                          </a:solidFill>
                          <a:latin typeface="Noto Sans CJK SC"/>
                          <a:ea typeface="Noto Sans CJK SC"/>
                          <a:cs typeface="Noto Sans CJK SC"/>
                        </a:rPr>
                        <a:t>华尔街级量化与AI专家团队（高盛/摩根/ RBC/美银）</a:t>
                      </a:r>
                    </a:p>
                  </a:txBody>
                  <a:tcPr marR="73152" marT="27432" marB="27432" anchor="ctr">
                    <a:solidFill>
                      <a:srgbClr val="FFFFFF"/>
                    </a:solidFill>
                  </a:tcPr>
                </a:tc>
                <a:extLst>
                  <a:ext uri="{0D108BD9-81ED-4DB2-BD59-A6C34878D82A}">
                    <a16:rowId xmlns:a16="http://schemas.microsoft.com/office/drawing/2014/main" val="10002"/>
                  </a:ext>
                </a:extLst>
              </a:tr>
              <a:tr h="566928">
                <a:tc>
                  <a:txBody>
                    <a:bodyPr/>
                    <a:lstStyle/>
                    <a:p>
                      <a:pPr algn="l"/>
                      <a:r>
                        <a:rPr sz="1150" b="1" i="0">
                          <a:solidFill>
                            <a:srgbClr val="1B2A4A"/>
                          </a:solidFill>
                          <a:latin typeface="Noto Sans CJK SC"/>
                          <a:ea typeface="Noto Sans CJK SC"/>
                          <a:cs typeface="Noto Sans CJK SC"/>
                        </a:rPr>
                        <a:t>算力供给</a:t>
                      </a:r>
                    </a:p>
                  </a:txBody>
                  <a:tcPr marR="73152" marT="27432" marB="27432" anchor="ctr">
                    <a:solidFill>
                      <a:srgbClr val="F2F5FA"/>
                    </a:solidFill>
                  </a:tcPr>
                </a:tc>
                <a:tc>
                  <a:txBody>
                    <a:bodyPr/>
                    <a:lstStyle/>
                    <a:p>
                      <a:pPr algn="l"/>
                      <a:r>
                        <a:rPr sz="1150" b="0" i="0">
                          <a:solidFill>
                            <a:srgbClr val="2A3242"/>
                          </a:solidFill>
                          <a:latin typeface="Noto Sans CJK SC"/>
                          <a:ea typeface="Noto Sans CJK SC"/>
                          <a:cs typeface="Noto Sans CJK SC"/>
                        </a:rPr>
                        <a:t>自购或云端付费，成本高</a:t>
                      </a:r>
                    </a:p>
                  </a:txBody>
                  <a:tcPr marR="73152" marT="27432" marB="27432" anchor="ctr">
                    <a:solidFill>
                      <a:srgbClr val="F2F5FA"/>
                    </a:solidFill>
                  </a:tcPr>
                </a:tc>
                <a:tc>
                  <a:txBody>
                    <a:bodyPr/>
                    <a:lstStyle/>
                    <a:p>
                      <a:pPr algn="l"/>
                      <a:r>
                        <a:rPr sz="1150" b="0" i="0">
                          <a:solidFill>
                            <a:srgbClr val="2A3242"/>
                          </a:solidFill>
                          <a:latin typeface="Noto Sans CJK SC"/>
                          <a:ea typeface="Noto Sans CJK SC"/>
                          <a:cs typeface="Noto Sans CJK SC"/>
                        </a:rPr>
                        <a:t>北电数智产业级GPU集群赋能</a:t>
                      </a:r>
                    </a:p>
                  </a:txBody>
                  <a:tcPr marR="73152" marT="27432" marB="27432" anchor="ctr">
                    <a:solidFill>
                      <a:srgbClr val="F2F5FA"/>
                    </a:solidFill>
                  </a:tcPr>
                </a:tc>
                <a:extLst>
                  <a:ext uri="{0D108BD9-81ED-4DB2-BD59-A6C34878D82A}">
                    <a16:rowId xmlns:a16="http://schemas.microsoft.com/office/drawing/2014/main" val="10003"/>
                  </a:ext>
                </a:extLst>
              </a:tr>
              <a:tr h="566928">
                <a:tc>
                  <a:txBody>
                    <a:bodyPr/>
                    <a:lstStyle/>
                    <a:p>
                      <a:pPr algn="l"/>
                      <a:r>
                        <a:rPr sz="1150" b="1" i="0">
                          <a:solidFill>
                            <a:srgbClr val="1B2A4A"/>
                          </a:solidFill>
                          <a:latin typeface="Noto Sans CJK SC"/>
                          <a:ea typeface="Noto Sans CJK SC"/>
                          <a:cs typeface="Noto Sans CJK SC"/>
                        </a:rPr>
                        <a:t>合规架构</a:t>
                      </a:r>
                    </a:p>
                  </a:txBody>
                  <a:tcPr marR="73152" marT="27432" marB="27432" anchor="ctr">
                    <a:solidFill>
                      <a:srgbClr val="FFFFFF"/>
                    </a:solidFill>
                  </a:tcPr>
                </a:tc>
                <a:tc>
                  <a:txBody>
                    <a:bodyPr/>
                    <a:lstStyle/>
                    <a:p>
                      <a:pPr algn="l"/>
                      <a:r>
                        <a:rPr sz="1150" b="0" i="0">
                          <a:solidFill>
                            <a:srgbClr val="2A3242"/>
                          </a:solidFill>
                          <a:latin typeface="Noto Sans CJK SC"/>
                          <a:ea typeface="Noto Sans CJK SC"/>
                          <a:cs typeface="Noto Sans CJK SC"/>
                        </a:rPr>
                        <a:t>通常不提供</a:t>
                      </a:r>
                    </a:p>
                  </a:txBody>
                  <a:tcPr marR="73152" marT="27432" marB="27432" anchor="ctr">
                    <a:solidFill>
                      <a:srgbClr val="FFFFFF"/>
                    </a:solidFill>
                  </a:tcPr>
                </a:tc>
                <a:tc>
                  <a:txBody>
                    <a:bodyPr/>
                    <a:lstStyle/>
                    <a:p>
                      <a:pPr algn="l"/>
                      <a:r>
                        <a:rPr sz="1150" b="0" i="0">
                          <a:solidFill>
                            <a:srgbClr val="2A3242"/>
                          </a:solidFill>
                          <a:latin typeface="Noto Sans CJK SC"/>
                          <a:ea typeface="Noto Sans CJK SC"/>
                          <a:cs typeface="Noto Sans CJK SC"/>
                        </a:rPr>
                        <a:t>纽约SRFK律所 + 国内资管主体，中美双合规</a:t>
                      </a:r>
                    </a:p>
                  </a:txBody>
                  <a:tcPr marR="73152" marT="27432" marB="27432" anchor="ctr">
                    <a:solidFill>
                      <a:srgbClr val="FFFFFF"/>
                    </a:solidFill>
                  </a:tcPr>
                </a:tc>
                <a:extLst>
                  <a:ext uri="{0D108BD9-81ED-4DB2-BD59-A6C34878D82A}">
                    <a16:rowId xmlns:a16="http://schemas.microsoft.com/office/drawing/2014/main" val="10004"/>
                  </a:ext>
                </a:extLst>
              </a:tr>
              <a:tr h="566928">
                <a:tc>
                  <a:txBody>
                    <a:bodyPr/>
                    <a:lstStyle/>
                    <a:p>
                      <a:pPr algn="l"/>
                      <a:r>
                        <a:rPr sz="1150" b="1" i="0">
                          <a:solidFill>
                            <a:srgbClr val="1B2A4A"/>
                          </a:solidFill>
                          <a:latin typeface="Noto Sans CJK SC"/>
                          <a:ea typeface="Noto Sans CJK SC"/>
                          <a:cs typeface="Noto Sans CJK SC"/>
                        </a:rPr>
                        <a:t>服务范围</a:t>
                      </a:r>
                    </a:p>
                  </a:txBody>
                  <a:tcPr marR="73152" marT="27432" marB="27432" anchor="ctr">
                    <a:solidFill>
                      <a:srgbClr val="F2F5FA"/>
                    </a:solidFill>
                  </a:tcPr>
                </a:tc>
                <a:tc>
                  <a:txBody>
                    <a:bodyPr/>
                    <a:lstStyle/>
                    <a:p>
                      <a:pPr algn="l"/>
                      <a:r>
                        <a:rPr sz="1150" b="0" i="0">
                          <a:solidFill>
                            <a:srgbClr val="2A3242"/>
                          </a:solidFill>
                          <a:latin typeface="Noto Sans CJK SC"/>
                          <a:ea typeface="Noto Sans CJK SC"/>
                          <a:cs typeface="Noto Sans CJK SC"/>
                        </a:rPr>
                        <a:t>工具与数据</a:t>
                      </a:r>
                    </a:p>
                  </a:txBody>
                  <a:tcPr marR="73152" marT="27432" marB="27432" anchor="ctr">
                    <a:solidFill>
                      <a:srgbClr val="F2F5FA"/>
                    </a:solidFill>
                  </a:tcPr>
                </a:tc>
                <a:tc>
                  <a:txBody>
                    <a:bodyPr/>
                    <a:lstStyle/>
                    <a:p>
                      <a:pPr algn="l"/>
                      <a:r>
                        <a:rPr sz="1150" b="0" i="0">
                          <a:solidFill>
                            <a:srgbClr val="2A3242"/>
                          </a:solidFill>
                          <a:latin typeface="Noto Sans CJK SC"/>
                          <a:ea typeface="Noto Sans CJK SC"/>
                          <a:cs typeface="Noto Sans CJK SC"/>
                        </a:rPr>
                        <a:t>平台 + 信号 + 投顾 + 教育全链路</a:t>
                      </a:r>
                    </a:p>
                  </a:txBody>
                  <a:tcPr marR="73152" marT="27432" marB="27432" anchor="ctr">
                    <a:solidFill>
                      <a:srgbClr val="F2F5FA"/>
                    </a:solidFill>
                  </a:tcPr>
                </a:tc>
                <a:extLst>
                  <a:ext uri="{0D108BD9-81ED-4DB2-BD59-A6C34878D82A}">
                    <a16:rowId xmlns:a16="http://schemas.microsoft.com/office/drawing/2014/main" val="10005"/>
                  </a:ext>
                </a:extLst>
              </a:tr>
              <a:tr h="566928">
                <a:tc>
                  <a:txBody>
                    <a:bodyPr/>
                    <a:lstStyle/>
                    <a:p>
                      <a:pPr algn="l"/>
                      <a:r>
                        <a:rPr sz="1150" b="1" i="0">
                          <a:solidFill>
                            <a:srgbClr val="1B2A4A"/>
                          </a:solidFill>
                          <a:latin typeface="Noto Sans CJK SC"/>
                          <a:ea typeface="Noto Sans CJK SC"/>
                          <a:cs typeface="Noto Sans CJK SC"/>
                        </a:rPr>
                        <a:t>可信底座</a:t>
                      </a:r>
                    </a:p>
                  </a:txBody>
                  <a:tcPr marR="73152" marT="27432" marB="27432" anchor="ctr">
                    <a:solidFill>
                      <a:srgbClr val="FFFFFF"/>
                    </a:solidFill>
                  </a:tcPr>
                </a:tc>
                <a:tc>
                  <a:txBody>
                    <a:bodyPr/>
                    <a:lstStyle/>
                    <a:p>
                      <a:pPr algn="l"/>
                      <a:r>
                        <a:rPr sz="1150" b="0" i="0">
                          <a:solidFill>
                            <a:srgbClr val="2A3242"/>
                          </a:solidFill>
                          <a:latin typeface="Noto Sans CJK SC"/>
                          <a:ea typeface="Noto Sans CJK SC"/>
                          <a:cs typeface="Noto Sans CJK SC"/>
                        </a:rPr>
                        <a:t>无</a:t>
                      </a:r>
                    </a:p>
                  </a:txBody>
                  <a:tcPr marR="73152" marT="27432" marB="27432" anchor="ctr">
                    <a:solidFill>
                      <a:srgbClr val="FFFFFF"/>
                    </a:solidFill>
                  </a:tcPr>
                </a:tc>
                <a:tc>
                  <a:txBody>
                    <a:bodyPr/>
                    <a:lstStyle/>
                    <a:p>
                      <a:pPr algn="l"/>
                      <a:r>
                        <a:rPr sz="1150" b="0" i="0" dirty="0" err="1">
                          <a:solidFill>
                            <a:srgbClr val="2A3242"/>
                          </a:solidFill>
                          <a:latin typeface="Noto Sans CJK SC"/>
                          <a:ea typeface="Noto Sans CJK SC"/>
                          <a:cs typeface="Noto Sans CJK SC"/>
                        </a:rPr>
                        <a:t>道一网络区块链：交易溯源、数据防篡改</a:t>
                      </a:r>
                      <a:endParaRPr sz="1150" b="0" i="0" dirty="0">
                        <a:solidFill>
                          <a:srgbClr val="2A3242"/>
                        </a:solidFill>
                        <a:latin typeface="Noto Sans CJK SC"/>
                        <a:ea typeface="Noto Sans CJK SC"/>
                        <a:cs typeface="Noto Sans CJK SC"/>
                      </a:endParaRPr>
                    </a:p>
                  </a:txBody>
                  <a:tcPr marR="73152"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8" name="Rounded Rectangle 7"/>
          <p:cNvSpPr/>
          <p:nvPr/>
        </p:nvSpPr>
        <p:spPr>
          <a:xfrm>
            <a:off x="548640" y="5806440"/>
            <a:ext cx="11091672" cy="475488"/>
          </a:xfrm>
          <a:prstGeom prst="roundRect">
            <a:avLst>
              <a:gd name="adj" fmla="val 50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806440"/>
            <a:ext cx="10424160" cy="475488"/>
          </a:xfrm>
          <a:prstGeom prst="rect">
            <a:avLst/>
          </a:prstGeom>
          <a:noFill/>
        </p:spPr>
        <p:txBody>
          <a:bodyPr wrap="square" lIns="0" tIns="0" rIns="0" bIns="0" anchor="ctr">
            <a:spAutoFit/>
          </a:bodyPr>
          <a:lstStyle/>
          <a:p>
            <a:pPr algn="l">
              <a:lnSpc>
                <a:spcPct val="112000"/>
              </a:lnSpc>
            </a:pPr>
            <a:r>
              <a:rPr sz="1200" b="1" i="0">
                <a:solidFill>
                  <a:srgbClr val="9A7B14"/>
                </a:solidFill>
                <a:latin typeface="Noto Sans CJK SC"/>
                <a:ea typeface="Noto Sans CJK SC"/>
                <a:cs typeface="Noto Sans CJK SC"/>
              </a:rPr>
              <a:t>一句话总结：</a:t>
            </a:r>
            <a:r>
              <a:rPr sz="1200" b="0" i="0">
                <a:solidFill>
                  <a:srgbClr val="2A3242"/>
                </a:solidFill>
                <a:latin typeface="Noto Sans CJK SC"/>
                <a:ea typeface="Noto Sans CJK SC"/>
                <a:cs typeface="Noto Sans CJK SC"/>
              </a:rPr>
              <a:t>以「模型 + 团队 + 算力 + 合规 + 可信」整体输出AI量化投资与交易能力，这是单一工具平台难以复制的护城河。</a:t>
            </a:r>
          </a:p>
        </p:txBody>
      </p:sp>
      <p:sp>
        <p:nvSpPr>
          <p:cNvPr id="10" name="TextBox 9"/>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11" name="TextBox 10"/>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D3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66560"/>
            <a:ext cx="12191695"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051560"/>
            <a:ext cx="3108960" cy="1828800"/>
          </a:xfrm>
          <a:prstGeom prst="rect">
            <a:avLst/>
          </a:prstGeom>
          <a:noFill/>
        </p:spPr>
        <p:txBody>
          <a:bodyPr wrap="square" lIns="0" tIns="0" rIns="0" bIns="0" anchor="t">
            <a:spAutoFit/>
          </a:bodyPr>
          <a:lstStyle/>
          <a:p>
            <a:pPr algn="l">
              <a:lnSpc>
                <a:spcPct val="112000"/>
              </a:lnSpc>
            </a:pPr>
            <a:r>
              <a:rPr sz="10800" b="1" i="0">
                <a:solidFill>
                  <a:srgbClr val="25365C"/>
                </a:solidFill>
                <a:latin typeface="Noto Sans CJK SC"/>
                <a:ea typeface="Noto Sans CJK SC"/>
                <a:cs typeface="Noto Sans CJK SC"/>
              </a:rPr>
              <a:t>03</a:t>
            </a:r>
          </a:p>
        </p:txBody>
      </p:sp>
      <p:sp>
        <p:nvSpPr>
          <p:cNvPr id="7" name="Rectangle 6"/>
          <p:cNvSpPr/>
          <p:nvPr/>
        </p:nvSpPr>
        <p:spPr>
          <a:xfrm>
            <a:off x="777240" y="2880360"/>
            <a:ext cx="8229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127248"/>
            <a:ext cx="10607040" cy="868680"/>
          </a:xfrm>
          <a:prstGeom prst="rect">
            <a:avLst/>
          </a:prstGeom>
          <a:noFill/>
        </p:spPr>
        <p:txBody>
          <a:bodyPr wrap="square" lIns="0" tIns="0" rIns="0" bIns="0" anchor="t">
            <a:spAutoFit/>
          </a:bodyPr>
          <a:lstStyle/>
          <a:p>
            <a:pPr algn="l">
              <a:lnSpc>
                <a:spcPct val="112000"/>
              </a:lnSpc>
            </a:pPr>
            <a:r>
              <a:rPr sz="4000" b="1" i="0">
                <a:solidFill>
                  <a:srgbClr val="FFFFFF"/>
                </a:solidFill>
                <a:latin typeface="Noto Sans CJK SC"/>
                <a:ea typeface="Noto Sans CJK SC"/>
                <a:cs typeface="Noto Sans CJK SC"/>
              </a:rPr>
              <a:t>共建计划</a:t>
            </a:r>
          </a:p>
        </p:txBody>
      </p:sp>
      <p:sp>
        <p:nvSpPr>
          <p:cNvPr id="9" name="TextBox 8"/>
          <p:cNvSpPr txBox="1"/>
          <p:nvPr/>
        </p:nvSpPr>
        <p:spPr>
          <a:xfrm>
            <a:off x="841248" y="4005072"/>
            <a:ext cx="10607040" cy="411480"/>
          </a:xfrm>
          <a:prstGeom prst="rect">
            <a:avLst/>
          </a:prstGeom>
          <a:noFill/>
        </p:spPr>
        <p:txBody>
          <a:bodyPr wrap="square" lIns="0" tIns="0" rIns="0" bIns="0" anchor="t">
            <a:spAutoFit/>
          </a:bodyPr>
          <a:lstStyle/>
          <a:p>
            <a:pPr algn="l">
              <a:lnSpc>
                <a:spcPct val="112000"/>
              </a:lnSpc>
            </a:pPr>
            <a:r>
              <a:rPr sz="1700" b="0" i="0">
                <a:solidFill>
                  <a:srgbClr val="E3C55C"/>
                </a:solidFill>
                <a:latin typeface="Noto Sans CJK SC"/>
                <a:ea typeface="Noto Sans CJK SC"/>
                <a:cs typeface="Noto Sans CJK SC"/>
              </a:rPr>
              <a:t>THE ALLIANCE</a:t>
            </a:r>
          </a:p>
        </p:txBody>
      </p:sp>
      <p:sp>
        <p:nvSpPr>
          <p:cNvPr id="10" name="TextBox 9"/>
          <p:cNvSpPr txBox="1"/>
          <p:nvPr/>
        </p:nvSpPr>
        <p:spPr>
          <a:xfrm>
            <a:off x="841248" y="4553712"/>
            <a:ext cx="10789920" cy="411480"/>
          </a:xfrm>
          <a:prstGeom prst="rect">
            <a:avLst/>
          </a:prstGeom>
          <a:noFill/>
        </p:spPr>
        <p:txBody>
          <a:bodyPr wrap="square" lIns="0" tIns="0" rIns="0" bIns="0" anchor="t">
            <a:spAutoFit/>
          </a:bodyPr>
          <a:lstStyle/>
          <a:p>
            <a:pPr algn="l">
              <a:lnSpc>
                <a:spcPct val="112000"/>
              </a:lnSpc>
            </a:pPr>
            <a:r>
              <a:rPr sz="1450" b="0" i="0">
                <a:solidFill>
                  <a:srgbClr val="B9C4D6"/>
                </a:solidFill>
                <a:latin typeface="Noto Sans CJK SC"/>
                <a:ea typeface="Noto Sans CJK SC"/>
                <a:cs typeface="Noto Sans CJK SC"/>
              </a:rPr>
              <a:t>招募合伙人 · 创建联盟 · 设立基金：三大合作诉求</a:t>
            </a:r>
          </a:p>
        </p:txBody>
      </p:sp>
      <p:sp>
        <p:nvSpPr>
          <p:cNvPr id="11" name="Rounded Rectangle 10"/>
          <p:cNvSpPr/>
          <p:nvPr/>
        </p:nvSpPr>
        <p:spPr>
          <a:xfrm>
            <a:off x="841248" y="5230368"/>
            <a:ext cx="10515600" cy="685800"/>
          </a:xfrm>
          <a:prstGeom prst="roundRect">
            <a:avLst>
              <a:gd name="adj" fmla="val 50000"/>
            </a:avLst>
          </a:prstGeom>
          <a:solidFill>
            <a:srgbClr val="1E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5230368"/>
            <a:ext cx="10058400" cy="685800"/>
          </a:xfrm>
          <a:prstGeom prst="rect">
            <a:avLst/>
          </a:prstGeom>
          <a:noFill/>
        </p:spPr>
        <p:txBody>
          <a:bodyPr wrap="square" lIns="0" tIns="0" rIns="0" bIns="0" anchor="ctr">
            <a:spAutoFit/>
          </a:bodyPr>
          <a:lstStyle/>
          <a:p>
            <a:pPr algn="l">
              <a:lnSpc>
                <a:spcPct val="112000"/>
              </a:lnSpc>
            </a:pPr>
            <a:r>
              <a:rPr sz="1300" b="0" i="0">
                <a:solidFill>
                  <a:srgbClr val="D5DDEA"/>
                </a:solidFill>
                <a:latin typeface="Noto Sans CJK SC"/>
                <a:ea typeface="Noto Sans CJK SC"/>
                <a:cs typeface="Noto Sans CJK SC"/>
              </a:rPr>
              <a:t>诉求一：招募合伙人公司，共建量化交易平台</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诉求二：创建全国AI量化交易联盟</a:t>
            </a:r>
            <a:r>
              <a:rPr sz="1300" b="0" i="0">
                <a:solidFill>
                  <a:srgbClr val="C9A227"/>
                </a:solidFill>
                <a:latin typeface="Noto Sans CJK SC"/>
                <a:ea typeface="Noto Sans CJK SC"/>
                <a:cs typeface="Noto Sans CJK SC"/>
              </a:rPr>
              <a:t>   ·   </a:t>
            </a:r>
            <a:r>
              <a:rPr sz="1300" b="0" i="0">
                <a:solidFill>
                  <a:srgbClr val="D5DDEA"/>
                </a:solidFill>
                <a:latin typeface="Noto Sans CJK SC"/>
                <a:ea typeface="Noto Sans CJK SC"/>
                <a:cs typeface="Noto Sans CJK SC"/>
              </a:rPr>
              <a:t>诉求三：设立量化交易基金</a:t>
            </a:r>
          </a:p>
        </p:txBody>
      </p:sp>
      <p:sp>
        <p:nvSpPr>
          <p:cNvPr id="13" name="TextBox 12"/>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5A6884"/>
                </a:solidFill>
                <a:latin typeface="Noto Sans CJK SC"/>
                <a:ea typeface="Noto Sans CJK SC"/>
                <a:cs typeface="Noto Sans CJK SC"/>
              </a:rPr>
              <a:t>道一（江苏）资产管理有限公司  ·  AI量化投资与交易创新平台  ·  2026  ·  内部资料</a:t>
            </a:r>
          </a:p>
        </p:txBody>
      </p:sp>
      <p:sp>
        <p:nvSpPr>
          <p:cNvPr id="14" name="TextBox 13"/>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C9A227"/>
                </a:solidFill>
                <a:latin typeface="Noto Sans CJK SC"/>
                <a:ea typeface="Noto Sans CJK SC"/>
                <a:cs typeface="Noto Sans CJK SC"/>
              </a:rPr>
              <a:t>17</a:t>
            </a:r>
          </a:p>
        </p:txBody>
      </p:sp>
      <p:pic>
        <p:nvPicPr>
          <p:cNvPr id="4" name="Picture 3">
            <a:extLst>
              <a:ext uri="{FF2B5EF4-FFF2-40B4-BE49-F238E27FC236}">
                <a16:creationId xmlns:a16="http://schemas.microsoft.com/office/drawing/2014/main" id="{D2F66D05-309D-3094-FC4C-02E3D82310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7736" y="-101232"/>
            <a:ext cx="5199012" cy="51990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75488"/>
            <a:ext cx="146304"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02336"/>
            <a:ext cx="7315200" cy="292608"/>
          </a:xfrm>
          <a:prstGeom prst="rect">
            <a:avLst/>
          </a:prstGeom>
          <a:noFill/>
        </p:spPr>
        <p:txBody>
          <a:bodyPr wrap="square" lIns="0" tIns="0" rIns="0" bIns="0" anchor="t">
            <a:spAutoFit/>
          </a:bodyPr>
          <a:lstStyle/>
          <a:p>
            <a:pPr algn="l">
              <a:lnSpc>
                <a:spcPct val="112000"/>
              </a:lnSpc>
            </a:pPr>
            <a:r>
              <a:rPr sz="1200" b="1" i="0">
                <a:solidFill>
                  <a:srgbClr val="9A7B14"/>
                </a:solidFill>
                <a:latin typeface="Noto Sans CJK SC"/>
                <a:ea typeface="Noto Sans CJK SC"/>
                <a:cs typeface="Noto Sans CJK SC"/>
              </a:rPr>
              <a:t>03 共建计划 · THE ALLIANCE</a:t>
            </a:r>
          </a:p>
        </p:txBody>
      </p:sp>
      <p:sp>
        <p:nvSpPr>
          <p:cNvPr id="4" name="TextBox 3"/>
          <p:cNvSpPr txBox="1"/>
          <p:nvPr/>
        </p:nvSpPr>
        <p:spPr>
          <a:xfrm>
            <a:off x="548640" y="713232"/>
            <a:ext cx="11064240" cy="566928"/>
          </a:xfrm>
          <a:prstGeom prst="rect">
            <a:avLst/>
          </a:prstGeom>
          <a:noFill/>
        </p:spPr>
        <p:txBody>
          <a:bodyPr wrap="square" lIns="0" tIns="0" rIns="0" bIns="0" anchor="t">
            <a:spAutoFit/>
          </a:bodyPr>
          <a:lstStyle/>
          <a:p>
            <a:pPr algn="l">
              <a:lnSpc>
                <a:spcPct val="112000"/>
              </a:lnSpc>
            </a:pPr>
            <a:r>
              <a:rPr sz="2700" b="1" i="0">
                <a:solidFill>
                  <a:srgbClr val="1B2A4A"/>
                </a:solidFill>
                <a:latin typeface="Noto Sans CJK SC"/>
                <a:ea typeface="Noto Sans CJK SC"/>
                <a:cs typeface="Noto Sans CJK SC"/>
              </a:rPr>
              <a:t>发展路线图与三年经营目标（示意）</a:t>
            </a:r>
          </a:p>
        </p:txBody>
      </p:sp>
      <p:sp>
        <p:nvSpPr>
          <p:cNvPr id="5" name="TextBox 4"/>
          <p:cNvSpPr txBox="1"/>
          <p:nvPr/>
        </p:nvSpPr>
        <p:spPr>
          <a:xfrm>
            <a:off x="548640" y="1243584"/>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Roadmap &amp; Three-Year Targets (Illustrative)</a:t>
            </a:r>
          </a:p>
        </p:txBody>
      </p:sp>
      <p:sp>
        <p:nvSpPr>
          <p:cNvPr id="6" name="Rectangle 5"/>
          <p:cNvSpPr/>
          <p:nvPr/>
        </p:nvSpPr>
        <p:spPr>
          <a:xfrm>
            <a:off x="548640" y="1572768"/>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10512"/>
            <a:ext cx="2697480" cy="1810512"/>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810512"/>
            <a:ext cx="2697480" cy="475488"/>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810512"/>
            <a:ext cx="2697480" cy="475488"/>
          </a:xfrm>
          <a:prstGeom prst="rect">
            <a:avLst/>
          </a:prstGeom>
          <a:noFill/>
        </p:spPr>
        <p:txBody>
          <a:bodyPr wrap="square" lIns="0" tIns="0" rIns="0" bIns="0" anchor="ctr">
            <a:spAutoFit/>
          </a:bodyPr>
          <a:lstStyle/>
          <a:p>
            <a:pPr algn="ctr">
              <a:lnSpc>
                <a:spcPct val="112000"/>
              </a:lnSpc>
            </a:pPr>
            <a:r>
              <a:rPr sz="1350" b="1" i="0">
                <a:solidFill>
                  <a:srgbClr val="121D36"/>
                </a:solidFill>
                <a:latin typeface="Noto Sans CJK SC"/>
                <a:ea typeface="Noto Sans CJK SC"/>
                <a:cs typeface="Noto Sans CJK SC"/>
              </a:rPr>
              <a:t>启动期</a:t>
            </a:r>
            <a:r>
              <a:rPr sz="1100" b="0" i="0">
                <a:solidFill>
                  <a:srgbClr val="3A3010"/>
                </a:solidFill>
                <a:latin typeface="Noto Sans CJK SC"/>
                <a:ea typeface="Noto Sans CJK SC"/>
                <a:cs typeface="Noto Sans CJK SC"/>
              </a:rPr>
              <a:t>   第1年</a:t>
            </a:r>
          </a:p>
        </p:txBody>
      </p:sp>
      <p:sp>
        <p:nvSpPr>
          <p:cNvPr id="10" name="TextBox 9"/>
          <p:cNvSpPr txBox="1"/>
          <p:nvPr/>
        </p:nvSpPr>
        <p:spPr>
          <a:xfrm>
            <a:off x="731520" y="2450592"/>
            <a:ext cx="2377440" cy="1097280"/>
          </a:xfrm>
          <a:prstGeom prst="rect">
            <a:avLst/>
          </a:prstGeom>
          <a:noFill/>
        </p:spPr>
        <p:txBody>
          <a:bodyPr wrap="square" lIns="0" tIns="0" rIns="0" bIns="0" anchor="t">
            <a:spAutoFit/>
          </a:bodyPr>
          <a:lstStyle/>
          <a:p>
            <a:pPr algn="l">
              <a:lnSpc>
                <a:spcPct val="125000"/>
              </a:lnSpc>
            </a:pPr>
            <a:r>
              <a:rPr sz="1050" b="0" i="0">
                <a:solidFill>
                  <a:srgbClr val="2A3242"/>
                </a:solidFill>
                <a:latin typeface="Noto Sans CJK SC"/>
                <a:ea typeface="Noto Sans CJK SC"/>
                <a:cs typeface="Noto Sans CJK SC"/>
              </a:rPr>
              <a:t>平台1.0上线 · 模型国产化本地化 · 首批客户接入 · 合规架构搭建</a:t>
            </a:r>
          </a:p>
        </p:txBody>
      </p:sp>
      <p:sp>
        <p:nvSpPr>
          <p:cNvPr id="11" name="TextBox 10"/>
          <p:cNvSpPr txBox="1"/>
          <p:nvPr/>
        </p:nvSpPr>
        <p:spPr>
          <a:xfrm>
            <a:off x="3246120" y="2377440"/>
            <a:ext cx="228600" cy="457200"/>
          </a:xfrm>
          <a:prstGeom prst="rect">
            <a:avLst/>
          </a:prstGeom>
          <a:noFill/>
        </p:spPr>
        <p:txBody>
          <a:bodyPr wrap="square" lIns="0" tIns="0" rIns="0" bIns="0" anchor="ctr">
            <a:spAutoFit/>
          </a:bodyPr>
          <a:lstStyle/>
          <a:p>
            <a:pPr algn="ctr">
              <a:lnSpc>
                <a:spcPct val="112000"/>
              </a:lnSpc>
            </a:pPr>
            <a:r>
              <a:rPr sz="2000" b="1" i="0">
                <a:solidFill>
                  <a:srgbClr val="C9A227"/>
                </a:solidFill>
                <a:latin typeface="Noto Sans CJK SC"/>
                <a:ea typeface="Noto Sans CJK SC"/>
                <a:cs typeface="Noto Sans CJK SC"/>
              </a:rPr>
              <a:t>›</a:t>
            </a:r>
          </a:p>
        </p:txBody>
      </p:sp>
      <p:sp>
        <p:nvSpPr>
          <p:cNvPr id="12" name="Rounded Rectangle 11"/>
          <p:cNvSpPr/>
          <p:nvPr/>
        </p:nvSpPr>
        <p:spPr>
          <a:xfrm>
            <a:off x="3355848" y="1810512"/>
            <a:ext cx="2697480" cy="1810512"/>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355848" y="1810512"/>
            <a:ext cx="2697480" cy="475488"/>
          </a:xfrm>
          <a:prstGeom prst="roundRect">
            <a:avLst>
              <a:gd name="adj" fmla="val 8000"/>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55848" y="1810512"/>
            <a:ext cx="2697480" cy="475488"/>
          </a:xfrm>
          <a:prstGeom prst="rect">
            <a:avLst/>
          </a:prstGeom>
          <a:noFill/>
        </p:spPr>
        <p:txBody>
          <a:bodyPr wrap="square" lIns="0" tIns="0" rIns="0" bIns="0" anchor="ctr">
            <a:spAutoFit/>
          </a:bodyPr>
          <a:lstStyle/>
          <a:p>
            <a:pPr algn="ctr">
              <a:lnSpc>
                <a:spcPct val="112000"/>
              </a:lnSpc>
            </a:pPr>
            <a:r>
              <a:rPr sz="1350" b="1" i="0">
                <a:solidFill>
                  <a:srgbClr val="FFFFFF"/>
                </a:solidFill>
                <a:latin typeface="Noto Sans CJK SC"/>
                <a:ea typeface="Noto Sans CJK SC"/>
                <a:cs typeface="Noto Sans CJK SC"/>
              </a:rPr>
              <a:t>成形期</a:t>
            </a:r>
            <a:r>
              <a:rPr sz="1100" b="0" i="0">
                <a:solidFill>
                  <a:srgbClr val="C9D5E6"/>
                </a:solidFill>
                <a:latin typeface="Noto Sans CJK SC"/>
                <a:ea typeface="Noto Sans CJK SC"/>
                <a:cs typeface="Noto Sans CJK SC"/>
              </a:rPr>
              <a:t>   第2年</a:t>
            </a:r>
          </a:p>
        </p:txBody>
      </p:sp>
      <p:sp>
        <p:nvSpPr>
          <p:cNvPr id="15" name="TextBox 14"/>
          <p:cNvSpPr txBox="1"/>
          <p:nvPr/>
        </p:nvSpPr>
        <p:spPr>
          <a:xfrm>
            <a:off x="3538728" y="2450592"/>
            <a:ext cx="2377440" cy="1097280"/>
          </a:xfrm>
          <a:prstGeom prst="rect">
            <a:avLst/>
          </a:prstGeom>
          <a:noFill/>
        </p:spPr>
        <p:txBody>
          <a:bodyPr wrap="square" lIns="0" tIns="0" rIns="0" bIns="0" anchor="t">
            <a:spAutoFit/>
          </a:bodyPr>
          <a:lstStyle/>
          <a:p>
            <a:pPr algn="l">
              <a:lnSpc>
                <a:spcPct val="125000"/>
              </a:lnSpc>
            </a:pPr>
            <a:r>
              <a:rPr sz="1050" b="0" i="0">
                <a:solidFill>
                  <a:srgbClr val="2A3242"/>
                </a:solidFill>
                <a:latin typeface="Noto Sans CJK SC"/>
                <a:ea typeface="Noto Sans CJK SC"/>
                <a:cs typeface="Noto Sans CJK SC"/>
              </a:rPr>
              <a:t>实盘交易与资管试点 · 监管备案与资质完善 · 营收模型跑通</a:t>
            </a:r>
          </a:p>
        </p:txBody>
      </p:sp>
      <p:sp>
        <p:nvSpPr>
          <p:cNvPr id="16" name="TextBox 15"/>
          <p:cNvSpPr txBox="1"/>
          <p:nvPr/>
        </p:nvSpPr>
        <p:spPr>
          <a:xfrm>
            <a:off x="6053328" y="2377440"/>
            <a:ext cx="228600" cy="457200"/>
          </a:xfrm>
          <a:prstGeom prst="rect">
            <a:avLst/>
          </a:prstGeom>
          <a:noFill/>
        </p:spPr>
        <p:txBody>
          <a:bodyPr wrap="square" lIns="0" tIns="0" rIns="0" bIns="0" anchor="ctr">
            <a:spAutoFit/>
          </a:bodyPr>
          <a:lstStyle/>
          <a:p>
            <a:pPr algn="ctr">
              <a:lnSpc>
                <a:spcPct val="112000"/>
              </a:lnSpc>
            </a:pPr>
            <a:r>
              <a:rPr sz="2000" b="1" i="0">
                <a:solidFill>
                  <a:srgbClr val="C9A227"/>
                </a:solidFill>
                <a:latin typeface="Noto Sans CJK SC"/>
                <a:ea typeface="Noto Sans CJK SC"/>
                <a:cs typeface="Noto Sans CJK SC"/>
              </a:rPr>
              <a:t>›</a:t>
            </a:r>
          </a:p>
        </p:txBody>
      </p:sp>
      <p:sp>
        <p:nvSpPr>
          <p:cNvPr id="17" name="Rounded Rectangle 16"/>
          <p:cNvSpPr/>
          <p:nvPr/>
        </p:nvSpPr>
        <p:spPr>
          <a:xfrm>
            <a:off x="6163056" y="1810512"/>
            <a:ext cx="2697480" cy="1810512"/>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63056" y="1810512"/>
            <a:ext cx="2697480" cy="475488"/>
          </a:xfrm>
          <a:prstGeom prst="roundRect">
            <a:avLst>
              <a:gd name="adj" fmla="val 8000"/>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63056" y="1810512"/>
            <a:ext cx="2697480" cy="475488"/>
          </a:xfrm>
          <a:prstGeom prst="rect">
            <a:avLst/>
          </a:prstGeom>
          <a:noFill/>
        </p:spPr>
        <p:txBody>
          <a:bodyPr wrap="square" lIns="0" tIns="0" rIns="0" bIns="0" anchor="ctr">
            <a:spAutoFit/>
          </a:bodyPr>
          <a:lstStyle/>
          <a:p>
            <a:pPr algn="ctr">
              <a:lnSpc>
                <a:spcPct val="112000"/>
              </a:lnSpc>
            </a:pPr>
            <a:r>
              <a:rPr sz="1350" b="1" i="0">
                <a:solidFill>
                  <a:srgbClr val="FFFFFF"/>
                </a:solidFill>
                <a:latin typeface="Noto Sans CJK SC"/>
                <a:ea typeface="Noto Sans CJK SC"/>
                <a:cs typeface="Noto Sans CJK SC"/>
              </a:rPr>
              <a:t>矩阵期</a:t>
            </a:r>
            <a:r>
              <a:rPr sz="1100" b="0" i="0">
                <a:solidFill>
                  <a:srgbClr val="C9D5E6"/>
                </a:solidFill>
                <a:latin typeface="Noto Sans CJK SC"/>
                <a:ea typeface="Noto Sans CJK SC"/>
                <a:cs typeface="Noto Sans CJK SC"/>
              </a:rPr>
              <a:t>   第3年</a:t>
            </a:r>
          </a:p>
        </p:txBody>
      </p:sp>
      <p:sp>
        <p:nvSpPr>
          <p:cNvPr id="20" name="TextBox 19"/>
          <p:cNvSpPr txBox="1"/>
          <p:nvPr/>
        </p:nvSpPr>
        <p:spPr>
          <a:xfrm>
            <a:off x="6345936" y="2450592"/>
            <a:ext cx="2377440" cy="1097280"/>
          </a:xfrm>
          <a:prstGeom prst="rect">
            <a:avLst/>
          </a:prstGeom>
          <a:noFill/>
        </p:spPr>
        <p:txBody>
          <a:bodyPr wrap="square" lIns="0" tIns="0" rIns="0" bIns="0" anchor="t">
            <a:spAutoFit/>
          </a:bodyPr>
          <a:lstStyle/>
          <a:p>
            <a:pPr algn="l">
              <a:lnSpc>
                <a:spcPct val="125000"/>
              </a:lnSpc>
            </a:pPr>
            <a:r>
              <a:rPr sz="1050" b="0" i="0">
                <a:solidFill>
                  <a:srgbClr val="2A3242"/>
                </a:solidFill>
                <a:latin typeface="Noto Sans CJK SC"/>
                <a:ea typeface="Noto Sans CJK SC"/>
                <a:cs typeface="Noto Sans CJK SC"/>
              </a:rPr>
              <a:t>规模化获客 · AUM提升 · 投教与机构API拓展</a:t>
            </a:r>
          </a:p>
        </p:txBody>
      </p:sp>
      <p:sp>
        <p:nvSpPr>
          <p:cNvPr id="21" name="TextBox 20"/>
          <p:cNvSpPr txBox="1"/>
          <p:nvPr/>
        </p:nvSpPr>
        <p:spPr>
          <a:xfrm>
            <a:off x="8860536" y="2377440"/>
            <a:ext cx="228600" cy="457200"/>
          </a:xfrm>
          <a:prstGeom prst="rect">
            <a:avLst/>
          </a:prstGeom>
          <a:noFill/>
        </p:spPr>
        <p:txBody>
          <a:bodyPr wrap="square" lIns="0" tIns="0" rIns="0" bIns="0" anchor="ctr">
            <a:spAutoFit/>
          </a:bodyPr>
          <a:lstStyle/>
          <a:p>
            <a:pPr algn="ctr">
              <a:lnSpc>
                <a:spcPct val="112000"/>
              </a:lnSpc>
            </a:pPr>
            <a:r>
              <a:rPr sz="2000" b="1" i="0">
                <a:solidFill>
                  <a:srgbClr val="C9A227"/>
                </a:solidFill>
                <a:latin typeface="Noto Sans CJK SC"/>
                <a:ea typeface="Noto Sans CJK SC"/>
                <a:cs typeface="Noto Sans CJK SC"/>
              </a:rPr>
              <a:t>›</a:t>
            </a:r>
          </a:p>
        </p:txBody>
      </p:sp>
      <p:sp>
        <p:nvSpPr>
          <p:cNvPr id="22" name="Rounded Rectangle 21"/>
          <p:cNvSpPr/>
          <p:nvPr/>
        </p:nvSpPr>
        <p:spPr>
          <a:xfrm>
            <a:off x="8970264" y="1810512"/>
            <a:ext cx="2697480" cy="1810512"/>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970264" y="1810512"/>
            <a:ext cx="2697480" cy="475488"/>
          </a:xfrm>
          <a:prstGeom prst="roundRect">
            <a:avLst>
              <a:gd name="adj" fmla="val 8000"/>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70264" y="1810512"/>
            <a:ext cx="2697480" cy="475488"/>
          </a:xfrm>
          <a:prstGeom prst="rect">
            <a:avLst/>
          </a:prstGeom>
          <a:noFill/>
        </p:spPr>
        <p:txBody>
          <a:bodyPr wrap="square" lIns="0" tIns="0" rIns="0" bIns="0" anchor="ctr">
            <a:spAutoFit/>
          </a:bodyPr>
          <a:lstStyle/>
          <a:p>
            <a:pPr algn="ctr">
              <a:lnSpc>
                <a:spcPct val="112000"/>
              </a:lnSpc>
            </a:pPr>
            <a:r>
              <a:rPr sz="1350" b="1" i="0">
                <a:solidFill>
                  <a:srgbClr val="FFFFFF"/>
                </a:solidFill>
                <a:latin typeface="Noto Sans CJK SC"/>
                <a:ea typeface="Noto Sans CJK SC"/>
                <a:cs typeface="Noto Sans CJK SC"/>
              </a:rPr>
              <a:t>扩张期</a:t>
            </a:r>
            <a:r>
              <a:rPr sz="1100" b="0" i="0">
                <a:solidFill>
                  <a:srgbClr val="C9D5E6"/>
                </a:solidFill>
                <a:latin typeface="Noto Sans CJK SC"/>
                <a:ea typeface="Noto Sans CJK SC"/>
                <a:cs typeface="Noto Sans CJK SC"/>
              </a:rPr>
              <a:t>   3–5年</a:t>
            </a:r>
          </a:p>
        </p:txBody>
      </p:sp>
      <p:sp>
        <p:nvSpPr>
          <p:cNvPr id="25" name="TextBox 24"/>
          <p:cNvSpPr txBox="1"/>
          <p:nvPr/>
        </p:nvSpPr>
        <p:spPr>
          <a:xfrm>
            <a:off x="9153144" y="2450592"/>
            <a:ext cx="2377440" cy="1097280"/>
          </a:xfrm>
          <a:prstGeom prst="rect">
            <a:avLst/>
          </a:prstGeom>
          <a:noFill/>
        </p:spPr>
        <p:txBody>
          <a:bodyPr wrap="square" lIns="0" tIns="0" rIns="0" bIns="0" anchor="t">
            <a:spAutoFit/>
          </a:bodyPr>
          <a:lstStyle/>
          <a:p>
            <a:pPr algn="l">
              <a:lnSpc>
                <a:spcPct val="125000"/>
              </a:lnSpc>
            </a:pPr>
            <a:r>
              <a:rPr sz="1050" b="0" i="0">
                <a:solidFill>
                  <a:srgbClr val="2A3242"/>
                </a:solidFill>
                <a:latin typeface="Noto Sans CJK SC"/>
                <a:ea typeface="Noto Sans CJK SC"/>
                <a:cs typeface="Noto Sans CJK SC"/>
              </a:rPr>
              <a:t>多资产多市场布局 · 技术壁垒固化 · 校友与生态成型</a:t>
            </a:r>
          </a:p>
        </p:txBody>
      </p:sp>
      <p:sp>
        <p:nvSpPr>
          <p:cNvPr id="26" name="Rounded Rectangle 25"/>
          <p:cNvSpPr/>
          <p:nvPr/>
        </p:nvSpPr>
        <p:spPr>
          <a:xfrm>
            <a:off x="548640" y="3840480"/>
            <a:ext cx="5440680" cy="2377440"/>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art_finance.png"/>
          <p:cNvPicPr>
            <a:picLocks noChangeAspect="1"/>
          </p:cNvPicPr>
          <p:nvPr/>
        </p:nvPicPr>
        <p:blipFill>
          <a:blip r:embed="rId2"/>
          <a:stretch>
            <a:fillRect/>
          </a:stretch>
        </p:blipFill>
        <p:spPr>
          <a:xfrm>
            <a:off x="1371600" y="3977639"/>
            <a:ext cx="3785616" cy="2103120"/>
          </a:xfrm>
          <a:prstGeom prst="rect">
            <a:avLst/>
          </a:prstGeom>
        </p:spPr>
      </p:pic>
      <p:sp>
        <p:nvSpPr>
          <p:cNvPr id="28" name="Rounded Rectangle 27"/>
          <p:cNvSpPr/>
          <p:nvPr/>
        </p:nvSpPr>
        <p:spPr>
          <a:xfrm>
            <a:off x="6199632" y="3840480"/>
            <a:ext cx="5440680" cy="2377440"/>
          </a:xfrm>
          <a:prstGeom prst="roundRect">
            <a:avLst>
              <a:gd name="adj" fmla="val 6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chart_aum.png"/>
          <p:cNvPicPr>
            <a:picLocks noChangeAspect="1"/>
          </p:cNvPicPr>
          <p:nvPr/>
        </p:nvPicPr>
        <p:blipFill>
          <a:blip r:embed="rId3"/>
          <a:stretch>
            <a:fillRect/>
          </a:stretch>
        </p:blipFill>
        <p:spPr>
          <a:xfrm>
            <a:off x="7022592" y="3977639"/>
            <a:ext cx="3785616" cy="2103120"/>
          </a:xfrm>
          <a:prstGeom prst="rect">
            <a:avLst/>
          </a:prstGeom>
        </p:spPr>
      </p:pic>
      <p:sp>
        <p:nvSpPr>
          <p:cNvPr id="30" name="TextBox 29"/>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31" name="TextBox 30"/>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ounded Rectangle 1"/>
          <p:cNvSpPr/>
          <p:nvPr/>
        </p:nvSpPr>
        <p:spPr>
          <a:xfrm>
            <a:off x="548640" y="457200"/>
            <a:ext cx="237744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2377440" cy="365760"/>
          </a:xfrm>
          <a:prstGeom prst="rect">
            <a:avLst/>
          </a:prstGeom>
          <a:noFill/>
        </p:spPr>
        <p:txBody>
          <a:bodyPr wrap="square" lIns="0" tIns="0" rIns="0" bIns="0" anchor="ctr">
            <a:spAutoFit/>
          </a:bodyPr>
          <a:lstStyle/>
          <a:p>
            <a:pPr algn="ctr">
              <a:lnSpc>
                <a:spcPct val="112000"/>
              </a:lnSpc>
            </a:pPr>
            <a:r>
              <a:rPr sz="1200" b="1" i="0">
                <a:solidFill>
                  <a:srgbClr val="121D36"/>
                </a:solidFill>
                <a:latin typeface="Noto Sans CJK SC"/>
                <a:ea typeface="Noto Sans CJK SC"/>
                <a:cs typeface="Noto Sans CJK SC"/>
              </a:rPr>
              <a:t>诉求一 APPEAL 01</a:t>
            </a:r>
          </a:p>
        </p:txBody>
      </p:sp>
      <p:sp>
        <p:nvSpPr>
          <p:cNvPr id="4" name="TextBox 3"/>
          <p:cNvSpPr txBox="1"/>
          <p:nvPr/>
        </p:nvSpPr>
        <p:spPr>
          <a:xfrm>
            <a:off x="548640" y="914400"/>
            <a:ext cx="11064240" cy="422231"/>
          </a:xfrm>
          <a:prstGeom prst="rect">
            <a:avLst/>
          </a:prstGeom>
          <a:noFill/>
        </p:spPr>
        <p:txBody>
          <a:bodyPr wrap="square" lIns="0" tIns="0" rIns="0" bIns="0" anchor="t">
            <a:spAutoFit/>
          </a:bodyPr>
          <a:lstStyle/>
          <a:p>
            <a:pPr algn="l">
              <a:lnSpc>
                <a:spcPct val="112000"/>
              </a:lnSpc>
            </a:pPr>
            <a:r>
              <a:rPr sz="2600" b="1" i="0" dirty="0" err="1">
                <a:solidFill>
                  <a:srgbClr val="1B2A4A"/>
                </a:solidFill>
                <a:latin typeface="Noto Sans CJK SC"/>
                <a:ea typeface="Noto Sans CJK SC"/>
                <a:cs typeface="Noto Sans CJK SC"/>
              </a:rPr>
              <a:t>招募合伙人公司，共建AI量化</a:t>
            </a:r>
            <a:r>
              <a:rPr lang="zh-CN" altLang="en-US" sz="2600" b="1" i="0" dirty="0">
                <a:solidFill>
                  <a:srgbClr val="1B2A4A"/>
                </a:solidFill>
                <a:latin typeface="Noto Sans CJK SC"/>
                <a:ea typeface="Noto Sans CJK SC"/>
                <a:cs typeface="Noto Sans CJK SC"/>
              </a:rPr>
              <a:t>共识联盟</a:t>
            </a:r>
            <a:endParaRPr sz="2600" b="1" i="0" dirty="0">
              <a:solidFill>
                <a:srgbClr val="1B2A4A"/>
              </a:solidFill>
              <a:latin typeface="Noto Sans CJK SC"/>
              <a:ea typeface="Noto Sans CJK SC"/>
              <a:cs typeface="Noto Sans CJK SC"/>
            </a:endParaRPr>
          </a:p>
        </p:txBody>
      </p:sp>
      <p:sp>
        <p:nvSpPr>
          <p:cNvPr id="5" name="TextBox 4"/>
          <p:cNvSpPr txBox="1"/>
          <p:nvPr/>
        </p:nvSpPr>
        <p:spPr>
          <a:xfrm>
            <a:off x="548640" y="1444752"/>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Appeal I: Recruiting Partner Companies to Co-Build the Platform</a:t>
            </a:r>
          </a:p>
        </p:txBody>
      </p:sp>
      <p:sp>
        <p:nvSpPr>
          <p:cNvPr id="6" name="Rectangle 5"/>
          <p:cNvSpPr/>
          <p:nvPr/>
        </p:nvSpPr>
        <p:spPr>
          <a:xfrm>
            <a:off x="548640" y="1773936"/>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011680"/>
            <a:ext cx="5440680" cy="2834640"/>
          </a:xfrm>
          <a:prstGeom prst="roundRect">
            <a:avLst>
              <a:gd name="adj" fmla="val 7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2176272"/>
            <a:ext cx="4846320" cy="365760"/>
          </a:xfrm>
          <a:prstGeom prst="rect">
            <a:avLst/>
          </a:prstGeom>
          <a:noFill/>
        </p:spPr>
        <p:txBody>
          <a:bodyPr wrap="square" lIns="0" tIns="0" rIns="0" bIns="0" anchor="t">
            <a:spAutoFit/>
          </a:bodyPr>
          <a:lstStyle/>
          <a:p>
            <a:pPr algn="l">
              <a:lnSpc>
                <a:spcPct val="112000"/>
              </a:lnSpc>
            </a:pPr>
            <a:r>
              <a:rPr sz="1450" b="1" i="0">
                <a:solidFill>
                  <a:srgbClr val="E3C55C"/>
                </a:solidFill>
                <a:latin typeface="Noto Sans CJK SC"/>
                <a:ea typeface="Noto Sans CJK SC"/>
                <a:cs typeface="Noto Sans CJK SC"/>
              </a:rPr>
              <a:t>我们带来  WE BRING</a:t>
            </a:r>
          </a:p>
        </p:txBody>
      </p:sp>
      <p:sp>
        <p:nvSpPr>
          <p:cNvPr id="9" name="TextBox 8"/>
          <p:cNvSpPr txBox="1"/>
          <p:nvPr/>
        </p:nvSpPr>
        <p:spPr>
          <a:xfrm>
            <a:off x="841248" y="2606040"/>
            <a:ext cx="4892040" cy="2148840"/>
          </a:xfrm>
          <a:prstGeom prst="rect">
            <a:avLst/>
          </a:prstGeom>
          <a:noFill/>
        </p:spPr>
        <p:txBody>
          <a:bodyPr wrap="square" lIns="0" tIns="0" rIns="0" bIns="0" anchor="t">
            <a:spAutoFit/>
          </a:bodyPr>
          <a:lstStyle/>
          <a:p>
            <a:pPr algn="l">
              <a:lnSpc>
                <a:spcPct val="115000"/>
              </a:lnSpc>
              <a:spcBef>
                <a:spcPts val="0"/>
              </a:spcBef>
              <a:spcAft>
                <a:spcPts val="700"/>
              </a:spcAft>
            </a:pPr>
            <a:r>
              <a:rPr sz="1050" b="0" i="0">
                <a:solidFill>
                  <a:srgbClr val="C9A227"/>
                </a:solidFill>
                <a:latin typeface="Noto Sans CJK SC"/>
                <a:ea typeface="Noto Sans CJK SC"/>
                <a:cs typeface="Noto Sans CJK SC"/>
              </a:rPr>
              <a:t>◆  </a:t>
            </a:r>
            <a:r>
              <a:rPr sz="1150" b="0" i="0">
                <a:solidFill>
                  <a:srgbClr val="D5DDEA"/>
                </a:solidFill>
                <a:latin typeface="Noto Sans CJK SC"/>
                <a:ea typeface="Noto Sans CJK SC"/>
                <a:cs typeface="Noto Sans CJK SC"/>
              </a:rPr>
              <a:t>独有模型体系：John Ding数理金融模型（十年沉淀）</a:t>
            </a:r>
          </a:p>
          <a:p>
            <a:pPr algn="l">
              <a:lnSpc>
                <a:spcPct val="115000"/>
              </a:lnSpc>
              <a:spcBef>
                <a:spcPts val="0"/>
              </a:spcBef>
              <a:spcAft>
                <a:spcPts val="700"/>
              </a:spcAft>
            </a:pPr>
            <a:r>
              <a:rPr sz="1050" b="0" i="0">
                <a:solidFill>
                  <a:srgbClr val="C9A227"/>
                </a:solidFill>
                <a:latin typeface="Noto Sans CJK SC"/>
                <a:ea typeface="Noto Sans CJK SC"/>
                <a:cs typeface="Noto Sans CJK SC"/>
              </a:rPr>
              <a:t>◆  </a:t>
            </a:r>
            <a:r>
              <a:rPr sz="1150" b="0" i="0">
                <a:solidFill>
                  <a:srgbClr val="D5DDEA"/>
                </a:solidFill>
                <a:latin typeface="Noto Sans CJK SC"/>
                <a:ea typeface="Noto Sans CJK SC"/>
                <a:cs typeface="Noto Sans CJK SC"/>
              </a:rPr>
              <a:t>华尔街级专家团队与全周期科创辅导能力</a:t>
            </a:r>
          </a:p>
          <a:p>
            <a:pPr algn="l">
              <a:lnSpc>
                <a:spcPct val="115000"/>
              </a:lnSpc>
              <a:spcBef>
                <a:spcPts val="0"/>
              </a:spcBef>
              <a:spcAft>
                <a:spcPts val="700"/>
              </a:spcAft>
            </a:pPr>
            <a:r>
              <a:rPr sz="1050" b="0" i="0">
                <a:solidFill>
                  <a:srgbClr val="C9A227"/>
                </a:solidFill>
                <a:latin typeface="Noto Sans CJK SC"/>
                <a:ea typeface="Noto Sans CJK SC"/>
                <a:cs typeface="Noto Sans CJK SC"/>
              </a:rPr>
              <a:t>◆  </a:t>
            </a:r>
            <a:r>
              <a:rPr sz="1150" b="0" i="0">
                <a:solidFill>
                  <a:srgbClr val="D5DDEA"/>
                </a:solidFill>
                <a:latin typeface="Noto Sans CJK SC"/>
                <a:ea typeface="Noto Sans CJK SC"/>
                <a:cs typeface="Noto Sans CJK SC"/>
              </a:rPr>
              <a:t>中美双合规架构（SRFK律所 + 国内资管主体）</a:t>
            </a:r>
          </a:p>
          <a:p>
            <a:pPr algn="l">
              <a:lnSpc>
                <a:spcPct val="115000"/>
              </a:lnSpc>
              <a:spcBef>
                <a:spcPts val="0"/>
              </a:spcBef>
              <a:spcAft>
                <a:spcPts val="700"/>
              </a:spcAft>
            </a:pPr>
            <a:r>
              <a:rPr sz="1050" b="0" i="0">
                <a:solidFill>
                  <a:srgbClr val="C9A227"/>
                </a:solidFill>
                <a:latin typeface="Noto Sans CJK SC"/>
                <a:ea typeface="Noto Sans CJK SC"/>
                <a:cs typeface="Noto Sans CJK SC"/>
              </a:rPr>
              <a:t>◆  </a:t>
            </a:r>
            <a:r>
              <a:rPr sz="1150" b="0" i="0">
                <a:solidFill>
                  <a:srgbClr val="D5DDEA"/>
                </a:solidFill>
                <a:latin typeface="Noto Sans CJK SC"/>
                <a:ea typeface="Noto Sans CJK SC"/>
                <a:cs typeface="Noto Sans CJK SC"/>
              </a:rPr>
              <a:t>北电数智产业级GPU算力底座</a:t>
            </a:r>
          </a:p>
          <a:p>
            <a:pPr algn="l">
              <a:lnSpc>
                <a:spcPct val="115000"/>
              </a:lnSpc>
              <a:spcBef>
                <a:spcPts val="0"/>
              </a:spcBef>
              <a:spcAft>
                <a:spcPts val="700"/>
              </a:spcAft>
            </a:pPr>
            <a:r>
              <a:rPr sz="1050" b="0" i="0">
                <a:solidFill>
                  <a:srgbClr val="C9A227"/>
                </a:solidFill>
                <a:latin typeface="Noto Sans CJK SC"/>
                <a:ea typeface="Noto Sans CJK SC"/>
                <a:cs typeface="Noto Sans CJK SC"/>
              </a:rPr>
              <a:t>◆  </a:t>
            </a:r>
            <a:r>
              <a:rPr sz="1150" b="0" i="0">
                <a:solidFill>
                  <a:srgbClr val="D5DDEA"/>
                </a:solidFill>
                <a:latin typeface="Noto Sans CJK SC"/>
                <a:ea typeface="Noto Sans CJK SC"/>
                <a:cs typeface="Noto Sans CJK SC"/>
              </a:rPr>
              <a:t>deepvix.com十年运营经验与565名种子客户</a:t>
            </a:r>
          </a:p>
        </p:txBody>
      </p:sp>
      <p:sp>
        <p:nvSpPr>
          <p:cNvPr id="10" name="Rounded Rectangle 9"/>
          <p:cNvSpPr/>
          <p:nvPr/>
        </p:nvSpPr>
        <p:spPr>
          <a:xfrm>
            <a:off x="6199632" y="2011680"/>
            <a:ext cx="5440680" cy="2834640"/>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2011680"/>
            <a:ext cx="5440680" cy="822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176272"/>
            <a:ext cx="4846320" cy="365760"/>
          </a:xfrm>
          <a:prstGeom prst="rect">
            <a:avLst/>
          </a:prstGeom>
          <a:noFill/>
        </p:spPr>
        <p:txBody>
          <a:bodyPr wrap="square" lIns="0" tIns="0" rIns="0" bIns="0" anchor="t">
            <a:spAutoFit/>
          </a:bodyPr>
          <a:lstStyle/>
          <a:p>
            <a:pPr algn="l">
              <a:lnSpc>
                <a:spcPct val="112000"/>
              </a:lnSpc>
            </a:pPr>
            <a:r>
              <a:rPr sz="1450" b="1" i="0">
                <a:solidFill>
                  <a:srgbClr val="1B2A4A"/>
                </a:solidFill>
                <a:latin typeface="Noto Sans CJK SC"/>
                <a:ea typeface="Noto Sans CJK SC"/>
                <a:cs typeface="Noto Sans CJK SC"/>
              </a:rPr>
              <a:t>期待您是  WE SEEK</a:t>
            </a:r>
          </a:p>
        </p:txBody>
      </p:sp>
      <p:sp>
        <p:nvSpPr>
          <p:cNvPr id="13" name="Rounded Rectangle 12"/>
          <p:cNvSpPr/>
          <p:nvPr/>
        </p:nvSpPr>
        <p:spPr>
          <a:xfrm>
            <a:off x="6492240" y="2633472"/>
            <a:ext cx="4846320" cy="475488"/>
          </a:xfrm>
          <a:prstGeom prst="roundRect">
            <a:avLst>
              <a:gd name="adj" fmla="val 15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93408" y="2633472"/>
            <a:ext cx="4572000" cy="475488"/>
          </a:xfrm>
          <a:prstGeom prst="rect">
            <a:avLst/>
          </a:prstGeom>
          <a:noFill/>
        </p:spPr>
        <p:txBody>
          <a:bodyPr wrap="square" lIns="0" tIns="0" rIns="0" bIns="0" anchor="ctr">
            <a:spAutoFit/>
          </a:bodyPr>
          <a:lstStyle/>
          <a:p>
            <a:pPr algn="l">
              <a:lnSpc>
                <a:spcPct val="112000"/>
              </a:lnSpc>
            </a:pPr>
            <a:r>
              <a:rPr sz="1150" b="1" i="0">
                <a:solidFill>
                  <a:srgbClr val="2C4A7C"/>
                </a:solidFill>
                <a:latin typeface="Noto Sans CJK SC"/>
                <a:ea typeface="Noto Sans CJK SC"/>
                <a:cs typeface="Noto Sans CJK SC"/>
              </a:rPr>
              <a:t>券商 / 金融科技公司</a:t>
            </a:r>
            <a:r>
              <a:rPr sz="1050" b="0" i="0">
                <a:solidFill>
                  <a:srgbClr val="2A3242"/>
                </a:solidFill>
                <a:latin typeface="Noto Sans CJK SC"/>
                <a:ea typeface="Noto Sans CJK SC"/>
                <a:cs typeface="Noto Sans CJK SC"/>
              </a:rPr>
              <a:t>  —  交易通道、牌照协同与客户资源</a:t>
            </a:r>
          </a:p>
        </p:txBody>
      </p:sp>
      <p:sp>
        <p:nvSpPr>
          <p:cNvPr id="15" name="Rounded Rectangle 14"/>
          <p:cNvSpPr/>
          <p:nvPr/>
        </p:nvSpPr>
        <p:spPr>
          <a:xfrm>
            <a:off x="6492240" y="3182112"/>
            <a:ext cx="4846320" cy="475488"/>
          </a:xfrm>
          <a:prstGeom prst="roundRect">
            <a:avLst>
              <a:gd name="adj" fmla="val 15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8" y="3182112"/>
            <a:ext cx="4572000" cy="475488"/>
          </a:xfrm>
          <a:prstGeom prst="rect">
            <a:avLst/>
          </a:prstGeom>
          <a:noFill/>
        </p:spPr>
        <p:txBody>
          <a:bodyPr wrap="square" lIns="0" tIns="0" rIns="0" bIns="0" anchor="ctr">
            <a:spAutoFit/>
          </a:bodyPr>
          <a:lstStyle/>
          <a:p>
            <a:pPr algn="l">
              <a:lnSpc>
                <a:spcPct val="112000"/>
              </a:lnSpc>
            </a:pPr>
            <a:r>
              <a:rPr sz="1150" b="1" i="0">
                <a:solidFill>
                  <a:srgbClr val="2C4A7C"/>
                </a:solidFill>
                <a:latin typeface="Noto Sans CJK SC"/>
                <a:ea typeface="Noto Sans CJK SC"/>
                <a:cs typeface="Noto Sans CJK SC"/>
              </a:rPr>
              <a:t>数据服务商</a:t>
            </a:r>
            <a:r>
              <a:rPr sz="1050" b="0" i="0">
                <a:solidFill>
                  <a:srgbClr val="2A3242"/>
                </a:solidFill>
                <a:latin typeface="Noto Sans CJK SC"/>
                <a:ea typeface="Noto Sans CJK SC"/>
                <a:cs typeface="Noto Sans CJK SC"/>
              </a:rPr>
              <a:t>  —  行情、另类数据与高频数据供给</a:t>
            </a:r>
          </a:p>
        </p:txBody>
      </p:sp>
      <p:sp>
        <p:nvSpPr>
          <p:cNvPr id="17" name="Rounded Rectangle 16"/>
          <p:cNvSpPr/>
          <p:nvPr/>
        </p:nvSpPr>
        <p:spPr>
          <a:xfrm>
            <a:off x="6492240" y="3730752"/>
            <a:ext cx="4846320" cy="475488"/>
          </a:xfrm>
          <a:prstGeom prst="roundRect">
            <a:avLst>
              <a:gd name="adj" fmla="val 15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408" y="3730752"/>
            <a:ext cx="4572000" cy="475488"/>
          </a:xfrm>
          <a:prstGeom prst="rect">
            <a:avLst/>
          </a:prstGeom>
          <a:noFill/>
        </p:spPr>
        <p:txBody>
          <a:bodyPr wrap="square" lIns="0" tIns="0" rIns="0" bIns="0" anchor="ctr">
            <a:spAutoFit/>
          </a:bodyPr>
          <a:lstStyle/>
          <a:p>
            <a:pPr algn="l">
              <a:lnSpc>
                <a:spcPct val="112000"/>
              </a:lnSpc>
            </a:pPr>
            <a:r>
              <a:rPr sz="1150" b="1" i="0">
                <a:solidFill>
                  <a:srgbClr val="2C4A7C"/>
                </a:solidFill>
                <a:latin typeface="Noto Sans CJK SC"/>
                <a:ea typeface="Noto Sans CJK SC"/>
                <a:cs typeface="Noto Sans CJK SC"/>
              </a:rPr>
              <a:t>资管 / 私募机构</a:t>
            </a:r>
            <a:r>
              <a:rPr sz="1050" b="0" i="0">
                <a:solidFill>
                  <a:srgbClr val="2A3242"/>
                </a:solidFill>
                <a:latin typeface="Noto Sans CJK SC"/>
                <a:ea typeface="Noto Sans CJK SC"/>
                <a:cs typeface="Noto Sans CJK SC"/>
              </a:rPr>
              <a:t>  —  资金实力与产品化发行能力</a:t>
            </a:r>
          </a:p>
        </p:txBody>
      </p:sp>
      <p:sp>
        <p:nvSpPr>
          <p:cNvPr id="19" name="Rounded Rectangle 18"/>
          <p:cNvSpPr/>
          <p:nvPr/>
        </p:nvSpPr>
        <p:spPr>
          <a:xfrm>
            <a:off x="6492240" y="4279392"/>
            <a:ext cx="4846320" cy="475488"/>
          </a:xfrm>
          <a:prstGeom prst="roundRect">
            <a:avLst>
              <a:gd name="adj" fmla="val 15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8" y="4279392"/>
            <a:ext cx="4572000" cy="475488"/>
          </a:xfrm>
          <a:prstGeom prst="rect">
            <a:avLst/>
          </a:prstGeom>
          <a:noFill/>
        </p:spPr>
        <p:txBody>
          <a:bodyPr wrap="square" lIns="0" tIns="0" rIns="0" bIns="0" anchor="ctr">
            <a:spAutoFit/>
          </a:bodyPr>
          <a:lstStyle/>
          <a:p>
            <a:pPr algn="l">
              <a:lnSpc>
                <a:spcPct val="112000"/>
              </a:lnSpc>
            </a:pPr>
            <a:r>
              <a:rPr sz="1150" b="1" i="0">
                <a:solidFill>
                  <a:srgbClr val="2C4A7C"/>
                </a:solidFill>
                <a:latin typeface="Noto Sans CJK SC"/>
                <a:ea typeface="Noto Sans CJK SC"/>
                <a:cs typeface="Noto Sans CJK SC"/>
              </a:rPr>
              <a:t>科技园区 / 地方政府</a:t>
            </a:r>
            <a:r>
              <a:rPr sz="1050" b="0" i="0">
                <a:solidFill>
                  <a:srgbClr val="2A3242"/>
                </a:solidFill>
                <a:latin typeface="Noto Sans CJK SC"/>
                <a:ea typeface="Noto Sans CJK SC"/>
                <a:cs typeface="Noto Sans CJK SC"/>
              </a:rPr>
              <a:t>  —  政策扶持、场地与产业配套</a:t>
            </a:r>
          </a:p>
        </p:txBody>
      </p:sp>
      <p:sp>
        <p:nvSpPr>
          <p:cNvPr id="21" name="TextBox 20"/>
          <p:cNvSpPr txBox="1"/>
          <p:nvPr/>
        </p:nvSpPr>
        <p:spPr>
          <a:xfrm>
            <a:off x="548640" y="5029200"/>
            <a:ext cx="2743200" cy="320040"/>
          </a:xfrm>
          <a:prstGeom prst="rect">
            <a:avLst/>
          </a:prstGeom>
          <a:noFill/>
        </p:spPr>
        <p:txBody>
          <a:bodyPr wrap="square" lIns="0" tIns="0" rIns="0" bIns="0" anchor="t">
            <a:spAutoFit/>
          </a:bodyPr>
          <a:lstStyle/>
          <a:p>
            <a:pPr algn="l">
              <a:lnSpc>
                <a:spcPct val="112000"/>
              </a:lnSpc>
            </a:pPr>
            <a:r>
              <a:rPr sz="1300" b="1" i="0">
                <a:solidFill>
                  <a:srgbClr val="1B2A4A"/>
                </a:solidFill>
                <a:latin typeface="Noto Sans CJK SC"/>
                <a:ea typeface="Noto Sans CJK SC"/>
                <a:cs typeface="Noto Sans CJK SC"/>
              </a:rPr>
              <a:t>合作方式  Cooperation Models</a:t>
            </a:r>
          </a:p>
        </p:txBody>
      </p:sp>
      <p:sp>
        <p:nvSpPr>
          <p:cNvPr id="22" name="Rounded Rectangle 21"/>
          <p:cNvSpPr/>
          <p:nvPr/>
        </p:nvSpPr>
        <p:spPr>
          <a:xfrm>
            <a:off x="548640" y="5394960"/>
            <a:ext cx="2697480" cy="685800"/>
          </a:xfrm>
          <a:prstGeom prst="roundRect">
            <a:avLst>
              <a:gd name="adj" fmla="val 12000"/>
            </a:avLst>
          </a:prstGeom>
          <a:solidFill>
            <a:srgbClr val="FFFFFF"/>
          </a:solidFill>
          <a:ln w="1524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5394960"/>
            <a:ext cx="2423160" cy="685800"/>
          </a:xfrm>
          <a:prstGeom prst="rect">
            <a:avLst/>
          </a:prstGeom>
          <a:noFill/>
        </p:spPr>
        <p:txBody>
          <a:bodyPr wrap="square" lIns="0" tIns="0" rIns="0" bIns="0" anchor="ctr">
            <a:spAutoFit/>
          </a:bodyPr>
          <a:lstStyle/>
          <a:p>
            <a:pPr algn="ctr">
              <a:lnSpc>
                <a:spcPct val="112000"/>
              </a:lnSpc>
            </a:pPr>
            <a:r>
              <a:rPr sz="1150" b="1" i="0">
                <a:solidFill>
                  <a:srgbClr val="1B2A4A"/>
                </a:solidFill>
                <a:latin typeface="Noto Sans CJK SC"/>
                <a:ea typeface="Noto Sans CJK SC"/>
                <a:cs typeface="Noto Sans CJK SC"/>
              </a:rPr>
              <a:t>合资公司 Joint Venture</a:t>
            </a:r>
          </a:p>
        </p:txBody>
      </p:sp>
      <p:sp>
        <p:nvSpPr>
          <p:cNvPr id="24" name="Rounded Rectangle 23"/>
          <p:cNvSpPr/>
          <p:nvPr/>
        </p:nvSpPr>
        <p:spPr>
          <a:xfrm>
            <a:off x="3355848" y="5394960"/>
            <a:ext cx="2697480" cy="685800"/>
          </a:xfrm>
          <a:prstGeom prst="roundRect">
            <a:avLst>
              <a:gd name="adj" fmla="val 12000"/>
            </a:avLst>
          </a:prstGeom>
          <a:solidFill>
            <a:srgbClr val="FFFFFF"/>
          </a:solidFill>
          <a:ln w="1524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93008" y="5394960"/>
            <a:ext cx="2423160" cy="685800"/>
          </a:xfrm>
          <a:prstGeom prst="rect">
            <a:avLst/>
          </a:prstGeom>
          <a:noFill/>
        </p:spPr>
        <p:txBody>
          <a:bodyPr wrap="square" lIns="0" tIns="0" rIns="0" bIns="0" anchor="ctr">
            <a:spAutoFit/>
          </a:bodyPr>
          <a:lstStyle/>
          <a:p>
            <a:pPr algn="ctr">
              <a:lnSpc>
                <a:spcPct val="112000"/>
              </a:lnSpc>
            </a:pPr>
            <a:r>
              <a:rPr sz="1150" b="1" i="0">
                <a:solidFill>
                  <a:srgbClr val="1B2A4A"/>
                </a:solidFill>
                <a:latin typeface="Noto Sans CJK SC"/>
                <a:ea typeface="Noto Sans CJK SC"/>
                <a:cs typeface="Noto Sans CJK SC"/>
              </a:rPr>
              <a:t>战略投资 Strategic Investment</a:t>
            </a:r>
          </a:p>
        </p:txBody>
      </p:sp>
      <p:sp>
        <p:nvSpPr>
          <p:cNvPr id="26" name="Rounded Rectangle 25"/>
          <p:cNvSpPr/>
          <p:nvPr/>
        </p:nvSpPr>
        <p:spPr>
          <a:xfrm>
            <a:off x="6163056" y="5394960"/>
            <a:ext cx="2697480" cy="685800"/>
          </a:xfrm>
          <a:prstGeom prst="roundRect">
            <a:avLst>
              <a:gd name="adj" fmla="val 12000"/>
            </a:avLst>
          </a:prstGeom>
          <a:solidFill>
            <a:srgbClr val="FFFFFF"/>
          </a:solidFill>
          <a:ln w="1524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0216" y="5394960"/>
            <a:ext cx="2423160" cy="685800"/>
          </a:xfrm>
          <a:prstGeom prst="rect">
            <a:avLst/>
          </a:prstGeom>
          <a:noFill/>
        </p:spPr>
        <p:txBody>
          <a:bodyPr wrap="square" lIns="0" tIns="0" rIns="0" bIns="0" anchor="ctr">
            <a:spAutoFit/>
          </a:bodyPr>
          <a:lstStyle/>
          <a:p>
            <a:pPr algn="ctr">
              <a:lnSpc>
                <a:spcPct val="112000"/>
              </a:lnSpc>
            </a:pPr>
            <a:r>
              <a:rPr sz="1150" b="1" i="0">
                <a:solidFill>
                  <a:srgbClr val="1B2A4A"/>
                </a:solidFill>
                <a:latin typeface="Noto Sans CJK SC"/>
                <a:ea typeface="Noto Sans CJK SC"/>
                <a:cs typeface="Noto Sans CJK SC"/>
              </a:rPr>
              <a:t>资源互换 Resource Exchange</a:t>
            </a:r>
          </a:p>
        </p:txBody>
      </p:sp>
      <p:sp>
        <p:nvSpPr>
          <p:cNvPr id="28" name="Rounded Rectangle 27"/>
          <p:cNvSpPr/>
          <p:nvPr/>
        </p:nvSpPr>
        <p:spPr>
          <a:xfrm>
            <a:off x="8970264" y="5394960"/>
            <a:ext cx="2697480" cy="685800"/>
          </a:xfrm>
          <a:prstGeom prst="roundRect">
            <a:avLst>
              <a:gd name="adj" fmla="val 12000"/>
            </a:avLst>
          </a:prstGeom>
          <a:solidFill>
            <a:srgbClr val="FFFFFF"/>
          </a:solidFill>
          <a:ln w="1524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5394960"/>
            <a:ext cx="2423160" cy="685800"/>
          </a:xfrm>
          <a:prstGeom prst="rect">
            <a:avLst/>
          </a:prstGeom>
          <a:noFill/>
        </p:spPr>
        <p:txBody>
          <a:bodyPr wrap="square" lIns="0" tIns="0" rIns="0" bIns="0" anchor="ctr">
            <a:spAutoFit/>
          </a:bodyPr>
          <a:lstStyle/>
          <a:p>
            <a:pPr algn="ctr">
              <a:lnSpc>
                <a:spcPct val="112000"/>
              </a:lnSpc>
            </a:pPr>
            <a:r>
              <a:rPr sz="1150" b="1" i="0">
                <a:solidFill>
                  <a:srgbClr val="1B2A4A"/>
                </a:solidFill>
                <a:latin typeface="Noto Sans CJK SC"/>
                <a:ea typeface="Noto Sans CJK SC"/>
                <a:cs typeface="Noto Sans CJK SC"/>
              </a:rPr>
              <a:t>联合运营 Co-Operation</a:t>
            </a:r>
          </a:p>
        </p:txBody>
      </p:sp>
      <p:sp>
        <p:nvSpPr>
          <p:cNvPr id="30" name="TextBox 29"/>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31" name="TextBox 30"/>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ounded Rectangle 1"/>
          <p:cNvSpPr/>
          <p:nvPr/>
        </p:nvSpPr>
        <p:spPr>
          <a:xfrm>
            <a:off x="548640" y="457200"/>
            <a:ext cx="237744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2377440" cy="365760"/>
          </a:xfrm>
          <a:prstGeom prst="rect">
            <a:avLst/>
          </a:prstGeom>
          <a:noFill/>
        </p:spPr>
        <p:txBody>
          <a:bodyPr wrap="square" lIns="0" tIns="0" rIns="0" bIns="0" anchor="ctr">
            <a:spAutoFit/>
          </a:bodyPr>
          <a:lstStyle/>
          <a:p>
            <a:pPr algn="ctr">
              <a:lnSpc>
                <a:spcPct val="112000"/>
              </a:lnSpc>
            </a:pPr>
            <a:r>
              <a:rPr sz="1200" b="1" i="0">
                <a:solidFill>
                  <a:srgbClr val="121D36"/>
                </a:solidFill>
                <a:latin typeface="Noto Sans CJK SC"/>
                <a:ea typeface="Noto Sans CJK SC"/>
                <a:cs typeface="Noto Sans CJK SC"/>
              </a:rPr>
              <a:t>诉求二 APPEAL 02</a:t>
            </a:r>
          </a:p>
        </p:txBody>
      </p:sp>
      <p:sp>
        <p:nvSpPr>
          <p:cNvPr id="4" name="TextBox 3"/>
          <p:cNvSpPr txBox="1"/>
          <p:nvPr/>
        </p:nvSpPr>
        <p:spPr>
          <a:xfrm>
            <a:off x="548640" y="914400"/>
            <a:ext cx="11064240" cy="422231"/>
          </a:xfrm>
          <a:prstGeom prst="rect">
            <a:avLst/>
          </a:prstGeom>
          <a:noFill/>
        </p:spPr>
        <p:txBody>
          <a:bodyPr wrap="square" lIns="0" tIns="0" rIns="0" bIns="0" anchor="t">
            <a:spAutoFit/>
          </a:bodyPr>
          <a:lstStyle/>
          <a:p>
            <a:pPr algn="l">
              <a:lnSpc>
                <a:spcPct val="112000"/>
              </a:lnSpc>
            </a:pPr>
            <a:r>
              <a:rPr sz="2600" b="1" i="0" dirty="0" err="1">
                <a:solidFill>
                  <a:srgbClr val="1B2A4A"/>
                </a:solidFill>
                <a:latin typeface="Noto Sans CJK SC"/>
                <a:ea typeface="Noto Sans CJK SC"/>
                <a:cs typeface="Noto Sans CJK SC"/>
              </a:rPr>
              <a:t>创建全</a:t>
            </a:r>
            <a:r>
              <a:rPr lang="zh-CN" altLang="en-US" sz="2600" b="1" dirty="0">
                <a:solidFill>
                  <a:srgbClr val="1B2A4A"/>
                </a:solidFill>
                <a:latin typeface="Noto Sans CJK SC"/>
                <a:ea typeface="Noto Sans CJK SC"/>
                <a:cs typeface="Noto Sans CJK SC"/>
              </a:rPr>
              <a:t>球</a:t>
            </a:r>
            <a:r>
              <a:rPr sz="2600" b="1" i="0" dirty="0" err="1">
                <a:solidFill>
                  <a:srgbClr val="1B2A4A"/>
                </a:solidFill>
                <a:latin typeface="Noto Sans CJK SC"/>
                <a:ea typeface="Noto Sans CJK SC"/>
                <a:cs typeface="Noto Sans CJK SC"/>
              </a:rPr>
              <a:t>AI量化</a:t>
            </a:r>
            <a:r>
              <a:rPr lang="zh-CN" altLang="en-US" sz="2600" b="1" i="0" dirty="0">
                <a:solidFill>
                  <a:srgbClr val="1B2A4A"/>
                </a:solidFill>
                <a:latin typeface="Noto Sans CJK SC"/>
                <a:ea typeface="Noto Sans CJK SC"/>
                <a:cs typeface="Noto Sans CJK SC"/>
              </a:rPr>
              <a:t>共识</a:t>
            </a:r>
            <a:r>
              <a:rPr sz="2600" b="1" i="0" dirty="0" err="1">
                <a:solidFill>
                  <a:srgbClr val="1B2A4A"/>
                </a:solidFill>
                <a:latin typeface="Noto Sans CJK SC"/>
                <a:ea typeface="Noto Sans CJK SC"/>
                <a:cs typeface="Noto Sans CJK SC"/>
              </a:rPr>
              <a:t>联盟</a:t>
            </a:r>
            <a:endParaRPr sz="2600" b="1" i="0" dirty="0">
              <a:solidFill>
                <a:srgbClr val="1B2A4A"/>
              </a:solidFill>
              <a:latin typeface="Noto Sans CJK SC"/>
              <a:ea typeface="Noto Sans CJK SC"/>
              <a:cs typeface="Noto Sans CJK SC"/>
            </a:endParaRPr>
          </a:p>
        </p:txBody>
      </p:sp>
      <p:sp>
        <p:nvSpPr>
          <p:cNvPr id="5" name="TextBox 4"/>
          <p:cNvSpPr txBox="1"/>
          <p:nvPr/>
        </p:nvSpPr>
        <p:spPr>
          <a:xfrm>
            <a:off x="548640" y="1444752"/>
            <a:ext cx="11064240" cy="187615"/>
          </a:xfrm>
          <a:prstGeom prst="rect">
            <a:avLst/>
          </a:prstGeom>
          <a:noFill/>
        </p:spPr>
        <p:txBody>
          <a:bodyPr wrap="square" lIns="0" tIns="0" rIns="0" bIns="0" anchor="t">
            <a:spAutoFit/>
          </a:bodyPr>
          <a:lstStyle/>
          <a:p>
            <a:pPr algn="l">
              <a:lnSpc>
                <a:spcPct val="112000"/>
              </a:lnSpc>
            </a:pPr>
            <a:r>
              <a:rPr sz="1150" b="0" i="0" dirty="0">
                <a:solidFill>
                  <a:srgbClr val="6B7688"/>
                </a:solidFill>
                <a:latin typeface="Noto Sans CJK SC"/>
                <a:ea typeface="Noto Sans CJK SC"/>
                <a:cs typeface="Noto Sans CJK SC"/>
              </a:rPr>
              <a:t>Appeal II: Founding the </a:t>
            </a:r>
            <a:r>
              <a:rPr lang="en-US" sz="1150" b="0" i="0" dirty="0">
                <a:solidFill>
                  <a:srgbClr val="6B7688"/>
                </a:solidFill>
                <a:latin typeface="Noto Sans CJK SC"/>
                <a:ea typeface="Noto Sans CJK SC"/>
                <a:cs typeface="Noto Sans CJK SC"/>
              </a:rPr>
              <a:t>Global</a:t>
            </a:r>
            <a:r>
              <a:rPr sz="1150" b="0" i="0" dirty="0">
                <a:solidFill>
                  <a:srgbClr val="6B7688"/>
                </a:solidFill>
                <a:latin typeface="Noto Sans CJK SC"/>
                <a:ea typeface="Noto Sans CJK SC"/>
                <a:cs typeface="Noto Sans CJK SC"/>
              </a:rPr>
              <a:t> AI Quantitative Trading Alliance</a:t>
            </a:r>
          </a:p>
        </p:txBody>
      </p:sp>
      <p:sp>
        <p:nvSpPr>
          <p:cNvPr id="6" name="Rectangle 5"/>
          <p:cNvSpPr/>
          <p:nvPr/>
        </p:nvSpPr>
        <p:spPr>
          <a:xfrm>
            <a:off x="548640" y="1773936"/>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011680"/>
            <a:ext cx="11091672" cy="603504"/>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11680"/>
            <a:ext cx="10515600" cy="603504"/>
          </a:xfrm>
          <a:prstGeom prst="rect">
            <a:avLst/>
          </a:prstGeom>
          <a:noFill/>
        </p:spPr>
        <p:txBody>
          <a:bodyPr wrap="square" lIns="0" tIns="0" rIns="0" bIns="0" anchor="ctr">
            <a:spAutoFit/>
          </a:bodyPr>
          <a:lstStyle/>
          <a:p>
            <a:pPr algn="l">
              <a:lnSpc>
                <a:spcPct val="112000"/>
              </a:lnSpc>
            </a:pPr>
            <a:r>
              <a:rPr sz="1300" b="1" i="0">
                <a:solidFill>
                  <a:srgbClr val="E3C55C"/>
                </a:solidFill>
                <a:latin typeface="Noto Sans CJK SC"/>
                <a:ea typeface="Noto Sans CJK SC"/>
                <a:cs typeface="Noto Sans CJK SC"/>
              </a:rPr>
              <a:t>联盟定位：</a:t>
            </a:r>
            <a:r>
              <a:rPr sz="1300" b="0" i="0">
                <a:solidFill>
                  <a:srgbClr val="FFFFFF"/>
                </a:solidFill>
                <a:latin typeface="Noto Sans CJK SC"/>
                <a:ea typeface="Noto Sans CJK SC"/>
                <a:cs typeface="Noto Sans CJK SC"/>
              </a:rPr>
              <a:t>链接「平台—机构—学术—监管」的全国性AI量化生态共同体，以开放、合规、共赢为原则</a:t>
            </a:r>
          </a:p>
        </p:txBody>
      </p:sp>
      <p:sp>
        <p:nvSpPr>
          <p:cNvPr id="9" name="TextBox 8"/>
          <p:cNvSpPr txBox="1"/>
          <p:nvPr/>
        </p:nvSpPr>
        <p:spPr>
          <a:xfrm>
            <a:off x="548640" y="2788920"/>
            <a:ext cx="4572000" cy="292608"/>
          </a:xfrm>
          <a:prstGeom prst="rect">
            <a:avLst/>
          </a:prstGeom>
          <a:noFill/>
        </p:spPr>
        <p:txBody>
          <a:bodyPr wrap="square" lIns="0" tIns="0" rIns="0" bIns="0" anchor="t">
            <a:spAutoFit/>
          </a:bodyPr>
          <a:lstStyle/>
          <a:p>
            <a:pPr algn="l">
              <a:lnSpc>
                <a:spcPct val="112000"/>
              </a:lnSpc>
            </a:pPr>
            <a:r>
              <a:rPr sz="1300" b="1" i="0">
                <a:solidFill>
                  <a:srgbClr val="1B2A4A"/>
                </a:solidFill>
                <a:latin typeface="Noto Sans CJK SC"/>
                <a:ea typeface="Noto Sans CJK SC"/>
                <a:cs typeface="Noto Sans CJK SC"/>
              </a:rPr>
              <a:t>成员构成  Alliance Members</a:t>
            </a:r>
          </a:p>
        </p:txBody>
      </p:sp>
      <p:sp>
        <p:nvSpPr>
          <p:cNvPr id="10" name="Rounded Rectangle 9"/>
          <p:cNvSpPr/>
          <p:nvPr/>
        </p:nvSpPr>
        <p:spPr>
          <a:xfrm>
            <a:off x="548640" y="3127248"/>
            <a:ext cx="2697480" cy="129844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127248"/>
            <a:ext cx="2697480" cy="64008"/>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310128"/>
            <a:ext cx="2377440" cy="566928"/>
          </a:xfrm>
          <a:prstGeom prst="rect">
            <a:avLst/>
          </a:prstGeom>
          <a:noFill/>
        </p:spPr>
        <p:txBody>
          <a:bodyPr wrap="square" lIns="0" tIns="0" rIns="0" bIns="0" anchor="t">
            <a:spAutoFit/>
          </a:bodyPr>
          <a:lstStyle/>
          <a:p>
            <a:pPr algn="l">
              <a:lnSpc>
                <a:spcPct val="105000"/>
              </a:lnSpc>
            </a:pPr>
            <a:r>
              <a:rPr sz="1250" b="1" i="0">
                <a:solidFill>
                  <a:srgbClr val="1B2A4A"/>
                </a:solidFill>
                <a:latin typeface="Noto Sans CJK SC"/>
                <a:ea typeface="Noto Sans CJK SC"/>
                <a:cs typeface="Noto Sans CJK SC"/>
              </a:rPr>
              <a:t>量化私募与资管机构</a:t>
            </a:r>
          </a:p>
        </p:txBody>
      </p:sp>
      <p:sp>
        <p:nvSpPr>
          <p:cNvPr id="13" name="TextBox 12"/>
          <p:cNvSpPr txBox="1"/>
          <p:nvPr/>
        </p:nvSpPr>
        <p:spPr>
          <a:xfrm>
            <a:off x="731520" y="3877056"/>
            <a:ext cx="2377440" cy="502920"/>
          </a:xfrm>
          <a:prstGeom prst="rect">
            <a:avLst/>
          </a:prstGeom>
          <a:noFill/>
        </p:spPr>
        <p:txBody>
          <a:bodyPr wrap="square" lIns="0" tIns="0" rIns="0" bIns="0" anchor="t">
            <a:spAutoFit/>
          </a:bodyPr>
          <a:lstStyle/>
          <a:p>
            <a:pPr algn="l">
              <a:lnSpc>
                <a:spcPct val="115000"/>
              </a:lnSpc>
            </a:pPr>
            <a:r>
              <a:rPr sz="1000" b="0" i="0">
                <a:solidFill>
                  <a:srgbClr val="6B7688"/>
                </a:solidFill>
                <a:latin typeface="Noto Sans CJK SC"/>
                <a:ea typeface="Noto Sans CJK SC"/>
                <a:cs typeface="Noto Sans CJK SC"/>
              </a:rPr>
              <a:t>策略研究与应用落地的核心力量</a:t>
            </a:r>
          </a:p>
        </p:txBody>
      </p:sp>
      <p:sp>
        <p:nvSpPr>
          <p:cNvPr id="14" name="Rounded Rectangle 13"/>
          <p:cNvSpPr/>
          <p:nvPr/>
        </p:nvSpPr>
        <p:spPr>
          <a:xfrm>
            <a:off x="3355848" y="3127248"/>
            <a:ext cx="2697480" cy="129844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55848" y="3127248"/>
            <a:ext cx="2697480" cy="64008"/>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38728" y="3310128"/>
            <a:ext cx="2377440" cy="566928"/>
          </a:xfrm>
          <a:prstGeom prst="rect">
            <a:avLst/>
          </a:prstGeom>
          <a:noFill/>
        </p:spPr>
        <p:txBody>
          <a:bodyPr wrap="square" lIns="0" tIns="0" rIns="0" bIns="0" anchor="t">
            <a:spAutoFit/>
          </a:bodyPr>
          <a:lstStyle/>
          <a:p>
            <a:pPr algn="l">
              <a:lnSpc>
                <a:spcPct val="105000"/>
              </a:lnSpc>
            </a:pPr>
            <a:r>
              <a:rPr sz="1250" b="1" i="0">
                <a:solidFill>
                  <a:srgbClr val="1B2A4A"/>
                </a:solidFill>
                <a:latin typeface="Noto Sans CJK SC"/>
                <a:ea typeface="Noto Sans CJK SC"/>
                <a:cs typeface="Noto Sans CJK SC"/>
              </a:rPr>
              <a:t>券商与金融科技公司</a:t>
            </a:r>
          </a:p>
        </p:txBody>
      </p:sp>
      <p:sp>
        <p:nvSpPr>
          <p:cNvPr id="17" name="TextBox 16"/>
          <p:cNvSpPr txBox="1"/>
          <p:nvPr/>
        </p:nvSpPr>
        <p:spPr>
          <a:xfrm>
            <a:off x="3538728" y="3877056"/>
            <a:ext cx="2377440" cy="502920"/>
          </a:xfrm>
          <a:prstGeom prst="rect">
            <a:avLst/>
          </a:prstGeom>
          <a:noFill/>
        </p:spPr>
        <p:txBody>
          <a:bodyPr wrap="square" lIns="0" tIns="0" rIns="0" bIns="0" anchor="t">
            <a:spAutoFit/>
          </a:bodyPr>
          <a:lstStyle/>
          <a:p>
            <a:pPr algn="l">
              <a:lnSpc>
                <a:spcPct val="115000"/>
              </a:lnSpc>
            </a:pPr>
            <a:r>
              <a:rPr sz="1000" b="0" i="0">
                <a:solidFill>
                  <a:srgbClr val="6B7688"/>
                </a:solidFill>
                <a:latin typeface="Noto Sans CJK SC"/>
                <a:ea typeface="Noto Sans CJK SC"/>
                <a:cs typeface="Noto Sans CJK SC"/>
              </a:rPr>
              <a:t>交易通道、系统建设与场景落地</a:t>
            </a:r>
          </a:p>
        </p:txBody>
      </p:sp>
      <p:sp>
        <p:nvSpPr>
          <p:cNvPr id="18" name="Rounded Rectangle 17"/>
          <p:cNvSpPr/>
          <p:nvPr/>
        </p:nvSpPr>
        <p:spPr>
          <a:xfrm>
            <a:off x="6163056" y="3127248"/>
            <a:ext cx="2697480" cy="129844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63056" y="3127248"/>
            <a:ext cx="2697480" cy="64008"/>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45936" y="3310128"/>
            <a:ext cx="2377440" cy="566928"/>
          </a:xfrm>
          <a:prstGeom prst="rect">
            <a:avLst/>
          </a:prstGeom>
          <a:noFill/>
        </p:spPr>
        <p:txBody>
          <a:bodyPr wrap="square" lIns="0" tIns="0" rIns="0" bIns="0" anchor="t">
            <a:spAutoFit/>
          </a:bodyPr>
          <a:lstStyle/>
          <a:p>
            <a:pPr algn="l">
              <a:lnSpc>
                <a:spcPct val="105000"/>
              </a:lnSpc>
            </a:pPr>
            <a:r>
              <a:rPr sz="1250" b="1" i="0">
                <a:solidFill>
                  <a:srgbClr val="1B2A4A"/>
                </a:solidFill>
                <a:latin typeface="Noto Sans CJK SC"/>
                <a:ea typeface="Noto Sans CJK SC"/>
                <a:cs typeface="Noto Sans CJK SC"/>
              </a:rPr>
              <a:t>高校与科研院所</a:t>
            </a:r>
          </a:p>
        </p:txBody>
      </p:sp>
      <p:sp>
        <p:nvSpPr>
          <p:cNvPr id="21" name="TextBox 20"/>
          <p:cNvSpPr txBox="1"/>
          <p:nvPr/>
        </p:nvSpPr>
        <p:spPr>
          <a:xfrm>
            <a:off x="6345936" y="3877056"/>
            <a:ext cx="2377440" cy="502920"/>
          </a:xfrm>
          <a:prstGeom prst="rect">
            <a:avLst/>
          </a:prstGeom>
          <a:noFill/>
        </p:spPr>
        <p:txBody>
          <a:bodyPr wrap="square" lIns="0" tIns="0" rIns="0" bIns="0" anchor="t">
            <a:spAutoFit/>
          </a:bodyPr>
          <a:lstStyle/>
          <a:p>
            <a:pPr algn="l">
              <a:lnSpc>
                <a:spcPct val="115000"/>
              </a:lnSpc>
            </a:pPr>
            <a:r>
              <a:rPr sz="1000" b="0" i="0">
                <a:solidFill>
                  <a:srgbClr val="6B7688"/>
                </a:solidFill>
                <a:latin typeface="Noto Sans CJK SC"/>
                <a:ea typeface="Noto Sans CJK SC"/>
                <a:cs typeface="Noto Sans CJK SC"/>
              </a:rPr>
              <a:t>以南大校友圈层起步，辐射全国AI量化人才</a:t>
            </a:r>
          </a:p>
        </p:txBody>
      </p:sp>
      <p:sp>
        <p:nvSpPr>
          <p:cNvPr id="22" name="Rounded Rectangle 21"/>
          <p:cNvSpPr/>
          <p:nvPr/>
        </p:nvSpPr>
        <p:spPr>
          <a:xfrm>
            <a:off x="8970264" y="3127248"/>
            <a:ext cx="2697480" cy="1298448"/>
          </a:xfrm>
          <a:prstGeom prst="roundRect">
            <a:avLst>
              <a:gd name="adj" fmla="val 8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70264" y="3127248"/>
            <a:ext cx="2697480" cy="64008"/>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53144" y="3310128"/>
            <a:ext cx="2377440" cy="566928"/>
          </a:xfrm>
          <a:prstGeom prst="rect">
            <a:avLst/>
          </a:prstGeom>
          <a:noFill/>
        </p:spPr>
        <p:txBody>
          <a:bodyPr wrap="square" lIns="0" tIns="0" rIns="0" bIns="0" anchor="t">
            <a:spAutoFit/>
          </a:bodyPr>
          <a:lstStyle/>
          <a:p>
            <a:pPr algn="l">
              <a:lnSpc>
                <a:spcPct val="105000"/>
              </a:lnSpc>
            </a:pPr>
            <a:r>
              <a:rPr sz="1250" b="1" i="0">
                <a:solidFill>
                  <a:srgbClr val="1B2A4A"/>
                </a:solidFill>
                <a:latin typeface="Noto Sans CJK SC"/>
                <a:ea typeface="Noto Sans CJK SC"/>
                <a:cs typeface="Noto Sans CJK SC"/>
              </a:rPr>
              <a:t>数据与算力服务商</a:t>
            </a:r>
          </a:p>
        </p:txBody>
      </p:sp>
      <p:sp>
        <p:nvSpPr>
          <p:cNvPr id="25" name="TextBox 24"/>
          <p:cNvSpPr txBox="1"/>
          <p:nvPr/>
        </p:nvSpPr>
        <p:spPr>
          <a:xfrm>
            <a:off x="9153144" y="3877056"/>
            <a:ext cx="2377440" cy="502920"/>
          </a:xfrm>
          <a:prstGeom prst="rect">
            <a:avLst/>
          </a:prstGeom>
          <a:noFill/>
        </p:spPr>
        <p:txBody>
          <a:bodyPr wrap="square" lIns="0" tIns="0" rIns="0" bIns="0" anchor="t">
            <a:spAutoFit/>
          </a:bodyPr>
          <a:lstStyle/>
          <a:p>
            <a:pPr algn="l">
              <a:lnSpc>
                <a:spcPct val="115000"/>
              </a:lnSpc>
            </a:pPr>
            <a:r>
              <a:rPr sz="1000" b="0" i="0">
                <a:solidFill>
                  <a:srgbClr val="6B7688"/>
                </a:solidFill>
                <a:latin typeface="Noto Sans CJK SC"/>
                <a:ea typeface="Noto Sans CJK SC"/>
                <a:cs typeface="Noto Sans CJK SC"/>
              </a:rPr>
              <a:t>行情/另类数据与GPU算力基础设施</a:t>
            </a:r>
          </a:p>
        </p:txBody>
      </p:sp>
      <p:sp>
        <p:nvSpPr>
          <p:cNvPr id="26" name="TextBox 25"/>
          <p:cNvSpPr txBox="1"/>
          <p:nvPr/>
        </p:nvSpPr>
        <p:spPr>
          <a:xfrm>
            <a:off x="548640" y="4553712"/>
            <a:ext cx="4572000" cy="292608"/>
          </a:xfrm>
          <a:prstGeom prst="rect">
            <a:avLst/>
          </a:prstGeom>
          <a:noFill/>
        </p:spPr>
        <p:txBody>
          <a:bodyPr wrap="square" lIns="0" tIns="0" rIns="0" bIns="0" anchor="t">
            <a:spAutoFit/>
          </a:bodyPr>
          <a:lstStyle/>
          <a:p>
            <a:pPr algn="l">
              <a:lnSpc>
                <a:spcPct val="112000"/>
              </a:lnSpc>
            </a:pPr>
            <a:r>
              <a:rPr sz="1300" b="1" i="0">
                <a:solidFill>
                  <a:srgbClr val="1B2A4A"/>
                </a:solidFill>
                <a:latin typeface="Noto Sans CJK SC"/>
                <a:ea typeface="Noto Sans CJK SC"/>
                <a:cs typeface="Noto Sans CJK SC"/>
              </a:rPr>
              <a:t>联盟价值  Alliance Value</a:t>
            </a:r>
          </a:p>
        </p:txBody>
      </p:sp>
      <p:sp>
        <p:nvSpPr>
          <p:cNvPr id="27" name="Rounded Rectangle 26"/>
          <p:cNvSpPr/>
          <p:nvPr/>
        </p:nvSpPr>
        <p:spPr>
          <a:xfrm>
            <a:off x="548640" y="4892040"/>
            <a:ext cx="2697480" cy="1371600"/>
          </a:xfrm>
          <a:prstGeom prst="roundRect">
            <a:avLst>
              <a:gd name="adj" fmla="val 8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5029200"/>
            <a:ext cx="2377440" cy="320040"/>
          </a:xfrm>
          <a:prstGeom prst="rect">
            <a:avLst/>
          </a:prstGeom>
          <a:noFill/>
        </p:spPr>
        <p:txBody>
          <a:bodyPr wrap="square" lIns="0" tIns="0" rIns="0" bIns="0" anchor="t">
            <a:spAutoFit/>
          </a:bodyPr>
          <a:lstStyle/>
          <a:p>
            <a:pPr algn="l">
              <a:lnSpc>
                <a:spcPct val="112000"/>
              </a:lnSpc>
            </a:pPr>
            <a:r>
              <a:rPr sz="1250" b="1" i="0">
                <a:solidFill>
                  <a:srgbClr val="9A7B14"/>
                </a:solidFill>
                <a:latin typeface="Noto Sans CJK SC"/>
                <a:ea typeface="Noto Sans CJK SC"/>
                <a:cs typeface="Noto Sans CJK SC"/>
              </a:rPr>
              <a:t>策略共享与验证</a:t>
            </a:r>
          </a:p>
        </p:txBody>
      </p:sp>
      <p:sp>
        <p:nvSpPr>
          <p:cNvPr id="29" name="TextBox 28"/>
          <p:cNvSpPr txBox="1"/>
          <p:nvPr/>
        </p:nvSpPr>
        <p:spPr>
          <a:xfrm>
            <a:off x="731520" y="5376672"/>
            <a:ext cx="2377440" cy="82296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联盟策略池与统一回测验证机制，降低单家试错成本</a:t>
            </a:r>
          </a:p>
        </p:txBody>
      </p:sp>
      <p:sp>
        <p:nvSpPr>
          <p:cNvPr id="30" name="Rounded Rectangle 29"/>
          <p:cNvSpPr/>
          <p:nvPr/>
        </p:nvSpPr>
        <p:spPr>
          <a:xfrm>
            <a:off x="3355848" y="4892040"/>
            <a:ext cx="269748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538728" y="5029200"/>
            <a:ext cx="2377440" cy="320040"/>
          </a:xfrm>
          <a:prstGeom prst="rect">
            <a:avLst/>
          </a:prstGeom>
          <a:noFill/>
        </p:spPr>
        <p:txBody>
          <a:bodyPr wrap="square" lIns="0" tIns="0" rIns="0" bIns="0" anchor="t">
            <a:spAutoFit/>
          </a:bodyPr>
          <a:lstStyle/>
          <a:p>
            <a:pPr algn="l">
              <a:lnSpc>
                <a:spcPct val="112000"/>
              </a:lnSpc>
            </a:pPr>
            <a:r>
              <a:rPr sz="1250" b="1" i="0">
                <a:solidFill>
                  <a:srgbClr val="2C4A7C"/>
                </a:solidFill>
                <a:latin typeface="Noto Sans CJK SC"/>
                <a:ea typeface="Noto Sans CJK SC"/>
                <a:cs typeface="Noto Sans CJK SC"/>
              </a:rPr>
              <a:t>人才共育</a:t>
            </a:r>
          </a:p>
        </p:txBody>
      </p:sp>
      <p:sp>
        <p:nvSpPr>
          <p:cNvPr id="32" name="TextBox 31"/>
          <p:cNvSpPr txBox="1"/>
          <p:nvPr/>
        </p:nvSpPr>
        <p:spPr>
          <a:xfrm>
            <a:off x="3538728" y="5376672"/>
            <a:ext cx="2377440" cy="82296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与高校联合培养AI量化人才，校友圈层优先输送</a:t>
            </a:r>
          </a:p>
        </p:txBody>
      </p:sp>
      <p:sp>
        <p:nvSpPr>
          <p:cNvPr id="33" name="Rounded Rectangle 32"/>
          <p:cNvSpPr/>
          <p:nvPr/>
        </p:nvSpPr>
        <p:spPr>
          <a:xfrm>
            <a:off x="6163056" y="4892040"/>
            <a:ext cx="2697480" cy="1371600"/>
          </a:xfrm>
          <a:prstGeom prst="roundRect">
            <a:avLst>
              <a:gd name="adj" fmla="val 8000"/>
            </a:avLst>
          </a:prstGeom>
          <a:solidFill>
            <a:srgbClr val="FA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45936" y="5029200"/>
            <a:ext cx="2377440" cy="320040"/>
          </a:xfrm>
          <a:prstGeom prst="rect">
            <a:avLst/>
          </a:prstGeom>
          <a:noFill/>
        </p:spPr>
        <p:txBody>
          <a:bodyPr wrap="square" lIns="0" tIns="0" rIns="0" bIns="0" anchor="t">
            <a:spAutoFit/>
          </a:bodyPr>
          <a:lstStyle/>
          <a:p>
            <a:pPr algn="l">
              <a:lnSpc>
                <a:spcPct val="112000"/>
              </a:lnSpc>
            </a:pPr>
            <a:r>
              <a:rPr sz="1250" b="1" i="0">
                <a:solidFill>
                  <a:srgbClr val="9A7B14"/>
                </a:solidFill>
                <a:latin typeface="Noto Sans CJK SC"/>
                <a:ea typeface="Noto Sans CJK SC"/>
                <a:cs typeface="Noto Sans CJK SC"/>
              </a:rPr>
              <a:t>标准共建</a:t>
            </a:r>
          </a:p>
        </p:txBody>
      </p:sp>
      <p:sp>
        <p:nvSpPr>
          <p:cNvPr id="35" name="TextBox 34"/>
          <p:cNvSpPr txBox="1"/>
          <p:nvPr/>
        </p:nvSpPr>
        <p:spPr>
          <a:xfrm>
            <a:off x="6345936" y="5376672"/>
            <a:ext cx="2377440" cy="82296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推动AI量化研发与合规行业标准建设，参与监管对话</a:t>
            </a:r>
          </a:p>
        </p:txBody>
      </p:sp>
      <p:sp>
        <p:nvSpPr>
          <p:cNvPr id="36" name="Rounded Rectangle 35"/>
          <p:cNvSpPr/>
          <p:nvPr/>
        </p:nvSpPr>
        <p:spPr>
          <a:xfrm>
            <a:off x="8970264" y="4892040"/>
            <a:ext cx="269748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53144" y="5029200"/>
            <a:ext cx="2377440" cy="320040"/>
          </a:xfrm>
          <a:prstGeom prst="rect">
            <a:avLst/>
          </a:prstGeom>
          <a:noFill/>
        </p:spPr>
        <p:txBody>
          <a:bodyPr wrap="square" lIns="0" tIns="0" rIns="0" bIns="0" anchor="t">
            <a:spAutoFit/>
          </a:bodyPr>
          <a:lstStyle/>
          <a:p>
            <a:pPr algn="l">
              <a:lnSpc>
                <a:spcPct val="112000"/>
              </a:lnSpc>
            </a:pPr>
            <a:r>
              <a:rPr sz="1250" b="1" i="0">
                <a:solidFill>
                  <a:srgbClr val="2C4A7C"/>
                </a:solidFill>
                <a:latin typeface="Noto Sans CJK SC"/>
                <a:ea typeface="Noto Sans CJK SC"/>
                <a:cs typeface="Noto Sans CJK SC"/>
              </a:rPr>
              <a:t>生态共赢</a:t>
            </a:r>
          </a:p>
        </p:txBody>
      </p:sp>
      <p:sp>
        <p:nvSpPr>
          <p:cNvPr id="38" name="TextBox 37"/>
          <p:cNvSpPr txBox="1"/>
          <p:nvPr/>
        </p:nvSpPr>
        <p:spPr>
          <a:xfrm>
            <a:off x="9153144" y="5376672"/>
            <a:ext cx="2377440" cy="822960"/>
          </a:xfrm>
          <a:prstGeom prst="rect">
            <a:avLst/>
          </a:prstGeom>
          <a:noFill/>
        </p:spPr>
        <p:txBody>
          <a:bodyPr wrap="square" lIns="0" tIns="0" rIns="0" bIns="0" anchor="t">
            <a:spAutoFit/>
          </a:bodyPr>
          <a:lstStyle/>
          <a:p>
            <a:pPr algn="l">
              <a:lnSpc>
                <a:spcPct val="118000"/>
              </a:lnSpc>
            </a:pPr>
            <a:r>
              <a:rPr sz="1000" b="0" i="0">
                <a:solidFill>
                  <a:srgbClr val="2A3242"/>
                </a:solidFill>
                <a:latin typeface="Noto Sans CJK SC"/>
                <a:ea typeface="Noto Sans CJK SC"/>
                <a:cs typeface="Noto Sans CJK SC"/>
              </a:rPr>
              <a:t>算力、数据、通道资源联盟价，成员间业务优先合作</a:t>
            </a:r>
          </a:p>
        </p:txBody>
      </p:sp>
      <p:sp>
        <p:nvSpPr>
          <p:cNvPr id="39" name="TextBox 38"/>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40" name="TextBox 39"/>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ounded Rectangle 1"/>
          <p:cNvSpPr/>
          <p:nvPr/>
        </p:nvSpPr>
        <p:spPr>
          <a:xfrm>
            <a:off x="548640" y="457200"/>
            <a:ext cx="237744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2377440" cy="365760"/>
          </a:xfrm>
          <a:prstGeom prst="rect">
            <a:avLst/>
          </a:prstGeom>
          <a:noFill/>
        </p:spPr>
        <p:txBody>
          <a:bodyPr wrap="square" lIns="0" tIns="0" rIns="0" bIns="0" anchor="ctr">
            <a:spAutoFit/>
          </a:bodyPr>
          <a:lstStyle/>
          <a:p>
            <a:pPr algn="ctr">
              <a:lnSpc>
                <a:spcPct val="112000"/>
              </a:lnSpc>
            </a:pPr>
            <a:r>
              <a:rPr sz="1200" b="1" i="0">
                <a:solidFill>
                  <a:srgbClr val="121D36"/>
                </a:solidFill>
                <a:latin typeface="Noto Sans CJK SC"/>
                <a:ea typeface="Noto Sans CJK SC"/>
                <a:cs typeface="Noto Sans CJK SC"/>
              </a:rPr>
              <a:t>诉求三 APPEAL 03</a:t>
            </a:r>
          </a:p>
        </p:txBody>
      </p:sp>
      <p:sp>
        <p:nvSpPr>
          <p:cNvPr id="4" name="TextBox 3"/>
          <p:cNvSpPr txBox="1"/>
          <p:nvPr/>
        </p:nvSpPr>
        <p:spPr>
          <a:xfrm>
            <a:off x="548640" y="914400"/>
            <a:ext cx="11064240" cy="502920"/>
          </a:xfrm>
          <a:prstGeom prst="rect">
            <a:avLst/>
          </a:prstGeom>
          <a:noFill/>
        </p:spPr>
        <p:txBody>
          <a:bodyPr wrap="square" lIns="0" tIns="0" rIns="0" bIns="0" anchor="t">
            <a:spAutoFit/>
          </a:bodyPr>
          <a:lstStyle/>
          <a:p>
            <a:pPr algn="l">
              <a:lnSpc>
                <a:spcPct val="112000"/>
              </a:lnSpc>
            </a:pPr>
            <a:r>
              <a:rPr sz="2600" b="1" i="0" dirty="0" err="1">
                <a:solidFill>
                  <a:srgbClr val="1B2A4A"/>
                </a:solidFill>
                <a:latin typeface="Noto Sans CJK SC"/>
                <a:ea typeface="Noto Sans CJK SC"/>
                <a:cs typeface="Noto Sans CJK SC"/>
              </a:rPr>
              <a:t>设立量化交易基金</a:t>
            </a:r>
            <a:endParaRPr sz="2600" b="1" i="0" dirty="0">
              <a:solidFill>
                <a:srgbClr val="1B2A4A"/>
              </a:solidFill>
              <a:latin typeface="Noto Sans CJK SC"/>
              <a:ea typeface="Noto Sans CJK SC"/>
              <a:cs typeface="Noto Sans CJK SC"/>
            </a:endParaRPr>
          </a:p>
        </p:txBody>
      </p:sp>
      <p:sp>
        <p:nvSpPr>
          <p:cNvPr id="5" name="TextBox 4"/>
          <p:cNvSpPr txBox="1"/>
          <p:nvPr/>
        </p:nvSpPr>
        <p:spPr>
          <a:xfrm>
            <a:off x="548640" y="1444752"/>
            <a:ext cx="11064240" cy="274320"/>
          </a:xfrm>
          <a:prstGeom prst="rect">
            <a:avLst/>
          </a:prstGeom>
          <a:noFill/>
        </p:spPr>
        <p:txBody>
          <a:bodyPr wrap="square" lIns="0" tIns="0" rIns="0" bIns="0" anchor="t">
            <a:spAutoFit/>
          </a:bodyPr>
          <a:lstStyle/>
          <a:p>
            <a:pPr algn="l">
              <a:lnSpc>
                <a:spcPct val="112000"/>
              </a:lnSpc>
            </a:pPr>
            <a:r>
              <a:rPr sz="1150" b="0" i="0">
                <a:solidFill>
                  <a:srgbClr val="6B7688"/>
                </a:solidFill>
                <a:latin typeface="Noto Sans CJK SC"/>
                <a:ea typeface="Noto Sans CJK SC"/>
                <a:cs typeface="Noto Sans CJK SC"/>
              </a:rPr>
              <a:t>Appeal III: Establishing the Quantitative Trading Fund</a:t>
            </a:r>
          </a:p>
        </p:txBody>
      </p:sp>
      <p:sp>
        <p:nvSpPr>
          <p:cNvPr id="6" name="Rectangle 5"/>
          <p:cNvSpPr/>
          <p:nvPr/>
        </p:nvSpPr>
        <p:spPr>
          <a:xfrm>
            <a:off x="548640" y="1773936"/>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011680"/>
            <a:ext cx="11091672" cy="603504"/>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11680"/>
            <a:ext cx="10515600" cy="603504"/>
          </a:xfrm>
          <a:prstGeom prst="rect">
            <a:avLst/>
          </a:prstGeom>
          <a:noFill/>
        </p:spPr>
        <p:txBody>
          <a:bodyPr wrap="square" lIns="0" tIns="0" rIns="0" bIns="0" anchor="ctr">
            <a:spAutoFit/>
          </a:bodyPr>
          <a:lstStyle/>
          <a:p>
            <a:pPr algn="l">
              <a:lnSpc>
                <a:spcPct val="112000"/>
              </a:lnSpc>
            </a:pPr>
            <a:r>
              <a:rPr sz="1300" b="1" i="0">
                <a:solidFill>
                  <a:srgbClr val="E3C55C"/>
                </a:solidFill>
                <a:latin typeface="Noto Sans CJK SC"/>
                <a:ea typeface="Noto Sans CJK SC"/>
                <a:cs typeface="Noto Sans CJK SC"/>
              </a:rPr>
              <a:t>基金定位：</a:t>
            </a:r>
            <a:r>
              <a:rPr sz="1300" b="0" i="0">
                <a:solidFill>
                  <a:srgbClr val="FFFFFF"/>
                </a:solidFill>
                <a:latin typeface="Noto Sans CJK SC"/>
                <a:ea typeface="Noto Sans CJK SC"/>
                <a:cs typeface="Noto Sans CJK SC"/>
              </a:rPr>
              <a:t>以John Ding模型体系为核心引擎、AI原生投研为流程底座的量化交易基金，严格在监管框架内运作</a:t>
            </a:r>
          </a:p>
        </p:txBody>
      </p:sp>
      <p:sp>
        <p:nvSpPr>
          <p:cNvPr id="9" name="TextBox 8"/>
          <p:cNvSpPr txBox="1"/>
          <p:nvPr/>
        </p:nvSpPr>
        <p:spPr>
          <a:xfrm>
            <a:off x="548640" y="2788920"/>
            <a:ext cx="4572000" cy="292608"/>
          </a:xfrm>
          <a:prstGeom prst="rect">
            <a:avLst/>
          </a:prstGeom>
          <a:noFill/>
        </p:spPr>
        <p:txBody>
          <a:bodyPr wrap="square" lIns="0" tIns="0" rIns="0" bIns="0" anchor="t">
            <a:spAutoFit/>
          </a:bodyPr>
          <a:lstStyle/>
          <a:p>
            <a:pPr algn="l">
              <a:lnSpc>
                <a:spcPct val="112000"/>
              </a:lnSpc>
            </a:pPr>
            <a:r>
              <a:rPr sz="1300" b="1" i="0">
                <a:solidFill>
                  <a:srgbClr val="1B2A4A"/>
                </a:solidFill>
                <a:latin typeface="Noto Sans CJK SC"/>
                <a:ea typeface="Noto Sans CJK SC"/>
                <a:cs typeface="Noto Sans CJK SC"/>
              </a:rPr>
              <a:t>策略矩阵  Strategy Matrix</a:t>
            </a:r>
          </a:p>
        </p:txBody>
      </p:sp>
      <p:sp>
        <p:nvSpPr>
          <p:cNvPr id="10" name="Rounded Rectangle 9"/>
          <p:cNvSpPr/>
          <p:nvPr/>
        </p:nvSpPr>
        <p:spPr>
          <a:xfrm>
            <a:off x="548640" y="3127248"/>
            <a:ext cx="1042415" cy="457200"/>
          </a:xfrm>
          <a:prstGeom prst="roundRect">
            <a:avLst>
              <a:gd name="adj" fmla="val 20000"/>
            </a:avLst>
          </a:prstGeom>
          <a:solidFill>
            <a:srgbClr val="FFFFFF"/>
          </a:solidFill>
          <a:ln w="1397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127248"/>
            <a:ext cx="1042415" cy="457200"/>
          </a:xfrm>
          <a:prstGeom prst="rect">
            <a:avLst/>
          </a:prstGeom>
          <a:noFill/>
        </p:spPr>
        <p:txBody>
          <a:bodyPr wrap="square" lIns="0" tIns="0" rIns="0" bIns="0" anchor="ctr">
            <a:spAutoFit/>
          </a:bodyPr>
          <a:lstStyle/>
          <a:p>
            <a:pPr algn="ctr">
              <a:lnSpc>
                <a:spcPct val="112000"/>
              </a:lnSpc>
            </a:pPr>
            <a:r>
              <a:rPr sz="950" b="1" i="0">
                <a:solidFill>
                  <a:srgbClr val="1B2A4A"/>
                </a:solidFill>
                <a:latin typeface="Noto Sans CJK SC"/>
                <a:ea typeface="Noto Sans CJK SC"/>
                <a:cs typeface="Noto Sans CJK SC"/>
              </a:rPr>
              <a:t>VIX波动率</a:t>
            </a:r>
          </a:p>
        </p:txBody>
      </p:sp>
      <p:sp>
        <p:nvSpPr>
          <p:cNvPr id="12" name="Rounded Rectangle 11"/>
          <p:cNvSpPr/>
          <p:nvPr/>
        </p:nvSpPr>
        <p:spPr>
          <a:xfrm>
            <a:off x="1645919" y="3127248"/>
            <a:ext cx="1042415" cy="457200"/>
          </a:xfrm>
          <a:prstGeom prst="roundRect">
            <a:avLst>
              <a:gd name="adj" fmla="val 20000"/>
            </a:avLst>
          </a:prstGeom>
          <a:solidFill>
            <a:srgbClr val="FFFFFF"/>
          </a:solidFill>
          <a:ln w="1397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45919" y="3127248"/>
            <a:ext cx="1042415" cy="457200"/>
          </a:xfrm>
          <a:prstGeom prst="rect">
            <a:avLst/>
          </a:prstGeom>
          <a:noFill/>
        </p:spPr>
        <p:txBody>
          <a:bodyPr wrap="square" lIns="0" tIns="0" rIns="0" bIns="0" anchor="ctr">
            <a:spAutoFit/>
          </a:bodyPr>
          <a:lstStyle/>
          <a:p>
            <a:pPr algn="ctr">
              <a:lnSpc>
                <a:spcPct val="112000"/>
              </a:lnSpc>
            </a:pPr>
            <a:r>
              <a:rPr sz="950" b="1" i="0">
                <a:solidFill>
                  <a:srgbClr val="1B2A4A"/>
                </a:solidFill>
                <a:latin typeface="Noto Sans CJK SC"/>
                <a:ea typeface="Noto Sans CJK SC"/>
                <a:cs typeface="Noto Sans CJK SC"/>
              </a:rPr>
              <a:t>指数增强</a:t>
            </a:r>
          </a:p>
        </p:txBody>
      </p:sp>
      <p:sp>
        <p:nvSpPr>
          <p:cNvPr id="14" name="Rounded Rectangle 13"/>
          <p:cNvSpPr/>
          <p:nvPr/>
        </p:nvSpPr>
        <p:spPr>
          <a:xfrm>
            <a:off x="2743200" y="3127248"/>
            <a:ext cx="1042415" cy="457200"/>
          </a:xfrm>
          <a:prstGeom prst="roundRect">
            <a:avLst>
              <a:gd name="adj" fmla="val 20000"/>
            </a:avLst>
          </a:prstGeom>
          <a:solidFill>
            <a:srgbClr val="FFFFFF"/>
          </a:solidFill>
          <a:ln w="1397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0" y="3127248"/>
            <a:ext cx="1042415" cy="457200"/>
          </a:xfrm>
          <a:prstGeom prst="rect">
            <a:avLst/>
          </a:prstGeom>
          <a:noFill/>
        </p:spPr>
        <p:txBody>
          <a:bodyPr wrap="square" lIns="0" tIns="0" rIns="0" bIns="0" anchor="ctr">
            <a:spAutoFit/>
          </a:bodyPr>
          <a:lstStyle/>
          <a:p>
            <a:pPr algn="ctr">
              <a:lnSpc>
                <a:spcPct val="112000"/>
              </a:lnSpc>
            </a:pPr>
            <a:r>
              <a:rPr sz="950" b="1" i="0">
                <a:solidFill>
                  <a:srgbClr val="1B2A4A"/>
                </a:solidFill>
                <a:latin typeface="Noto Sans CJK SC"/>
                <a:ea typeface="Noto Sans CJK SC"/>
                <a:cs typeface="Noto Sans CJK SC"/>
              </a:rPr>
              <a:t>多因子选股</a:t>
            </a:r>
          </a:p>
        </p:txBody>
      </p:sp>
      <p:sp>
        <p:nvSpPr>
          <p:cNvPr id="16" name="Rounded Rectangle 15"/>
          <p:cNvSpPr/>
          <p:nvPr/>
        </p:nvSpPr>
        <p:spPr>
          <a:xfrm>
            <a:off x="3840480" y="3127248"/>
            <a:ext cx="1042415" cy="457200"/>
          </a:xfrm>
          <a:prstGeom prst="roundRect">
            <a:avLst>
              <a:gd name="adj" fmla="val 20000"/>
            </a:avLst>
          </a:prstGeom>
          <a:solidFill>
            <a:srgbClr val="FFFFFF"/>
          </a:solidFill>
          <a:ln w="1397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40480" y="3127248"/>
            <a:ext cx="1042415" cy="457200"/>
          </a:xfrm>
          <a:prstGeom prst="rect">
            <a:avLst/>
          </a:prstGeom>
          <a:noFill/>
        </p:spPr>
        <p:txBody>
          <a:bodyPr wrap="square" lIns="0" tIns="0" rIns="0" bIns="0" anchor="ctr">
            <a:spAutoFit/>
          </a:bodyPr>
          <a:lstStyle/>
          <a:p>
            <a:pPr algn="ctr">
              <a:lnSpc>
                <a:spcPct val="112000"/>
              </a:lnSpc>
            </a:pPr>
            <a:r>
              <a:rPr sz="950" b="1" i="0">
                <a:solidFill>
                  <a:srgbClr val="1B2A4A"/>
                </a:solidFill>
                <a:latin typeface="Noto Sans CJK SC"/>
                <a:ea typeface="Noto Sans CJK SC"/>
                <a:cs typeface="Noto Sans CJK SC"/>
              </a:rPr>
              <a:t>期权对冲</a:t>
            </a:r>
          </a:p>
        </p:txBody>
      </p:sp>
      <p:sp>
        <p:nvSpPr>
          <p:cNvPr id="18" name="Rounded Rectangle 17"/>
          <p:cNvSpPr/>
          <p:nvPr/>
        </p:nvSpPr>
        <p:spPr>
          <a:xfrm>
            <a:off x="4937760" y="3127248"/>
            <a:ext cx="1042415" cy="457200"/>
          </a:xfrm>
          <a:prstGeom prst="roundRect">
            <a:avLst>
              <a:gd name="adj" fmla="val 20000"/>
            </a:avLst>
          </a:prstGeom>
          <a:solidFill>
            <a:srgbClr val="FFFFFF"/>
          </a:solidFill>
          <a:ln w="1397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0" y="3127248"/>
            <a:ext cx="1042415" cy="457200"/>
          </a:xfrm>
          <a:prstGeom prst="rect">
            <a:avLst/>
          </a:prstGeom>
          <a:noFill/>
        </p:spPr>
        <p:txBody>
          <a:bodyPr wrap="square" lIns="0" tIns="0" rIns="0" bIns="0" anchor="ctr">
            <a:spAutoFit/>
          </a:bodyPr>
          <a:lstStyle/>
          <a:p>
            <a:pPr algn="ctr">
              <a:lnSpc>
                <a:spcPct val="112000"/>
              </a:lnSpc>
            </a:pPr>
            <a:r>
              <a:rPr sz="950" b="1" i="0">
                <a:solidFill>
                  <a:srgbClr val="1B2A4A"/>
                </a:solidFill>
                <a:latin typeface="Noto Sans CJK SC"/>
                <a:ea typeface="Noto Sans CJK SC"/>
                <a:cs typeface="Noto Sans CJK SC"/>
              </a:rPr>
              <a:t>多资产配置</a:t>
            </a:r>
          </a:p>
        </p:txBody>
      </p:sp>
      <p:sp>
        <p:nvSpPr>
          <p:cNvPr id="20" name="TextBox 19"/>
          <p:cNvSpPr txBox="1"/>
          <p:nvPr/>
        </p:nvSpPr>
        <p:spPr>
          <a:xfrm>
            <a:off x="548640" y="3840480"/>
            <a:ext cx="4572000" cy="292608"/>
          </a:xfrm>
          <a:prstGeom prst="rect">
            <a:avLst/>
          </a:prstGeom>
          <a:noFill/>
        </p:spPr>
        <p:txBody>
          <a:bodyPr wrap="square" lIns="0" tIns="0" rIns="0" bIns="0" anchor="t">
            <a:spAutoFit/>
          </a:bodyPr>
          <a:lstStyle/>
          <a:p>
            <a:pPr algn="l">
              <a:lnSpc>
                <a:spcPct val="112000"/>
              </a:lnSpc>
            </a:pPr>
            <a:r>
              <a:rPr sz="1300" b="1" i="0">
                <a:solidFill>
                  <a:srgbClr val="1B2A4A"/>
                </a:solidFill>
                <a:latin typeface="Noto Sans CJK SC"/>
                <a:ea typeface="Noto Sans CJK SC"/>
                <a:cs typeface="Noto Sans CJK SC"/>
              </a:rPr>
              <a:t>资金规划（示意）  Fund Roadmap</a:t>
            </a:r>
          </a:p>
        </p:txBody>
      </p:sp>
      <p:sp>
        <p:nvSpPr>
          <p:cNvPr id="21" name="Rounded Rectangle 20"/>
          <p:cNvSpPr/>
          <p:nvPr/>
        </p:nvSpPr>
        <p:spPr>
          <a:xfrm>
            <a:off x="548640" y="4169663"/>
            <a:ext cx="5486400" cy="621792"/>
          </a:xfrm>
          <a:prstGeom prst="roundRect">
            <a:avLst>
              <a:gd name="adj" fmla="val 1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169663"/>
            <a:ext cx="1371600" cy="621792"/>
          </a:xfrm>
          <a:prstGeom prst="rect">
            <a:avLst/>
          </a:prstGeom>
          <a:noFill/>
        </p:spPr>
        <p:txBody>
          <a:bodyPr wrap="square" lIns="0" tIns="0" rIns="0" bIns="0" anchor="ctr">
            <a:spAutoFit/>
          </a:bodyPr>
          <a:lstStyle/>
          <a:p>
            <a:pPr algn="l">
              <a:lnSpc>
                <a:spcPct val="112000"/>
              </a:lnSpc>
            </a:pPr>
            <a:r>
              <a:rPr sz="1200" b="1" i="0">
                <a:solidFill>
                  <a:srgbClr val="2C4A7C"/>
                </a:solidFill>
                <a:latin typeface="Noto Sans CJK SC"/>
                <a:ea typeface="Noto Sans CJK SC"/>
                <a:cs typeface="Noto Sans CJK SC"/>
              </a:rPr>
              <a:t>基金一期</a:t>
            </a:r>
          </a:p>
        </p:txBody>
      </p:sp>
      <p:sp>
        <p:nvSpPr>
          <p:cNvPr id="23" name="TextBox 22"/>
          <p:cNvSpPr txBox="1"/>
          <p:nvPr/>
        </p:nvSpPr>
        <p:spPr>
          <a:xfrm>
            <a:off x="2057400" y="4169663"/>
            <a:ext cx="1234440" cy="621792"/>
          </a:xfrm>
          <a:prstGeom prst="rect">
            <a:avLst/>
          </a:prstGeom>
          <a:noFill/>
        </p:spPr>
        <p:txBody>
          <a:bodyPr wrap="square" lIns="0" tIns="0" rIns="0" bIns="0" anchor="ctr">
            <a:spAutoFit/>
          </a:bodyPr>
          <a:lstStyle/>
          <a:p>
            <a:pPr algn="l">
              <a:lnSpc>
                <a:spcPct val="112000"/>
              </a:lnSpc>
            </a:pPr>
            <a:r>
              <a:rPr sz="1250" b="1" i="0">
                <a:solidFill>
                  <a:srgbClr val="1B2A4A"/>
                </a:solidFill>
                <a:latin typeface="Noto Sans CJK SC"/>
                <a:ea typeface="Noto Sans CJK SC"/>
                <a:cs typeface="Noto Sans CJK SC"/>
              </a:rPr>
              <a:t>0.5–1亿元</a:t>
            </a:r>
          </a:p>
        </p:txBody>
      </p:sp>
      <p:sp>
        <p:nvSpPr>
          <p:cNvPr id="24" name="TextBox 23"/>
          <p:cNvSpPr txBox="1"/>
          <p:nvPr/>
        </p:nvSpPr>
        <p:spPr>
          <a:xfrm>
            <a:off x="3383280" y="4169663"/>
            <a:ext cx="2560320" cy="621792"/>
          </a:xfrm>
          <a:prstGeom prst="rect">
            <a:avLst/>
          </a:prstGeom>
          <a:noFill/>
        </p:spPr>
        <p:txBody>
          <a:bodyPr wrap="square" lIns="0" tIns="0" rIns="0" bIns="0" anchor="ctr">
            <a:spAutoFit/>
          </a:bodyPr>
          <a:lstStyle/>
          <a:p>
            <a:pPr algn="l">
              <a:lnSpc>
                <a:spcPct val="110000"/>
              </a:lnSpc>
            </a:pPr>
            <a:r>
              <a:rPr sz="950" b="0" i="0">
                <a:solidFill>
                  <a:srgbClr val="2A3242"/>
                </a:solidFill>
                <a:latin typeface="Noto Sans CJK SC"/>
                <a:ea typeface="Noto Sans CJK SC"/>
                <a:cs typeface="Noto Sans CJK SC"/>
              </a:rPr>
              <a:t>种子资金 + 自营资金，验证模型实盘表现</a:t>
            </a:r>
          </a:p>
        </p:txBody>
      </p:sp>
      <p:sp>
        <p:nvSpPr>
          <p:cNvPr id="25" name="Rounded Rectangle 24"/>
          <p:cNvSpPr/>
          <p:nvPr/>
        </p:nvSpPr>
        <p:spPr>
          <a:xfrm>
            <a:off x="548640" y="4882896"/>
            <a:ext cx="5486400" cy="621792"/>
          </a:xfrm>
          <a:prstGeom prst="roundRect">
            <a:avLst>
              <a:gd name="adj" fmla="val 1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882896"/>
            <a:ext cx="1371600" cy="621792"/>
          </a:xfrm>
          <a:prstGeom prst="rect">
            <a:avLst/>
          </a:prstGeom>
          <a:noFill/>
        </p:spPr>
        <p:txBody>
          <a:bodyPr wrap="square" lIns="0" tIns="0" rIns="0" bIns="0" anchor="ctr">
            <a:spAutoFit/>
          </a:bodyPr>
          <a:lstStyle/>
          <a:p>
            <a:pPr algn="l">
              <a:lnSpc>
                <a:spcPct val="112000"/>
              </a:lnSpc>
            </a:pPr>
            <a:r>
              <a:rPr sz="1200" b="1" i="0">
                <a:solidFill>
                  <a:srgbClr val="2C4A7C"/>
                </a:solidFill>
                <a:latin typeface="Noto Sans CJK SC"/>
                <a:ea typeface="Noto Sans CJK SC"/>
                <a:cs typeface="Noto Sans CJK SC"/>
              </a:rPr>
              <a:t>基金二期</a:t>
            </a:r>
          </a:p>
        </p:txBody>
      </p:sp>
      <p:sp>
        <p:nvSpPr>
          <p:cNvPr id="27" name="TextBox 26"/>
          <p:cNvSpPr txBox="1"/>
          <p:nvPr/>
        </p:nvSpPr>
        <p:spPr>
          <a:xfrm>
            <a:off x="2057400" y="4882896"/>
            <a:ext cx="1234440" cy="621792"/>
          </a:xfrm>
          <a:prstGeom prst="rect">
            <a:avLst/>
          </a:prstGeom>
          <a:noFill/>
        </p:spPr>
        <p:txBody>
          <a:bodyPr wrap="square" lIns="0" tIns="0" rIns="0" bIns="0" anchor="ctr">
            <a:spAutoFit/>
          </a:bodyPr>
          <a:lstStyle/>
          <a:p>
            <a:pPr algn="l">
              <a:lnSpc>
                <a:spcPct val="112000"/>
              </a:lnSpc>
            </a:pPr>
            <a:r>
              <a:rPr sz="1250" b="1" i="0">
                <a:solidFill>
                  <a:srgbClr val="1B2A4A"/>
                </a:solidFill>
                <a:latin typeface="Noto Sans CJK SC"/>
                <a:ea typeface="Noto Sans CJK SC"/>
                <a:cs typeface="Noto Sans CJK SC"/>
              </a:rPr>
              <a:t>3–5亿元</a:t>
            </a:r>
          </a:p>
        </p:txBody>
      </p:sp>
      <p:sp>
        <p:nvSpPr>
          <p:cNvPr id="28" name="TextBox 27"/>
          <p:cNvSpPr txBox="1"/>
          <p:nvPr/>
        </p:nvSpPr>
        <p:spPr>
          <a:xfrm>
            <a:off x="3383280" y="4882896"/>
            <a:ext cx="2560320" cy="621792"/>
          </a:xfrm>
          <a:prstGeom prst="rect">
            <a:avLst/>
          </a:prstGeom>
          <a:noFill/>
        </p:spPr>
        <p:txBody>
          <a:bodyPr wrap="square" lIns="0" tIns="0" rIns="0" bIns="0" anchor="ctr">
            <a:spAutoFit/>
          </a:bodyPr>
          <a:lstStyle/>
          <a:p>
            <a:pPr algn="l">
              <a:lnSpc>
                <a:spcPct val="110000"/>
              </a:lnSpc>
            </a:pPr>
            <a:r>
              <a:rPr sz="950" b="0" i="0">
                <a:solidFill>
                  <a:srgbClr val="2A3242"/>
                </a:solidFill>
                <a:latin typeface="Noto Sans CJK SC"/>
                <a:ea typeface="Noto Sans CJK SC"/>
                <a:cs typeface="Noto Sans CJK SC"/>
              </a:rPr>
              <a:t>联盟机构作为LP参与，规模化管理</a:t>
            </a:r>
          </a:p>
        </p:txBody>
      </p:sp>
      <p:sp>
        <p:nvSpPr>
          <p:cNvPr id="29" name="Rounded Rectangle 28"/>
          <p:cNvSpPr/>
          <p:nvPr/>
        </p:nvSpPr>
        <p:spPr>
          <a:xfrm>
            <a:off x="548640" y="5596128"/>
            <a:ext cx="5486400" cy="621792"/>
          </a:xfrm>
          <a:prstGeom prst="roundRect">
            <a:avLst>
              <a:gd name="adj" fmla="val 1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5596128"/>
            <a:ext cx="1371600" cy="621792"/>
          </a:xfrm>
          <a:prstGeom prst="rect">
            <a:avLst/>
          </a:prstGeom>
          <a:noFill/>
        </p:spPr>
        <p:txBody>
          <a:bodyPr wrap="square" lIns="0" tIns="0" rIns="0" bIns="0" anchor="ctr">
            <a:spAutoFit/>
          </a:bodyPr>
          <a:lstStyle/>
          <a:p>
            <a:pPr algn="l">
              <a:lnSpc>
                <a:spcPct val="112000"/>
              </a:lnSpc>
            </a:pPr>
            <a:r>
              <a:rPr sz="1200" b="1" i="0">
                <a:solidFill>
                  <a:srgbClr val="2C4A7C"/>
                </a:solidFill>
                <a:latin typeface="Noto Sans CJK SC"/>
                <a:ea typeface="Noto Sans CJK SC"/>
                <a:cs typeface="Noto Sans CJK SC"/>
              </a:rPr>
              <a:t>基金三期</a:t>
            </a:r>
          </a:p>
        </p:txBody>
      </p:sp>
      <p:sp>
        <p:nvSpPr>
          <p:cNvPr id="31" name="TextBox 30"/>
          <p:cNvSpPr txBox="1"/>
          <p:nvPr/>
        </p:nvSpPr>
        <p:spPr>
          <a:xfrm>
            <a:off x="2057400" y="5596128"/>
            <a:ext cx="1234440" cy="621792"/>
          </a:xfrm>
          <a:prstGeom prst="rect">
            <a:avLst/>
          </a:prstGeom>
          <a:noFill/>
        </p:spPr>
        <p:txBody>
          <a:bodyPr wrap="square" lIns="0" tIns="0" rIns="0" bIns="0" anchor="ctr">
            <a:spAutoFit/>
          </a:bodyPr>
          <a:lstStyle/>
          <a:p>
            <a:pPr algn="l">
              <a:lnSpc>
                <a:spcPct val="112000"/>
              </a:lnSpc>
            </a:pPr>
            <a:r>
              <a:rPr sz="1250" b="1" i="0">
                <a:solidFill>
                  <a:srgbClr val="1B2A4A"/>
                </a:solidFill>
                <a:latin typeface="Noto Sans CJK SC"/>
                <a:ea typeface="Noto Sans CJK SC"/>
                <a:cs typeface="Noto Sans CJK SC"/>
              </a:rPr>
              <a:t>10亿元+</a:t>
            </a:r>
          </a:p>
        </p:txBody>
      </p:sp>
      <p:sp>
        <p:nvSpPr>
          <p:cNvPr id="32" name="TextBox 31"/>
          <p:cNvSpPr txBox="1"/>
          <p:nvPr/>
        </p:nvSpPr>
        <p:spPr>
          <a:xfrm>
            <a:off x="3383280" y="5596128"/>
            <a:ext cx="2560320" cy="621792"/>
          </a:xfrm>
          <a:prstGeom prst="rect">
            <a:avLst/>
          </a:prstGeom>
          <a:noFill/>
        </p:spPr>
        <p:txBody>
          <a:bodyPr wrap="square" lIns="0" tIns="0" rIns="0" bIns="0" anchor="ctr">
            <a:spAutoFit/>
          </a:bodyPr>
          <a:lstStyle/>
          <a:p>
            <a:pPr algn="l">
              <a:lnSpc>
                <a:spcPct val="110000"/>
              </a:lnSpc>
            </a:pPr>
            <a:r>
              <a:rPr sz="950" b="0" i="0">
                <a:solidFill>
                  <a:srgbClr val="2A3242"/>
                </a:solidFill>
                <a:latin typeface="Noto Sans CJK SC"/>
                <a:ea typeface="Noto Sans CJK SC"/>
                <a:cs typeface="Noto Sans CJK SC"/>
              </a:rPr>
              <a:t>市场化募资，多策略矩阵化运作</a:t>
            </a:r>
          </a:p>
        </p:txBody>
      </p:sp>
      <p:sp>
        <p:nvSpPr>
          <p:cNvPr id="33" name="Rounded Rectangle 32"/>
          <p:cNvSpPr/>
          <p:nvPr/>
        </p:nvSpPr>
        <p:spPr>
          <a:xfrm>
            <a:off x="6355080" y="2788920"/>
            <a:ext cx="5285232" cy="1572768"/>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355080" y="2788920"/>
            <a:ext cx="5285232" cy="82296"/>
          </a:xfrm>
          <a:prstGeom prst="rect">
            <a:avLst/>
          </a:prstGeom>
          <a:solidFill>
            <a:srgbClr val="2C4A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29400" y="2944368"/>
            <a:ext cx="4754880" cy="320040"/>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合规路径  Compliance Path</a:t>
            </a:r>
          </a:p>
        </p:txBody>
      </p:sp>
      <p:sp>
        <p:nvSpPr>
          <p:cNvPr id="36" name="TextBox 35"/>
          <p:cNvSpPr txBox="1"/>
          <p:nvPr/>
        </p:nvSpPr>
        <p:spPr>
          <a:xfrm>
            <a:off x="6629400" y="3310128"/>
            <a:ext cx="4800600" cy="1005840"/>
          </a:xfrm>
          <a:prstGeom prst="rect">
            <a:avLst/>
          </a:prstGeom>
          <a:noFill/>
        </p:spPr>
        <p:txBody>
          <a:bodyPr wrap="square" lIns="0" tIns="0" rIns="0" bIns="0" anchor="t">
            <a:spAutoFit/>
          </a:bodyPr>
          <a:lstStyle/>
          <a:p>
            <a:pPr algn="l">
              <a:lnSpc>
                <a:spcPct val="120000"/>
              </a:lnSpc>
              <a:spcBef>
                <a:spcPts val="0"/>
              </a:spcBef>
              <a:spcAft>
                <a:spcPts val="500"/>
              </a:spcAft>
            </a:pPr>
            <a:r>
              <a:rPr sz="1100" b="0" i="0">
                <a:solidFill>
                  <a:srgbClr val="2A3242"/>
                </a:solidFill>
                <a:latin typeface="Noto Sans CJK SC"/>
                <a:ea typeface="Noto Sans CJK SC"/>
                <a:cs typeface="Noto Sans CJK SC"/>
              </a:rPr>
              <a:t>私募基金管理人登记 → 产品发行备案 → 合规募集与信息披露</a:t>
            </a:r>
          </a:p>
          <a:p>
            <a:pPr algn="l">
              <a:lnSpc>
                <a:spcPct val="115000"/>
              </a:lnSpc>
              <a:spcBef>
                <a:spcPts val="0"/>
              </a:spcBef>
              <a:spcAft>
                <a:spcPts val="0"/>
              </a:spcAft>
            </a:pPr>
            <a:r>
              <a:rPr sz="1000" b="0" i="0">
                <a:solidFill>
                  <a:srgbClr val="6B7688"/>
                </a:solidFill>
                <a:latin typeface="Noto Sans CJK SC"/>
                <a:ea typeface="Noto Sans CJK SC"/>
                <a:cs typeface="Noto Sans CJK SC"/>
              </a:rPr>
              <a:t>专业法律顾问护航，主动对接监管，阳光化运作。</a:t>
            </a:r>
          </a:p>
        </p:txBody>
      </p:sp>
      <p:sp>
        <p:nvSpPr>
          <p:cNvPr id="37" name="Rounded Rectangle 36"/>
          <p:cNvSpPr/>
          <p:nvPr/>
        </p:nvSpPr>
        <p:spPr>
          <a:xfrm>
            <a:off x="6355080" y="4617720"/>
            <a:ext cx="5285232" cy="1572768"/>
          </a:xfrm>
          <a:prstGeom prst="roundRect">
            <a:avLst>
              <a:gd name="adj" fmla="val 7000"/>
            </a:avLst>
          </a:prstGeom>
          <a:solidFill>
            <a:srgbClr val="FFFFFF"/>
          </a:solidFill>
          <a:ln w="9525">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355080" y="4617720"/>
            <a:ext cx="5285232" cy="822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29400" y="4773168"/>
            <a:ext cx="4754880" cy="320040"/>
          </a:xfrm>
          <a:prstGeom prst="rect">
            <a:avLst/>
          </a:prstGeom>
          <a:noFill/>
        </p:spPr>
        <p:txBody>
          <a:bodyPr wrap="square" lIns="0" tIns="0" rIns="0" bIns="0" anchor="t">
            <a:spAutoFit/>
          </a:bodyPr>
          <a:lstStyle/>
          <a:p>
            <a:pPr algn="l">
              <a:lnSpc>
                <a:spcPct val="112000"/>
              </a:lnSpc>
            </a:pPr>
            <a:r>
              <a:rPr sz="1250" b="1" i="0">
                <a:solidFill>
                  <a:srgbClr val="1B2A4A"/>
                </a:solidFill>
                <a:latin typeface="Noto Sans CJK SC"/>
                <a:ea typeface="Noto Sans CJK SC"/>
                <a:cs typeface="Noto Sans CJK SC"/>
              </a:rPr>
              <a:t>风控体系  Risk Control</a:t>
            </a:r>
          </a:p>
        </p:txBody>
      </p:sp>
      <p:sp>
        <p:nvSpPr>
          <p:cNvPr id="40" name="TextBox 39"/>
          <p:cNvSpPr txBox="1"/>
          <p:nvPr/>
        </p:nvSpPr>
        <p:spPr>
          <a:xfrm>
            <a:off x="6629400" y="5138928"/>
            <a:ext cx="4800600" cy="1005840"/>
          </a:xfrm>
          <a:prstGeom prst="rect">
            <a:avLst/>
          </a:prstGeom>
          <a:noFill/>
        </p:spPr>
        <p:txBody>
          <a:bodyPr wrap="square" lIns="0" tIns="0" rIns="0" bIns="0" anchor="t">
            <a:spAutoFit/>
          </a:bodyPr>
          <a:lstStyle/>
          <a:p>
            <a:pPr algn="l">
              <a:lnSpc>
                <a:spcPct val="120000"/>
              </a:lnSpc>
              <a:spcBef>
                <a:spcPts val="0"/>
              </a:spcBef>
              <a:spcAft>
                <a:spcPts val="500"/>
              </a:spcAft>
            </a:pPr>
            <a:r>
              <a:rPr sz="1100" b="0" i="0">
                <a:solidFill>
                  <a:srgbClr val="2A3242"/>
                </a:solidFill>
                <a:latin typeface="Noto Sans CJK SC"/>
                <a:ea typeface="Noto Sans CJK SC"/>
                <a:cs typeface="Noto Sans CJK SC"/>
              </a:rPr>
              <a:t>波动率约束（VIX模型预警）· 最大回撤熔断 · 多策略低相关分散</a:t>
            </a:r>
          </a:p>
          <a:p>
            <a:pPr algn="l">
              <a:lnSpc>
                <a:spcPct val="115000"/>
              </a:lnSpc>
              <a:spcBef>
                <a:spcPts val="0"/>
              </a:spcBef>
              <a:spcAft>
                <a:spcPts val="0"/>
              </a:spcAft>
            </a:pPr>
            <a:r>
              <a:rPr sz="1000" b="0" i="0">
                <a:solidFill>
                  <a:srgbClr val="6B7688"/>
                </a:solidFill>
                <a:latin typeface="Noto Sans CJK SC"/>
                <a:ea typeface="Noto Sans CJK SC"/>
                <a:cs typeface="Noto Sans CJK SC"/>
              </a:rPr>
              <a:t>风控体系独立于投研体系，具备一票否决权。</a:t>
            </a:r>
          </a:p>
        </p:txBody>
      </p:sp>
      <p:sp>
        <p:nvSpPr>
          <p:cNvPr id="41" name="TextBox 40"/>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8A93A6"/>
                </a:solidFill>
                <a:latin typeface="Noto Sans CJK SC"/>
                <a:ea typeface="Noto Sans CJK SC"/>
                <a:cs typeface="Noto Sans CJK SC"/>
              </a:rPr>
              <a:t>道一（江苏）资产管理有限公司  ·  AI量化投资与交易创新平台  ·  2026  ·  内部资料</a:t>
            </a:r>
          </a:p>
        </p:txBody>
      </p:sp>
      <p:sp>
        <p:nvSpPr>
          <p:cNvPr id="42" name="TextBox 41"/>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9A7B14"/>
                </a:solidFill>
                <a:latin typeface="Noto Sans CJK SC"/>
                <a:ea typeface="Noto Sans CJK SC"/>
                <a:cs typeface="Noto Sans CJK SC"/>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D3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39128"/>
            <a:ext cx="12191695"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566928"/>
            <a:ext cx="10058400" cy="411480"/>
          </a:xfrm>
          <a:prstGeom prst="rect">
            <a:avLst/>
          </a:prstGeom>
          <a:noFill/>
        </p:spPr>
        <p:txBody>
          <a:bodyPr wrap="square" lIns="0" tIns="0" rIns="0" bIns="0" anchor="t">
            <a:spAutoFit/>
          </a:bodyPr>
          <a:lstStyle/>
          <a:p>
            <a:pPr algn="l">
              <a:lnSpc>
                <a:spcPct val="112000"/>
              </a:lnSpc>
            </a:pPr>
            <a:r>
              <a:rPr sz="2600" b="1" i="0">
                <a:solidFill>
                  <a:srgbClr val="FFFFFF"/>
                </a:solidFill>
                <a:latin typeface="Noto Sans CJK SC"/>
                <a:ea typeface="Noto Sans CJK SC"/>
                <a:cs typeface="Noto Sans CJK SC"/>
              </a:rPr>
              <a:t>三步走：从平台共建到生态闭环</a:t>
            </a:r>
          </a:p>
        </p:txBody>
      </p:sp>
      <p:sp>
        <p:nvSpPr>
          <p:cNvPr id="7" name="Rectangle 6"/>
          <p:cNvSpPr/>
          <p:nvPr/>
        </p:nvSpPr>
        <p:spPr>
          <a:xfrm>
            <a:off x="612648" y="1097280"/>
            <a:ext cx="914400" cy="4114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94360" y="1481328"/>
            <a:ext cx="3520440" cy="2011680"/>
          </a:xfrm>
          <a:prstGeom prst="roundRect">
            <a:avLst>
              <a:gd name="adj" fmla="val 8000"/>
            </a:avLst>
          </a:prstGeom>
          <a:solidFill>
            <a:srgbClr val="1E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81328"/>
            <a:ext cx="352044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91640"/>
            <a:ext cx="2926080" cy="292608"/>
          </a:xfrm>
          <a:prstGeom prst="rect">
            <a:avLst/>
          </a:prstGeom>
          <a:noFill/>
        </p:spPr>
        <p:txBody>
          <a:bodyPr wrap="square" lIns="0" tIns="0" rIns="0" bIns="0" anchor="t">
            <a:spAutoFit/>
          </a:bodyPr>
          <a:lstStyle/>
          <a:p>
            <a:pPr algn="l">
              <a:lnSpc>
                <a:spcPct val="112000"/>
              </a:lnSpc>
            </a:pPr>
            <a:r>
              <a:rPr sz="1200" b="0" i="0">
                <a:solidFill>
                  <a:srgbClr val="E3C55C"/>
                </a:solidFill>
                <a:latin typeface="Noto Sans CJK SC"/>
                <a:ea typeface="Noto Sans CJK SC"/>
                <a:cs typeface="Noto Sans CJK SC"/>
              </a:rPr>
              <a:t>STEP 1</a:t>
            </a:r>
          </a:p>
        </p:txBody>
      </p:sp>
      <p:sp>
        <p:nvSpPr>
          <p:cNvPr id="11" name="TextBox 10"/>
          <p:cNvSpPr txBox="1"/>
          <p:nvPr/>
        </p:nvSpPr>
        <p:spPr>
          <a:xfrm>
            <a:off x="850392" y="2011680"/>
            <a:ext cx="2926080" cy="384048"/>
          </a:xfrm>
          <a:prstGeom prst="rect">
            <a:avLst/>
          </a:prstGeom>
          <a:noFill/>
        </p:spPr>
        <p:txBody>
          <a:bodyPr wrap="square" lIns="0" tIns="0" rIns="0" bIns="0" anchor="t">
            <a:spAutoFit/>
          </a:bodyPr>
          <a:lstStyle/>
          <a:p>
            <a:pPr algn="l">
              <a:lnSpc>
                <a:spcPct val="112000"/>
              </a:lnSpc>
            </a:pPr>
            <a:r>
              <a:rPr sz="1800" b="1" i="0">
                <a:solidFill>
                  <a:srgbClr val="FFFFFF"/>
                </a:solidFill>
                <a:latin typeface="Noto Sans CJK SC"/>
                <a:ea typeface="Noto Sans CJK SC"/>
                <a:cs typeface="Noto Sans CJK SC"/>
              </a:rPr>
              <a:t>合伙人签约</a:t>
            </a:r>
          </a:p>
        </p:txBody>
      </p:sp>
      <p:sp>
        <p:nvSpPr>
          <p:cNvPr id="12" name="TextBox 11"/>
          <p:cNvSpPr txBox="1"/>
          <p:nvPr/>
        </p:nvSpPr>
        <p:spPr>
          <a:xfrm>
            <a:off x="850392" y="2487168"/>
            <a:ext cx="3063240" cy="914400"/>
          </a:xfrm>
          <a:prstGeom prst="rect">
            <a:avLst/>
          </a:prstGeom>
          <a:noFill/>
        </p:spPr>
        <p:txBody>
          <a:bodyPr wrap="square" lIns="0" tIns="0" rIns="0" bIns="0" anchor="t">
            <a:spAutoFit/>
          </a:bodyPr>
          <a:lstStyle/>
          <a:p>
            <a:pPr algn="l">
              <a:lnSpc>
                <a:spcPct val="122000"/>
              </a:lnSpc>
            </a:pPr>
            <a:r>
              <a:rPr sz="1100" b="0" i="0">
                <a:solidFill>
                  <a:srgbClr val="B9C4D6"/>
                </a:solidFill>
                <a:latin typeface="Noto Sans CJK SC"/>
                <a:ea typeface="Noto Sans CJK SC"/>
                <a:cs typeface="Noto Sans CJK SC"/>
              </a:rPr>
              <a:t>与合伙人公司签署合作协议，明确股权/资源/分工，启动平台共建</a:t>
            </a:r>
          </a:p>
        </p:txBody>
      </p:sp>
      <p:sp>
        <p:nvSpPr>
          <p:cNvPr id="13" name="TextBox 12"/>
          <p:cNvSpPr txBox="1"/>
          <p:nvPr/>
        </p:nvSpPr>
        <p:spPr>
          <a:xfrm>
            <a:off x="4114800" y="2194560"/>
            <a:ext cx="320040" cy="548640"/>
          </a:xfrm>
          <a:prstGeom prst="rect">
            <a:avLst/>
          </a:prstGeom>
          <a:noFill/>
        </p:spPr>
        <p:txBody>
          <a:bodyPr wrap="square" lIns="0" tIns="0" rIns="0" bIns="0" anchor="ctr">
            <a:spAutoFit/>
          </a:bodyPr>
          <a:lstStyle/>
          <a:p>
            <a:pPr algn="ctr">
              <a:lnSpc>
                <a:spcPct val="112000"/>
              </a:lnSpc>
            </a:pPr>
            <a:r>
              <a:rPr sz="2200" b="1" i="0">
                <a:solidFill>
                  <a:srgbClr val="C9A227"/>
                </a:solidFill>
                <a:latin typeface="Noto Sans CJK SC"/>
                <a:ea typeface="Noto Sans CJK SC"/>
                <a:cs typeface="Noto Sans CJK SC"/>
              </a:rPr>
              <a:t>›</a:t>
            </a:r>
          </a:p>
        </p:txBody>
      </p:sp>
      <p:sp>
        <p:nvSpPr>
          <p:cNvPr id="14" name="Rounded Rectangle 13"/>
          <p:cNvSpPr/>
          <p:nvPr/>
        </p:nvSpPr>
        <p:spPr>
          <a:xfrm>
            <a:off x="4343400" y="1481328"/>
            <a:ext cx="3520440" cy="2011680"/>
          </a:xfrm>
          <a:prstGeom prst="roundRect">
            <a:avLst>
              <a:gd name="adj" fmla="val 8000"/>
            </a:avLst>
          </a:prstGeom>
          <a:solidFill>
            <a:srgbClr val="1E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43400" y="1481328"/>
            <a:ext cx="352044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9432" y="1691640"/>
            <a:ext cx="2926080" cy="292608"/>
          </a:xfrm>
          <a:prstGeom prst="rect">
            <a:avLst/>
          </a:prstGeom>
          <a:noFill/>
        </p:spPr>
        <p:txBody>
          <a:bodyPr wrap="square" lIns="0" tIns="0" rIns="0" bIns="0" anchor="t">
            <a:spAutoFit/>
          </a:bodyPr>
          <a:lstStyle/>
          <a:p>
            <a:pPr algn="l">
              <a:lnSpc>
                <a:spcPct val="112000"/>
              </a:lnSpc>
            </a:pPr>
            <a:r>
              <a:rPr sz="1200" b="0" i="0">
                <a:solidFill>
                  <a:srgbClr val="E3C55C"/>
                </a:solidFill>
                <a:latin typeface="Noto Sans CJK SC"/>
                <a:ea typeface="Noto Sans CJK SC"/>
                <a:cs typeface="Noto Sans CJK SC"/>
              </a:rPr>
              <a:t>STEP 2</a:t>
            </a:r>
          </a:p>
        </p:txBody>
      </p:sp>
      <p:sp>
        <p:nvSpPr>
          <p:cNvPr id="17" name="TextBox 16"/>
          <p:cNvSpPr txBox="1"/>
          <p:nvPr/>
        </p:nvSpPr>
        <p:spPr>
          <a:xfrm>
            <a:off x="4599432" y="2011680"/>
            <a:ext cx="2926080" cy="384048"/>
          </a:xfrm>
          <a:prstGeom prst="rect">
            <a:avLst/>
          </a:prstGeom>
          <a:noFill/>
        </p:spPr>
        <p:txBody>
          <a:bodyPr wrap="square" lIns="0" tIns="0" rIns="0" bIns="0" anchor="t">
            <a:spAutoFit/>
          </a:bodyPr>
          <a:lstStyle/>
          <a:p>
            <a:pPr algn="l">
              <a:lnSpc>
                <a:spcPct val="112000"/>
              </a:lnSpc>
            </a:pPr>
            <a:r>
              <a:rPr sz="1800" b="1" i="0">
                <a:solidFill>
                  <a:srgbClr val="FFFFFF"/>
                </a:solidFill>
                <a:latin typeface="Noto Sans CJK SC"/>
                <a:ea typeface="Noto Sans CJK SC"/>
                <a:cs typeface="Noto Sans CJK SC"/>
              </a:rPr>
              <a:t>联盟发起</a:t>
            </a:r>
          </a:p>
        </p:txBody>
      </p:sp>
      <p:sp>
        <p:nvSpPr>
          <p:cNvPr id="18" name="TextBox 17"/>
          <p:cNvSpPr txBox="1"/>
          <p:nvPr/>
        </p:nvSpPr>
        <p:spPr>
          <a:xfrm>
            <a:off x="4599432" y="2487168"/>
            <a:ext cx="3063240" cy="914400"/>
          </a:xfrm>
          <a:prstGeom prst="rect">
            <a:avLst/>
          </a:prstGeom>
          <a:noFill/>
        </p:spPr>
        <p:txBody>
          <a:bodyPr wrap="square" lIns="0" tIns="0" rIns="0" bIns="0" anchor="t">
            <a:spAutoFit/>
          </a:bodyPr>
          <a:lstStyle/>
          <a:p>
            <a:pPr algn="l">
              <a:lnSpc>
                <a:spcPct val="122000"/>
              </a:lnSpc>
            </a:pPr>
            <a:r>
              <a:rPr sz="1100" b="0" i="0">
                <a:solidFill>
                  <a:srgbClr val="B9C4D6"/>
                </a:solidFill>
                <a:latin typeface="Noto Sans CJK SC"/>
                <a:ea typeface="Noto Sans CJK SC"/>
                <a:cs typeface="Noto Sans CJK SC"/>
              </a:rPr>
              <a:t>联合首批理事单位发起全国AI量化交易联盟，开放成员招募</a:t>
            </a:r>
          </a:p>
        </p:txBody>
      </p:sp>
      <p:sp>
        <p:nvSpPr>
          <p:cNvPr id="19" name="TextBox 18"/>
          <p:cNvSpPr txBox="1"/>
          <p:nvPr/>
        </p:nvSpPr>
        <p:spPr>
          <a:xfrm>
            <a:off x="7863840" y="2194560"/>
            <a:ext cx="320040" cy="548640"/>
          </a:xfrm>
          <a:prstGeom prst="rect">
            <a:avLst/>
          </a:prstGeom>
          <a:noFill/>
        </p:spPr>
        <p:txBody>
          <a:bodyPr wrap="square" lIns="0" tIns="0" rIns="0" bIns="0" anchor="ctr">
            <a:spAutoFit/>
          </a:bodyPr>
          <a:lstStyle/>
          <a:p>
            <a:pPr algn="ctr">
              <a:lnSpc>
                <a:spcPct val="112000"/>
              </a:lnSpc>
            </a:pPr>
            <a:r>
              <a:rPr sz="2200" b="1" i="0">
                <a:solidFill>
                  <a:srgbClr val="C9A227"/>
                </a:solidFill>
                <a:latin typeface="Noto Sans CJK SC"/>
                <a:ea typeface="Noto Sans CJK SC"/>
                <a:cs typeface="Noto Sans CJK SC"/>
              </a:rPr>
              <a:t>›</a:t>
            </a:r>
          </a:p>
        </p:txBody>
      </p:sp>
      <p:sp>
        <p:nvSpPr>
          <p:cNvPr id="20" name="Rounded Rectangle 19"/>
          <p:cNvSpPr/>
          <p:nvPr/>
        </p:nvSpPr>
        <p:spPr>
          <a:xfrm>
            <a:off x="8092440" y="1481328"/>
            <a:ext cx="3520440" cy="2011680"/>
          </a:xfrm>
          <a:prstGeom prst="roundRect">
            <a:avLst>
              <a:gd name="adj" fmla="val 8000"/>
            </a:avLst>
          </a:prstGeom>
          <a:solidFill>
            <a:srgbClr val="1E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92440" y="1481328"/>
            <a:ext cx="352044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8471" y="1691640"/>
            <a:ext cx="2926080" cy="292608"/>
          </a:xfrm>
          <a:prstGeom prst="rect">
            <a:avLst/>
          </a:prstGeom>
          <a:noFill/>
        </p:spPr>
        <p:txBody>
          <a:bodyPr wrap="square" lIns="0" tIns="0" rIns="0" bIns="0" anchor="t">
            <a:spAutoFit/>
          </a:bodyPr>
          <a:lstStyle/>
          <a:p>
            <a:pPr algn="l">
              <a:lnSpc>
                <a:spcPct val="112000"/>
              </a:lnSpc>
            </a:pPr>
            <a:r>
              <a:rPr sz="1200" b="0" i="0">
                <a:solidFill>
                  <a:srgbClr val="E3C55C"/>
                </a:solidFill>
                <a:latin typeface="Noto Sans CJK SC"/>
                <a:ea typeface="Noto Sans CJK SC"/>
                <a:cs typeface="Noto Sans CJK SC"/>
              </a:rPr>
              <a:t>STEP 3</a:t>
            </a:r>
          </a:p>
        </p:txBody>
      </p:sp>
      <p:sp>
        <p:nvSpPr>
          <p:cNvPr id="23" name="TextBox 22"/>
          <p:cNvSpPr txBox="1"/>
          <p:nvPr/>
        </p:nvSpPr>
        <p:spPr>
          <a:xfrm>
            <a:off x="8348471" y="2011680"/>
            <a:ext cx="2926080" cy="384048"/>
          </a:xfrm>
          <a:prstGeom prst="rect">
            <a:avLst/>
          </a:prstGeom>
          <a:noFill/>
        </p:spPr>
        <p:txBody>
          <a:bodyPr wrap="square" lIns="0" tIns="0" rIns="0" bIns="0" anchor="t">
            <a:spAutoFit/>
          </a:bodyPr>
          <a:lstStyle/>
          <a:p>
            <a:pPr algn="l">
              <a:lnSpc>
                <a:spcPct val="112000"/>
              </a:lnSpc>
            </a:pPr>
            <a:r>
              <a:rPr sz="1800" b="1" i="0">
                <a:solidFill>
                  <a:srgbClr val="FFFFFF"/>
                </a:solidFill>
                <a:latin typeface="Noto Sans CJK SC"/>
                <a:ea typeface="Noto Sans CJK SC"/>
                <a:cs typeface="Noto Sans CJK SC"/>
              </a:rPr>
              <a:t>基金落地</a:t>
            </a:r>
          </a:p>
        </p:txBody>
      </p:sp>
      <p:sp>
        <p:nvSpPr>
          <p:cNvPr id="24" name="TextBox 23"/>
          <p:cNvSpPr txBox="1"/>
          <p:nvPr/>
        </p:nvSpPr>
        <p:spPr>
          <a:xfrm>
            <a:off x="8348471" y="2487168"/>
            <a:ext cx="3063240" cy="914400"/>
          </a:xfrm>
          <a:prstGeom prst="rect">
            <a:avLst/>
          </a:prstGeom>
          <a:noFill/>
        </p:spPr>
        <p:txBody>
          <a:bodyPr wrap="square" lIns="0" tIns="0" rIns="0" bIns="0" anchor="t">
            <a:spAutoFit/>
          </a:bodyPr>
          <a:lstStyle/>
          <a:p>
            <a:pPr algn="l">
              <a:lnSpc>
                <a:spcPct val="122000"/>
              </a:lnSpc>
            </a:pPr>
            <a:r>
              <a:rPr sz="1100" b="0" i="0">
                <a:solidFill>
                  <a:srgbClr val="B9C4D6"/>
                </a:solidFill>
                <a:latin typeface="Noto Sans CJK SC"/>
                <a:ea typeface="Noto Sans CJK SC"/>
                <a:cs typeface="Noto Sans CJK SC"/>
              </a:rPr>
              <a:t>完成管理人登记与产品备案，量化交易基金进入募集与运作</a:t>
            </a:r>
          </a:p>
        </p:txBody>
      </p:sp>
      <p:sp>
        <p:nvSpPr>
          <p:cNvPr id="25" name="Rounded Rectangle 24"/>
          <p:cNvSpPr/>
          <p:nvPr/>
        </p:nvSpPr>
        <p:spPr>
          <a:xfrm>
            <a:off x="594360" y="3794760"/>
            <a:ext cx="11018520" cy="1234440"/>
          </a:xfrm>
          <a:prstGeom prst="roundRect">
            <a:avLst>
              <a:gd name="adj" fmla="val 8000"/>
            </a:avLst>
          </a:prstGeom>
          <a:solidFill>
            <a:srgbClr val="1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94360" y="3794760"/>
            <a:ext cx="73152" cy="1234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3950208"/>
            <a:ext cx="10424160" cy="960120"/>
          </a:xfrm>
          <a:prstGeom prst="rect">
            <a:avLst/>
          </a:prstGeom>
          <a:noFill/>
        </p:spPr>
        <p:txBody>
          <a:bodyPr wrap="square" lIns="0" tIns="0" rIns="0" bIns="0" anchor="t">
            <a:spAutoFit/>
          </a:bodyPr>
          <a:lstStyle/>
          <a:p>
            <a:pPr algn="l">
              <a:lnSpc>
                <a:spcPct val="112000"/>
              </a:lnSpc>
              <a:spcBef>
                <a:spcPts val="0"/>
              </a:spcBef>
              <a:spcAft>
                <a:spcPts val="400"/>
              </a:spcAft>
            </a:pPr>
            <a:r>
              <a:rPr sz="1150" b="1" i="0">
                <a:solidFill>
                  <a:srgbClr val="E3C55C"/>
                </a:solidFill>
                <a:latin typeface="Noto Sans CJK SC"/>
                <a:ea typeface="Noto Sans CJK SC"/>
                <a:cs typeface="Noto Sans CJK SC"/>
              </a:rPr>
              <a:t>风险与合规声明  </a:t>
            </a:r>
            <a:r>
              <a:rPr sz="1000" b="0" i="0">
                <a:solidFill>
                  <a:srgbClr val="8A93A6"/>
                </a:solidFill>
                <a:latin typeface="Noto Sans CJK SC"/>
                <a:ea typeface="Noto Sans CJK SC"/>
                <a:cs typeface="Noto Sans CJK SC"/>
              </a:rPr>
              <a:t>Risk &amp; Compliance Disclaimer</a:t>
            </a:r>
          </a:p>
          <a:p>
            <a:pPr algn="l">
              <a:lnSpc>
                <a:spcPct val="125000"/>
              </a:lnSpc>
              <a:spcBef>
                <a:spcPts val="0"/>
              </a:spcBef>
              <a:spcAft>
                <a:spcPts val="0"/>
              </a:spcAft>
            </a:pPr>
            <a:r>
              <a:rPr sz="1050" b="0" i="0">
                <a:solidFill>
                  <a:srgbClr val="9FADC4"/>
                </a:solidFill>
                <a:latin typeface="Noto Sans CJK SC"/>
                <a:ea typeface="Noto Sans CJK SC"/>
                <a:cs typeface="Noto Sans CJK SC"/>
              </a:rPr>
              <a:t>本项目为技术研发与业务合作规划，所有模型、回测与历史表现仅作研发与学术迭代使用，不构成任何投资建议、收益承诺或保本保证。合作与投资均需经过严谨尽调与风险评估，并严格在监管框架内开展。</a:t>
            </a:r>
          </a:p>
        </p:txBody>
      </p:sp>
      <p:sp>
        <p:nvSpPr>
          <p:cNvPr id="30" name="TextBox 29"/>
          <p:cNvSpPr txBox="1"/>
          <p:nvPr/>
        </p:nvSpPr>
        <p:spPr>
          <a:xfrm>
            <a:off x="594360" y="6236208"/>
            <a:ext cx="11018520" cy="320040"/>
          </a:xfrm>
          <a:prstGeom prst="rect">
            <a:avLst/>
          </a:prstGeom>
          <a:noFill/>
        </p:spPr>
        <p:txBody>
          <a:bodyPr wrap="square" lIns="0" tIns="0" rIns="0" bIns="0" anchor="t">
            <a:spAutoFit/>
          </a:bodyPr>
          <a:lstStyle/>
          <a:p>
            <a:pPr algn="ctr">
              <a:lnSpc>
                <a:spcPct val="112000"/>
              </a:lnSpc>
            </a:pPr>
            <a:r>
              <a:rPr sz="1050" b="0" i="0">
                <a:solidFill>
                  <a:srgbClr val="8A93A6"/>
                </a:solidFill>
                <a:latin typeface="Noto Sans CJK SC"/>
                <a:ea typeface="Noto Sans CJK SC"/>
                <a:cs typeface="Noto Sans CJK SC"/>
              </a:rPr>
              <a:t>道一（江苏）资产管理有限公司  ·  2026  ·  内部资料，仅供合作评估使用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CE53B-8B9B-E5FD-D525-ECB6B218E6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902A0C0-22B2-7BDB-09F5-E4A7DAE63B7D}"/>
              </a:ext>
            </a:extLst>
          </p:cNvPr>
          <p:cNvSpPr/>
          <p:nvPr/>
        </p:nvSpPr>
        <p:spPr>
          <a:xfrm>
            <a:off x="0" y="0"/>
            <a:ext cx="12191695" cy="6858000"/>
          </a:xfrm>
          <a:prstGeom prst="rect">
            <a:avLst/>
          </a:prstGeom>
          <a:solidFill>
            <a:srgbClr val="121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DFF49A32-56DD-6785-7BB2-5F25E76E2490}"/>
              </a:ext>
            </a:extLst>
          </p:cNvPr>
          <p:cNvSpPr/>
          <p:nvPr/>
        </p:nvSpPr>
        <p:spPr>
          <a:xfrm>
            <a:off x="0" y="6766560"/>
            <a:ext cx="12191695"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6B62DBD-A0FC-E784-E652-CAD0D21B4942}"/>
              </a:ext>
            </a:extLst>
          </p:cNvPr>
          <p:cNvSpPr txBox="1"/>
          <p:nvPr/>
        </p:nvSpPr>
        <p:spPr>
          <a:xfrm>
            <a:off x="685800" y="1051560"/>
            <a:ext cx="3108960" cy="1828800"/>
          </a:xfrm>
          <a:prstGeom prst="rect">
            <a:avLst/>
          </a:prstGeom>
          <a:noFill/>
        </p:spPr>
        <p:txBody>
          <a:bodyPr wrap="square" lIns="0" tIns="0" rIns="0" bIns="0" anchor="t">
            <a:spAutoFit/>
          </a:bodyPr>
          <a:lstStyle/>
          <a:p>
            <a:pPr algn="l">
              <a:lnSpc>
                <a:spcPct val="112000"/>
              </a:lnSpc>
            </a:pPr>
            <a:r>
              <a:rPr sz="10800" b="1" i="0" dirty="0">
                <a:solidFill>
                  <a:srgbClr val="25365C"/>
                </a:solidFill>
                <a:latin typeface="Noto Sans CJK SC"/>
                <a:ea typeface="Noto Sans CJK SC"/>
                <a:cs typeface="Noto Sans CJK SC"/>
              </a:rPr>
              <a:t>0</a:t>
            </a:r>
            <a:r>
              <a:rPr lang="en-US" sz="10800" b="1" i="0" dirty="0">
                <a:solidFill>
                  <a:srgbClr val="25365C"/>
                </a:solidFill>
                <a:latin typeface="Noto Sans CJK SC"/>
                <a:ea typeface="Noto Sans CJK SC"/>
                <a:cs typeface="Noto Sans CJK SC"/>
              </a:rPr>
              <a:t>4</a:t>
            </a:r>
            <a:endParaRPr sz="10800" b="1" i="0" dirty="0">
              <a:solidFill>
                <a:srgbClr val="25365C"/>
              </a:solidFill>
              <a:latin typeface="Noto Sans CJK SC"/>
              <a:ea typeface="Noto Sans CJK SC"/>
              <a:cs typeface="Noto Sans CJK SC"/>
            </a:endParaRPr>
          </a:p>
        </p:txBody>
      </p:sp>
      <p:sp>
        <p:nvSpPr>
          <p:cNvPr id="7" name="Rectangle 6">
            <a:extLst>
              <a:ext uri="{FF2B5EF4-FFF2-40B4-BE49-F238E27FC236}">
                <a16:creationId xmlns:a16="http://schemas.microsoft.com/office/drawing/2014/main" id="{8A599F30-92EB-C83D-3253-506BDF436640}"/>
              </a:ext>
            </a:extLst>
          </p:cNvPr>
          <p:cNvSpPr/>
          <p:nvPr/>
        </p:nvSpPr>
        <p:spPr>
          <a:xfrm>
            <a:off x="777240" y="2880360"/>
            <a:ext cx="8229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C32275B-7A6B-6E6E-8DD2-C9EC16FB9F3C}"/>
              </a:ext>
            </a:extLst>
          </p:cNvPr>
          <p:cNvSpPr txBox="1"/>
          <p:nvPr/>
        </p:nvSpPr>
        <p:spPr>
          <a:xfrm>
            <a:off x="822960" y="3127248"/>
            <a:ext cx="10607040" cy="1341906"/>
          </a:xfrm>
          <a:prstGeom prst="rect">
            <a:avLst/>
          </a:prstGeom>
          <a:noFill/>
        </p:spPr>
        <p:txBody>
          <a:bodyPr wrap="square" lIns="0" tIns="0" rIns="0" bIns="0" anchor="t">
            <a:spAutoFit/>
          </a:bodyPr>
          <a:lstStyle/>
          <a:p>
            <a:pPr>
              <a:lnSpc>
                <a:spcPct val="112000"/>
              </a:lnSpc>
            </a:pPr>
            <a:r>
              <a:rPr lang="zh-CN" altLang="en-US" sz="4000" b="1" dirty="0">
                <a:solidFill>
                  <a:srgbClr val="FFFFFF"/>
                </a:solidFill>
                <a:latin typeface="Noto Sans SC Black" panose="020B0200000000000000" pitchFamily="34" charset="-122"/>
                <a:ea typeface="Noto Sans SC Black" panose="020B0200000000000000" pitchFamily="34" charset="-122"/>
              </a:rPr>
              <a:t>合规发展</a:t>
            </a:r>
          </a:p>
          <a:p>
            <a:pPr algn="l">
              <a:lnSpc>
                <a:spcPct val="112000"/>
              </a:lnSpc>
            </a:pPr>
            <a:endParaRPr sz="4000" b="1" i="0" dirty="0">
              <a:solidFill>
                <a:srgbClr val="FFFFFF"/>
              </a:solidFill>
              <a:latin typeface="Noto Sans CJK SC"/>
              <a:ea typeface="Noto Sans CJK SC"/>
              <a:cs typeface="Noto Sans CJK SC"/>
            </a:endParaRPr>
          </a:p>
        </p:txBody>
      </p:sp>
      <p:sp>
        <p:nvSpPr>
          <p:cNvPr id="9" name="TextBox 8">
            <a:extLst>
              <a:ext uri="{FF2B5EF4-FFF2-40B4-BE49-F238E27FC236}">
                <a16:creationId xmlns:a16="http://schemas.microsoft.com/office/drawing/2014/main" id="{0D137045-7B32-3EAD-F65A-82995A5B4F68}"/>
              </a:ext>
            </a:extLst>
          </p:cNvPr>
          <p:cNvSpPr txBox="1"/>
          <p:nvPr/>
        </p:nvSpPr>
        <p:spPr>
          <a:xfrm>
            <a:off x="841248" y="4005072"/>
            <a:ext cx="10607040" cy="277384"/>
          </a:xfrm>
          <a:prstGeom prst="rect">
            <a:avLst/>
          </a:prstGeom>
          <a:noFill/>
        </p:spPr>
        <p:txBody>
          <a:bodyPr wrap="square" lIns="0" tIns="0" rIns="0" bIns="0" anchor="t">
            <a:spAutoFit/>
          </a:bodyPr>
          <a:lstStyle/>
          <a:p>
            <a:pPr>
              <a:lnSpc>
                <a:spcPct val="112000"/>
              </a:lnSpc>
            </a:pPr>
            <a:r>
              <a:rPr lang="en-US" sz="1700" b="0" i="0" dirty="0">
                <a:solidFill>
                  <a:srgbClr val="E3C55C"/>
                </a:solidFill>
                <a:latin typeface="Noto Sans CJK SC"/>
                <a:ea typeface="Noto Sans CJK SC"/>
                <a:cs typeface="Noto Sans CJK SC"/>
              </a:rPr>
              <a:t>REGULATION </a:t>
            </a:r>
            <a:r>
              <a:rPr lang="en-US" sz="1700" dirty="0">
                <a:solidFill>
                  <a:srgbClr val="E3C55C"/>
                </a:solidFill>
                <a:latin typeface="Noto Sans CJK SC"/>
              </a:rPr>
              <a:t>&amp; COMPLIANCE</a:t>
            </a:r>
            <a:endParaRPr sz="1700" dirty="0">
              <a:solidFill>
                <a:srgbClr val="E3C55C"/>
              </a:solidFill>
              <a:latin typeface="Noto Sans CJK SC"/>
            </a:endParaRPr>
          </a:p>
        </p:txBody>
      </p:sp>
      <p:sp>
        <p:nvSpPr>
          <p:cNvPr id="10" name="TextBox 9">
            <a:extLst>
              <a:ext uri="{FF2B5EF4-FFF2-40B4-BE49-F238E27FC236}">
                <a16:creationId xmlns:a16="http://schemas.microsoft.com/office/drawing/2014/main" id="{0165C1B1-6696-111E-C887-B1368379A487}"/>
              </a:ext>
            </a:extLst>
          </p:cNvPr>
          <p:cNvSpPr txBox="1"/>
          <p:nvPr/>
        </p:nvSpPr>
        <p:spPr>
          <a:xfrm>
            <a:off x="841248" y="4553712"/>
            <a:ext cx="10789920" cy="486543"/>
          </a:xfrm>
          <a:prstGeom prst="rect">
            <a:avLst/>
          </a:prstGeom>
          <a:noFill/>
        </p:spPr>
        <p:txBody>
          <a:bodyPr wrap="square" lIns="0" tIns="0" rIns="0" bIns="0" anchor="t">
            <a:spAutoFit/>
          </a:bodyPr>
          <a:lstStyle/>
          <a:p>
            <a:pPr>
              <a:lnSpc>
                <a:spcPct val="112000"/>
              </a:lnSpc>
            </a:pPr>
            <a:r>
              <a:rPr lang="en-US" altLang="zh-CN" sz="1450" dirty="0">
                <a:solidFill>
                  <a:srgbClr val="B9C4D6"/>
                </a:solidFill>
                <a:latin typeface="Noto Sans CJK SC"/>
              </a:rPr>
              <a:t>AI </a:t>
            </a:r>
            <a:r>
              <a:rPr lang="zh-CN" altLang="en-US" sz="1450" dirty="0">
                <a:solidFill>
                  <a:srgbClr val="B9C4D6"/>
                </a:solidFill>
                <a:latin typeface="Noto Sans CJK SC"/>
              </a:rPr>
              <a:t>量化共识联盟  </a:t>
            </a:r>
            <a:r>
              <a:rPr lang="en-US" altLang="zh-CN" sz="1450" dirty="0">
                <a:solidFill>
                  <a:srgbClr val="B9C4D6"/>
                </a:solidFill>
                <a:latin typeface="Noto Sans CJK SC"/>
              </a:rPr>
              <a:t>·  </a:t>
            </a:r>
            <a:r>
              <a:rPr lang="zh-CN" altLang="en-US" sz="1450" dirty="0">
                <a:solidFill>
                  <a:srgbClr val="B9C4D6"/>
                </a:solidFill>
                <a:latin typeface="Noto Sans CJK SC"/>
              </a:rPr>
              <a:t>以制度为本、以透明为纲、以风控为盾、以责任为基</a:t>
            </a:r>
          </a:p>
          <a:p>
            <a:pPr algn="l">
              <a:lnSpc>
                <a:spcPct val="112000"/>
              </a:lnSpc>
            </a:pPr>
            <a:endParaRPr sz="1450" b="0" i="0" dirty="0">
              <a:solidFill>
                <a:srgbClr val="B9C4D6"/>
              </a:solidFill>
              <a:latin typeface="Noto Sans CJK SC"/>
              <a:ea typeface="Noto Sans CJK SC"/>
              <a:cs typeface="Noto Sans CJK SC"/>
            </a:endParaRPr>
          </a:p>
        </p:txBody>
      </p:sp>
      <p:sp>
        <p:nvSpPr>
          <p:cNvPr id="11" name="Rounded Rectangle 10">
            <a:extLst>
              <a:ext uri="{FF2B5EF4-FFF2-40B4-BE49-F238E27FC236}">
                <a16:creationId xmlns:a16="http://schemas.microsoft.com/office/drawing/2014/main" id="{6A23F869-1404-C71C-B4DA-95241AEDCAA1}"/>
              </a:ext>
            </a:extLst>
          </p:cNvPr>
          <p:cNvSpPr/>
          <p:nvPr/>
        </p:nvSpPr>
        <p:spPr>
          <a:xfrm>
            <a:off x="841248" y="5230368"/>
            <a:ext cx="10515600" cy="685800"/>
          </a:xfrm>
          <a:prstGeom prst="roundRect">
            <a:avLst>
              <a:gd name="adj" fmla="val 50000"/>
            </a:avLst>
          </a:prstGeom>
          <a:solidFill>
            <a:srgbClr val="1E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4E12030A-410D-2C09-5FCC-55FFBFC05E2C}"/>
              </a:ext>
            </a:extLst>
          </p:cNvPr>
          <p:cNvSpPr txBox="1"/>
          <p:nvPr/>
        </p:nvSpPr>
        <p:spPr>
          <a:xfrm>
            <a:off x="1097280" y="5356830"/>
            <a:ext cx="10058400" cy="432875"/>
          </a:xfrm>
          <a:prstGeom prst="rect">
            <a:avLst/>
          </a:prstGeom>
          <a:noFill/>
        </p:spPr>
        <p:txBody>
          <a:bodyPr wrap="square" lIns="0" tIns="0" rIns="0" bIns="0" anchor="ctr">
            <a:spAutoFit/>
          </a:bodyPr>
          <a:lstStyle/>
          <a:p>
            <a:pPr>
              <a:lnSpc>
                <a:spcPct val="112000"/>
              </a:lnSpc>
            </a:pPr>
            <a:r>
              <a:rPr lang="zh-CN" altLang="en-US" sz="1300" dirty="0">
                <a:solidFill>
                  <a:srgbClr val="D5DDEA"/>
                </a:solidFill>
                <a:latin typeface="Noto Sans CJK SC"/>
              </a:rPr>
              <a:t>坚持依法合规、审慎经营和透明发展的原则，推动 </a:t>
            </a:r>
            <a:r>
              <a:rPr lang="en-US" altLang="zh-CN" sz="1300" dirty="0">
                <a:solidFill>
                  <a:srgbClr val="D5DDEA"/>
                </a:solidFill>
                <a:latin typeface="Noto Sans CJK SC"/>
              </a:rPr>
              <a:t>AI</a:t>
            </a:r>
            <a:r>
              <a:rPr lang="zh-CN" altLang="en-US" sz="1300" dirty="0">
                <a:solidFill>
                  <a:srgbClr val="D5DDEA"/>
                </a:solidFill>
                <a:latin typeface="Noto Sans CJK SC"/>
              </a:rPr>
              <a:t>、量化投资与金融科技创新在清晰的法律边界和规范的治理体系下健康发展，让技术真正服务于产业、服务于社会</a:t>
            </a:r>
            <a:endParaRPr sz="1300" dirty="0">
              <a:solidFill>
                <a:srgbClr val="D5DDEA"/>
              </a:solidFill>
              <a:latin typeface="Noto Sans CJK SC"/>
            </a:endParaRPr>
          </a:p>
        </p:txBody>
      </p:sp>
      <p:sp>
        <p:nvSpPr>
          <p:cNvPr id="13" name="TextBox 12">
            <a:extLst>
              <a:ext uri="{FF2B5EF4-FFF2-40B4-BE49-F238E27FC236}">
                <a16:creationId xmlns:a16="http://schemas.microsoft.com/office/drawing/2014/main" id="{860B07AE-C4FC-7DDA-C62B-0B59057560F6}"/>
              </a:ext>
            </a:extLst>
          </p:cNvPr>
          <p:cNvSpPr txBox="1"/>
          <p:nvPr/>
        </p:nvSpPr>
        <p:spPr>
          <a:xfrm>
            <a:off x="548640" y="6455664"/>
            <a:ext cx="8686800" cy="292608"/>
          </a:xfrm>
          <a:prstGeom prst="rect">
            <a:avLst/>
          </a:prstGeom>
          <a:noFill/>
        </p:spPr>
        <p:txBody>
          <a:bodyPr wrap="square" lIns="0" tIns="0" rIns="0" bIns="0" anchor="ctr">
            <a:spAutoFit/>
          </a:bodyPr>
          <a:lstStyle/>
          <a:p>
            <a:pPr algn="l">
              <a:lnSpc>
                <a:spcPct val="112000"/>
              </a:lnSpc>
            </a:pPr>
            <a:r>
              <a:rPr sz="850" b="0" i="0">
                <a:solidFill>
                  <a:srgbClr val="5A6884"/>
                </a:solidFill>
                <a:latin typeface="Noto Sans CJK SC"/>
                <a:ea typeface="Noto Sans CJK SC"/>
                <a:cs typeface="Noto Sans CJK SC"/>
              </a:rPr>
              <a:t>道一（江苏）资产管理有限公司  ·  AI量化投资与交易创新平台  ·  2026  ·  内部资料</a:t>
            </a:r>
          </a:p>
        </p:txBody>
      </p:sp>
      <p:sp>
        <p:nvSpPr>
          <p:cNvPr id="14" name="TextBox 13">
            <a:extLst>
              <a:ext uri="{FF2B5EF4-FFF2-40B4-BE49-F238E27FC236}">
                <a16:creationId xmlns:a16="http://schemas.microsoft.com/office/drawing/2014/main" id="{517D01A3-4EC8-322B-B7CB-4BB39B16968A}"/>
              </a:ext>
            </a:extLst>
          </p:cNvPr>
          <p:cNvSpPr txBox="1"/>
          <p:nvPr/>
        </p:nvSpPr>
        <p:spPr>
          <a:xfrm>
            <a:off x="11064240" y="6455664"/>
            <a:ext cx="576072" cy="292608"/>
          </a:xfrm>
          <a:prstGeom prst="rect">
            <a:avLst/>
          </a:prstGeom>
          <a:noFill/>
        </p:spPr>
        <p:txBody>
          <a:bodyPr wrap="square" lIns="0" tIns="0" rIns="0" bIns="0" anchor="ctr">
            <a:spAutoFit/>
          </a:bodyPr>
          <a:lstStyle/>
          <a:p>
            <a:pPr algn="r">
              <a:lnSpc>
                <a:spcPct val="112000"/>
              </a:lnSpc>
            </a:pPr>
            <a:r>
              <a:rPr sz="1050" b="1" i="0">
                <a:solidFill>
                  <a:srgbClr val="C9A227"/>
                </a:solidFill>
                <a:latin typeface="Noto Sans CJK SC"/>
                <a:ea typeface="Noto Sans CJK SC"/>
                <a:cs typeface="Noto Sans CJK SC"/>
              </a:rPr>
              <a:t>17</a:t>
            </a:r>
          </a:p>
        </p:txBody>
      </p:sp>
      <p:pic>
        <p:nvPicPr>
          <p:cNvPr id="4" name="Picture 3">
            <a:extLst>
              <a:ext uri="{FF2B5EF4-FFF2-40B4-BE49-F238E27FC236}">
                <a16:creationId xmlns:a16="http://schemas.microsoft.com/office/drawing/2014/main" id="{F17DA68B-3942-843B-7DDF-6B383706CA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7736" y="-101232"/>
            <a:ext cx="5199012" cy="5199012"/>
          </a:xfrm>
          <a:prstGeom prst="rect">
            <a:avLst/>
          </a:prstGeom>
        </p:spPr>
      </p:pic>
    </p:spTree>
    <p:extLst>
      <p:ext uri="{BB962C8B-B14F-4D97-AF65-F5344CB8AC3E}">
        <p14:creationId xmlns:p14="http://schemas.microsoft.com/office/powerpoint/2010/main" val="1811739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D8287-7F69-B66B-B1C8-F60A0B819CCD}"/>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592A47A3-8757-AEC1-615F-93431573FC20}"/>
              </a:ext>
            </a:extLst>
          </p:cNvPr>
          <p:cNvSpPr/>
          <p:nvPr/>
        </p:nvSpPr>
        <p:spPr>
          <a:xfrm>
            <a:off x="548640" y="457200"/>
            <a:ext cx="2377440" cy="365760"/>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DB501B6-8346-47E8-63C6-4A8A211DCB7D}"/>
              </a:ext>
            </a:extLst>
          </p:cNvPr>
          <p:cNvSpPr txBox="1"/>
          <p:nvPr/>
        </p:nvSpPr>
        <p:spPr>
          <a:xfrm>
            <a:off x="548640" y="542617"/>
            <a:ext cx="2377440" cy="194925"/>
          </a:xfrm>
          <a:prstGeom prst="rect">
            <a:avLst/>
          </a:prstGeom>
          <a:noFill/>
        </p:spPr>
        <p:txBody>
          <a:bodyPr wrap="square" lIns="0" tIns="0" rIns="0" bIns="0" anchor="ctr">
            <a:spAutoFit/>
          </a:bodyPr>
          <a:lstStyle/>
          <a:p>
            <a:pPr algn="ctr">
              <a:lnSpc>
                <a:spcPct val="112000"/>
              </a:lnSpc>
            </a:pPr>
            <a:r>
              <a:rPr lang="en-US" sz="1200" b="1" dirty="0">
                <a:solidFill>
                  <a:srgbClr val="121D36"/>
                </a:solidFill>
                <a:latin typeface="Noto Sans CJK SC"/>
                <a:ea typeface="Noto Sans CJK SC"/>
                <a:cs typeface="Noto Sans CJK SC"/>
              </a:rPr>
              <a:t>REGULATION </a:t>
            </a:r>
            <a:r>
              <a:rPr sz="1200" b="1" i="0" dirty="0">
                <a:solidFill>
                  <a:srgbClr val="121D36"/>
                </a:solidFill>
                <a:latin typeface="Noto Sans CJK SC"/>
                <a:ea typeface="Noto Sans CJK SC"/>
                <a:cs typeface="Noto Sans CJK SC"/>
              </a:rPr>
              <a:t> 0</a:t>
            </a:r>
            <a:r>
              <a:rPr lang="en-US" sz="1200" b="1" i="0" dirty="0">
                <a:solidFill>
                  <a:srgbClr val="121D36"/>
                </a:solidFill>
                <a:latin typeface="Noto Sans CJK SC"/>
                <a:ea typeface="Noto Sans CJK SC"/>
                <a:cs typeface="Noto Sans CJK SC"/>
              </a:rPr>
              <a:t>4</a:t>
            </a:r>
            <a:endParaRPr sz="1200" b="1" i="0" dirty="0">
              <a:solidFill>
                <a:srgbClr val="121D36"/>
              </a:solidFill>
              <a:latin typeface="Noto Sans CJK SC"/>
              <a:ea typeface="Noto Sans CJK SC"/>
              <a:cs typeface="Noto Sans CJK SC"/>
            </a:endParaRPr>
          </a:p>
        </p:txBody>
      </p:sp>
      <p:sp>
        <p:nvSpPr>
          <p:cNvPr id="4" name="TextBox 3">
            <a:extLst>
              <a:ext uri="{FF2B5EF4-FFF2-40B4-BE49-F238E27FC236}">
                <a16:creationId xmlns:a16="http://schemas.microsoft.com/office/drawing/2014/main" id="{55248F35-27CA-831C-AB0D-427235C356CF}"/>
              </a:ext>
            </a:extLst>
          </p:cNvPr>
          <p:cNvSpPr txBox="1"/>
          <p:nvPr/>
        </p:nvSpPr>
        <p:spPr>
          <a:xfrm>
            <a:off x="548640" y="914400"/>
            <a:ext cx="11064240" cy="906658"/>
          </a:xfrm>
          <a:prstGeom prst="rect">
            <a:avLst/>
          </a:prstGeom>
          <a:noFill/>
        </p:spPr>
        <p:txBody>
          <a:bodyPr wrap="square" lIns="0" tIns="0" rIns="0" bIns="0" anchor="t">
            <a:spAutoFit/>
          </a:bodyPr>
          <a:lstStyle/>
          <a:p>
            <a:pPr>
              <a:lnSpc>
                <a:spcPct val="112000"/>
              </a:lnSpc>
            </a:pPr>
            <a:r>
              <a:rPr lang="zh-CN" altLang="en-US" sz="2800" b="1" dirty="0">
                <a:ea typeface="Noto Sans CJK SC"/>
                <a:cs typeface="Noto Sans CJK SC"/>
              </a:rPr>
              <a:t>四大合规原则  </a:t>
            </a:r>
            <a:r>
              <a:rPr lang="en-US" altLang="zh-CN" sz="2800" b="1" dirty="0">
                <a:ea typeface="Noto Sans CJK SC"/>
                <a:cs typeface="Noto Sans CJK SC"/>
              </a:rPr>
              <a:t>/  </a:t>
            </a:r>
            <a:r>
              <a:rPr lang="en-US" sz="2800" b="1" dirty="0">
                <a:ea typeface="Noto Sans CJK SC"/>
                <a:cs typeface="Noto Sans CJK SC"/>
              </a:rPr>
              <a:t>Four Pillars of Compliance</a:t>
            </a:r>
          </a:p>
          <a:p>
            <a:pPr algn="l">
              <a:lnSpc>
                <a:spcPct val="112000"/>
              </a:lnSpc>
            </a:pPr>
            <a:endParaRPr sz="2600" b="1" i="0" dirty="0">
              <a:solidFill>
                <a:srgbClr val="1B2A4A"/>
              </a:solidFill>
              <a:latin typeface="Noto Sans CJK SC"/>
              <a:ea typeface="Noto Sans CJK SC"/>
              <a:cs typeface="Noto Sans CJK SC"/>
            </a:endParaRPr>
          </a:p>
        </p:txBody>
      </p:sp>
      <p:sp>
        <p:nvSpPr>
          <p:cNvPr id="6" name="Rectangle 5">
            <a:extLst>
              <a:ext uri="{FF2B5EF4-FFF2-40B4-BE49-F238E27FC236}">
                <a16:creationId xmlns:a16="http://schemas.microsoft.com/office/drawing/2014/main" id="{BD7035E9-0A30-6261-26C2-AFA421660D3D}"/>
              </a:ext>
            </a:extLst>
          </p:cNvPr>
          <p:cNvSpPr/>
          <p:nvPr/>
        </p:nvSpPr>
        <p:spPr>
          <a:xfrm>
            <a:off x="548640" y="1773936"/>
            <a:ext cx="11091672" cy="201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F5A8C944-D3E1-00F5-361D-887DED0AE896}"/>
              </a:ext>
            </a:extLst>
          </p:cNvPr>
          <p:cNvSpPr/>
          <p:nvPr/>
        </p:nvSpPr>
        <p:spPr>
          <a:xfrm>
            <a:off x="548640" y="2011680"/>
            <a:ext cx="11091672" cy="415965"/>
          </a:xfrm>
          <a:prstGeom prst="roundRect">
            <a:avLst>
              <a:gd name="adj" fmla="val 50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083B127-54DD-1455-B73E-A5A09228B96A}"/>
              </a:ext>
            </a:extLst>
          </p:cNvPr>
          <p:cNvSpPr txBox="1"/>
          <p:nvPr/>
        </p:nvSpPr>
        <p:spPr>
          <a:xfrm>
            <a:off x="914400" y="2095392"/>
            <a:ext cx="10515600" cy="436081"/>
          </a:xfrm>
          <a:prstGeom prst="rect">
            <a:avLst/>
          </a:prstGeom>
          <a:noFill/>
        </p:spPr>
        <p:txBody>
          <a:bodyPr wrap="square" lIns="0" tIns="0" rIns="0" bIns="0" anchor="ctr">
            <a:spAutoFit/>
          </a:bodyPr>
          <a:lstStyle/>
          <a:p>
            <a:pPr>
              <a:lnSpc>
                <a:spcPct val="112000"/>
              </a:lnSpc>
            </a:pPr>
            <a:r>
              <a:rPr lang="zh-CN" altLang="en-US" sz="1300" b="1" dirty="0">
                <a:solidFill>
                  <a:srgbClr val="FFFFFF"/>
                </a:solidFill>
                <a:latin typeface="Noto Sans CJK SC"/>
              </a:rPr>
              <a:t>四大合规原则  </a:t>
            </a:r>
            <a:r>
              <a:rPr lang="en-US" altLang="zh-CN" sz="1300" b="1" dirty="0">
                <a:solidFill>
                  <a:srgbClr val="FFFFFF"/>
                </a:solidFill>
                <a:latin typeface="Noto Sans CJK SC"/>
              </a:rPr>
              <a:t>/  </a:t>
            </a:r>
            <a:r>
              <a:rPr lang="en-US" sz="1300" b="1" dirty="0">
                <a:solidFill>
                  <a:srgbClr val="FFFFFF"/>
                </a:solidFill>
                <a:latin typeface="Noto Sans CJK SC"/>
              </a:rPr>
              <a:t>Four Pillars of Compliance</a:t>
            </a:r>
          </a:p>
          <a:p>
            <a:pPr algn="l">
              <a:lnSpc>
                <a:spcPct val="112000"/>
              </a:lnSpc>
            </a:pPr>
            <a:endParaRPr sz="1300" b="0" i="0" dirty="0">
              <a:solidFill>
                <a:srgbClr val="FFFFFF"/>
              </a:solidFill>
              <a:latin typeface="Noto Sans CJK SC"/>
              <a:ea typeface="Noto Sans CJK SC"/>
              <a:cs typeface="Noto Sans CJK SC"/>
            </a:endParaRPr>
          </a:p>
        </p:txBody>
      </p:sp>
      <p:sp>
        <p:nvSpPr>
          <p:cNvPr id="92" name="Rectangle 91">
            <a:extLst>
              <a:ext uri="{FF2B5EF4-FFF2-40B4-BE49-F238E27FC236}">
                <a16:creationId xmlns:a16="http://schemas.microsoft.com/office/drawing/2014/main" id="{53179A28-0345-1610-19F3-B6E7E64F8FED}"/>
              </a:ext>
            </a:extLst>
          </p:cNvPr>
          <p:cNvSpPr/>
          <p:nvPr/>
        </p:nvSpPr>
        <p:spPr>
          <a:xfrm>
            <a:off x="0" y="6739128"/>
            <a:ext cx="12191695" cy="11887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11">
            <a:extLst>
              <a:ext uri="{FF2B5EF4-FFF2-40B4-BE49-F238E27FC236}">
                <a16:creationId xmlns:a16="http://schemas.microsoft.com/office/drawing/2014/main" id="{D6CF326C-7611-2C92-CD42-3B454CC5CF12}"/>
              </a:ext>
            </a:extLst>
          </p:cNvPr>
          <p:cNvSpPr/>
          <p:nvPr/>
        </p:nvSpPr>
        <p:spPr>
          <a:xfrm>
            <a:off x="480315" y="3142817"/>
            <a:ext cx="5400000" cy="1100000"/>
          </a:xfrm>
          <a:prstGeom prst="roundRect">
            <a:avLst>
              <a:gd name="adj" fmla="val 6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a:extLst>
              <a:ext uri="{FF2B5EF4-FFF2-40B4-BE49-F238E27FC236}">
                <a16:creationId xmlns:a16="http://schemas.microsoft.com/office/drawing/2014/main" id="{0759BB2F-556D-5E14-DEEA-871A426FC8E4}"/>
              </a:ext>
            </a:extLst>
          </p:cNvPr>
          <p:cNvSpPr/>
          <p:nvPr/>
        </p:nvSpPr>
        <p:spPr>
          <a:xfrm>
            <a:off x="480315" y="3142817"/>
            <a:ext cx="73000" cy="110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a:extLst>
              <a:ext uri="{FF2B5EF4-FFF2-40B4-BE49-F238E27FC236}">
                <a16:creationId xmlns:a16="http://schemas.microsoft.com/office/drawing/2014/main" id="{F4C20E48-C9BD-5E27-EF96-BCA679589DED}"/>
              </a:ext>
            </a:extLst>
          </p:cNvPr>
          <p:cNvSpPr txBox="1"/>
          <p:nvPr/>
        </p:nvSpPr>
        <p:spPr>
          <a:xfrm>
            <a:off x="666815" y="3210052"/>
            <a:ext cx="5100000" cy="338554"/>
          </a:xfrm>
          <a:prstGeom prst="rect">
            <a:avLst/>
          </a:prstGeom>
          <a:noFill/>
          <a:ln>
            <a:noFill/>
          </a:ln>
        </p:spPr>
        <p:txBody>
          <a:bodyPr wrap="square" anchor="t">
            <a:spAutoFit/>
          </a:bodyPr>
          <a:lstStyle/>
          <a:p>
            <a:pPr algn="l"/>
            <a:r>
              <a:rPr sz="1600" b="1" dirty="0"/>
              <a:t>01 ｜ </a:t>
            </a:r>
            <a:r>
              <a:rPr sz="1600" b="1" dirty="0" err="1"/>
              <a:t>依法合规</a:t>
            </a:r>
            <a:endParaRPr sz="1600" b="1" dirty="0"/>
          </a:p>
        </p:txBody>
      </p:sp>
      <p:sp>
        <p:nvSpPr>
          <p:cNvPr id="102" name="TextBox 101">
            <a:extLst>
              <a:ext uri="{FF2B5EF4-FFF2-40B4-BE49-F238E27FC236}">
                <a16:creationId xmlns:a16="http://schemas.microsoft.com/office/drawing/2014/main" id="{BA677184-FCDC-D28E-707F-02CEBF0E44BC}"/>
              </a:ext>
            </a:extLst>
          </p:cNvPr>
          <p:cNvSpPr txBox="1"/>
          <p:nvPr/>
        </p:nvSpPr>
        <p:spPr>
          <a:xfrm>
            <a:off x="708915" y="3522817"/>
            <a:ext cx="5100000" cy="240000"/>
          </a:xfrm>
          <a:prstGeom prst="rect">
            <a:avLst/>
          </a:prstGeom>
          <a:noFill/>
          <a:ln>
            <a:noFill/>
          </a:ln>
        </p:spPr>
        <p:txBody>
          <a:bodyPr wrap="square" anchor="t">
            <a:spAutoFit/>
          </a:bodyPr>
          <a:lstStyle/>
          <a:p>
            <a:pPr algn="l"/>
            <a:r>
              <a:rPr sz="1000" b="0">
                <a:ea typeface="Noto Sans CJK SC"/>
                <a:cs typeface="Noto Sans CJK SC"/>
              </a:rPr>
              <a:t>Compliant by Law</a:t>
            </a:r>
          </a:p>
        </p:txBody>
      </p:sp>
      <p:sp>
        <p:nvSpPr>
          <p:cNvPr id="104" name="TextBox 103">
            <a:extLst>
              <a:ext uri="{FF2B5EF4-FFF2-40B4-BE49-F238E27FC236}">
                <a16:creationId xmlns:a16="http://schemas.microsoft.com/office/drawing/2014/main" id="{4B7E2762-5F5C-666D-0379-F127B2411862}"/>
              </a:ext>
            </a:extLst>
          </p:cNvPr>
          <p:cNvSpPr txBox="1"/>
          <p:nvPr/>
        </p:nvSpPr>
        <p:spPr>
          <a:xfrm>
            <a:off x="708915" y="3762817"/>
            <a:ext cx="5100000" cy="460000"/>
          </a:xfrm>
          <a:prstGeom prst="rect">
            <a:avLst/>
          </a:prstGeom>
          <a:noFill/>
          <a:ln>
            <a:noFill/>
          </a:ln>
        </p:spPr>
        <p:txBody>
          <a:bodyPr wrap="square" anchor="t">
            <a:spAutoFit/>
          </a:bodyPr>
          <a:lstStyle/>
          <a:p>
            <a:pPr algn="l"/>
            <a:r>
              <a:rPr sz="1100" b="0">
                <a:ea typeface="Noto Sans CJK SC"/>
                <a:cs typeface="Noto Sans CJK SC"/>
              </a:rPr>
              <a:t>遵守所在司法辖区适用的法律法规及监管要求，不开展未经许可的金融业务。</a:t>
            </a:r>
          </a:p>
        </p:txBody>
      </p:sp>
      <p:sp>
        <p:nvSpPr>
          <p:cNvPr id="106" name="Rounded Rectangle 16">
            <a:extLst>
              <a:ext uri="{FF2B5EF4-FFF2-40B4-BE49-F238E27FC236}">
                <a16:creationId xmlns:a16="http://schemas.microsoft.com/office/drawing/2014/main" id="{5BEA42BD-1B81-39BB-D918-87F215AA6783}"/>
              </a:ext>
            </a:extLst>
          </p:cNvPr>
          <p:cNvSpPr/>
          <p:nvPr/>
        </p:nvSpPr>
        <p:spPr>
          <a:xfrm>
            <a:off x="6080315" y="3142817"/>
            <a:ext cx="5400000" cy="1100000"/>
          </a:xfrm>
          <a:prstGeom prst="roundRect">
            <a:avLst>
              <a:gd name="adj" fmla="val 6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a:extLst>
              <a:ext uri="{FF2B5EF4-FFF2-40B4-BE49-F238E27FC236}">
                <a16:creationId xmlns:a16="http://schemas.microsoft.com/office/drawing/2014/main" id="{4F43C2F8-19F9-431A-6EC4-513F712E0E66}"/>
              </a:ext>
            </a:extLst>
          </p:cNvPr>
          <p:cNvSpPr/>
          <p:nvPr/>
        </p:nvSpPr>
        <p:spPr>
          <a:xfrm>
            <a:off x="6080315" y="3142817"/>
            <a:ext cx="73000" cy="110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a:extLst>
              <a:ext uri="{FF2B5EF4-FFF2-40B4-BE49-F238E27FC236}">
                <a16:creationId xmlns:a16="http://schemas.microsoft.com/office/drawing/2014/main" id="{6A0EB997-5222-D31A-0EBB-48A9720EB007}"/>
              </a:ext>
            </a:extLst>
          </p:cNvPr>
          <p:cNvSpPr txBox="1"/>
          <p:nvPr/>
        </p:nvSpPr>
        <p:spPr>
          <a:xfrm>
            <a:off x="6308915" y="3234257"/>
            <a:ext cx="5100000" cy="320000"/>
          </a:xfrm>
          <a:prstGeom prst="rect">
            <a:avLst/>
          </a:prstGeom>
          <a:noFill/>
          <a:ln>
            <a:noFill/>
          </a:ln>
        </p:spPr>
        <p:txBody>
          <a:bodyPr wrap="square" anchor="t">
            <a:spAutoFit/>
          </a:bodyPr>
          <a:lstStyle>
            <a:defPPr>
              <a:defRPr lang="en-US"/>
            </a:defPPr>
            <a:lvl1pPr>
              <a:defRPr sz="1600" b="1">
                <a:ea typeface="Noto Sans CJK SC"/>
                <a:cs typeface="Noto Sans CJK SC"/>
              </a:defRPr>
            </a:lvl1pPr>
          </a:lstStyle>
          <a:p>
            <a:r>
              <a:rPr dirty="0"/>
              <a:t>02 ｜ </a:t>
            </a:r>
            <a:r>
              <a:rPr dirty="0" err="1"/>
              <a:t>业务边界清晰</a:t>
            </a:r>
            <a:endParaRPr dirty="0"/>
          </a:p>
        </p:txBody>
      </p:sp>
      <p:sp>
        <p:nvSpPr>
          <p:cNvPr id="112" name="TextBox 111">
            <a:extLst>
              <a:ext uri="{FF2B5EF4-FFF2-40B4-BE49-F238E27FC236}">
                <a16:creationId xmlns:a16="http://schemas.microsoft.com/office/drawing/2014/main" id="{03D531D4-C97F-242D-52C0-7310703F54BF}"/>
              </a:ext>
            </a:extLst>
          </p:cNvPr>
          <p:cNvSpPr txBox="1"/>
          <p:nvPr/>
        </p:nvSpPr>
        <p:spPr>
          <a:xfrm>
            <a:off x="6308915" y="3522817"/>
            <a:ext cx="5100000" cy="240000"/>
          </a:xfrm>
          <a:prstGeom prst="rect">
            <a:avLst/>
          </a:prstGeom>
          <a:noFill/>
          <a:ln>
            <a:noFill/>
          </a:ln>
        </p:spPr>
        <p:txBody>
          <a:bodyPr wrap="square" anchor="t">
            <a:spAutoFit/>
          </a:bodyPr>
          <a:lstStyle/>
          <a:p>
            <a:pPr algn="l"/>
            <a:r>
              <a:rPr sz="1000" b="0">
                <a:ea typeface="Noto Sans CJK SC"/>
                <a:cs typeface="Noto Sans CJK SC"/>
              </a:rPr>
              <a:t>Clear Business Boundaries</a:t>
            </a:r>
          </a:p>
        </p:txBody>
      </p:sp>
      <p:sp>
        <p:nvSpPr>
          <p:cNvPr id="114" name="TextBox 113">
            <a:extLst>
              <a:ext uri="{FF2B5EF4-FFF2-40B4-BE49-F238E27FC236}">
                <a16:creationId xmlns:a16="http://schemas.microsoft.com/office/drawing/2014/main" id="{43D84CD4-A799-5752-4670-46D4722A6EFF}"/>
              </a:ext>
            </a:extLst>
          </p:cNvPr>
          <p:cNvSpPr txBox="1"/>
          <p:nvPr/>
        </p:nvSpPr>
        <p:spPr>
          <a:xfrm>
            <a:off x="6308915" y="3762817"/>
            <a:ext cx="5100000" cy="460000"/>
          </a:xfrm>
          <a:prstGeom prst="rect">
            <a:avLst/>
          </a:prstGeom>
          <a:noFill/>
          <a:ln>
            <a:noFill/>
          </a:ln>
        </p:spPr>
        <p:txBody>
          <a:bodyPr wrap="square" anchor="t">
            <a:spAutoFit/>
          </a:bodyPr>
          <a:lstStyle/>
          <a:p>
            <a:pPr algn="l"/>
            <a:r>
              <a:rPr sz="1100" b="0">
                <a:ea typeface="Noto Sans CJK SC"/>
                <a:cs typeface="Noto Sans CJK SC"/>
              </a:rPr>
              <a:t>明确区分技术研发、软件服务、教育培训、产业合作与投资管理等不同业务，涉及受监管业务时依法取得相应资质。</a:t>
            </a:r>
          </a:p>
        </p:txBody>
      </p:sp>
      <p:sp>
        <p:nvSpPr>
          <p:cNvPr id="116" name="Rounded Rectangle 21">
            <a:extLst>
              <a:ext uri="{FF2B5EF4-FFF2-40B4-BE49-F238E27FC236}">
                <a16:creationId xmlns:a16="http://schemas.microsoft.com/office/drawing/2014/main" id="{7A67F3D7-C33B-49C0-14D9-625EEC232B5D}"/>
              </a:ext>
            </a:extLst>
          </p:cNvPr>
          <p:cNvSpPr/>
          <p:nvPr/>
        </p:nvSpPr>
        <p:spPr>
          <a:xfrm>
            <a:off x="480315" y="4442817"/>
            <a:ext cx="5400000" cy="1100000"/>
          </a:xfrm>
          <a:prstGeom prst="roundRect">
            <a:avLst>
              <a:gd name="adj" fmla="val 6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a:extLst>
              <a:ext uri="{FF2B5EF4-FFF2-40B4-BE49-F238E27FC236}">
                <a16:creationId xmlns:a16="http://schemas.microsoft.com/office/drawing/2014/main" id="{D602DFA5-51DF-E1A0-D156-1AD144F71331}"/>
              </a:ext>
            </a:extLst>
          </p:cNvPr>
          <p:cNvSpPr/>
          <p:nvPr/>
        </p:nvSpPr>
        <p:spPr>
          <a:xfrm>
            <a:off x="480315" y="4442817"/>
            <a:ext cx="73000" cy="110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a:extLst>
              <a:ext uri="{FF2B5EF4-FFF2-40B4-BE49-F238E27FC236}">
                <a16:creationId xmlns:a16="http://schemas.microsoft.com/office/drawing/2014/main" id="{5FB9B292-6AED-7189-8167-0A2F2E9564D1}"/>
              </a:ext>
            </a:extLst>
          </p:cNvPr>
          <p:cNvSpPr txBox="1"/>
          <p:nvPr/>
        </p:nvSpPr>
        <p:spPr>
          <a:xfrm>
            <a:off x="708915" y="4534257"/>
            <a:ext cx="5100000" cy="320000"/>
          </a:xfrm>
          <a:prstGeom prst="rect">
            <a:avLst/>
          </a:prstGeom>
          <a:noFill/>
          <a:ln>
            <a:noFill/>
          </a:ln>
        </p:spPr>
        <p:txBody>
          <a:bodyPr wrap="square" anchor="t">
            <a:spAutoFit/>
          </a:bodyPr>
          <a:lstStyle/>
          <a:p>
            <a:pPr algn="l"/>
            <a:r>
              <a:rPr sz="1600" b="1">
                <a:ea typeface="Noto Sans CJK SC"/>
                <a:cs typeface="Noto Sans CJK SC"/>
              </a:rPr>
              <a:t>03 ｜ 风险控制</a:t>
            </a:r>
          </a:p>
        </p:txBody>
      </p:sp>
      <p:sp>
        <p:nvSpPr>
          <p:cNvPr id="122" name="TextBox 121">
            <a:extLst>
              <a:ext uri="{FF2B5EF4-FFF2-40B4-BE49-F238E27FC236}">
                <a16:creationId xmlns:a16="http://schemas.microsoft.com/office/drawing/2014/main" id="{FC109D25-208B-D61E-3580-901EEB7133AB}"/>
              </a:ext>
            </a:extLst>
          </p:cNvPr>
          <p:cNvSpPr txBox="1"/>
          <p:nvPr/>
        </p:nvSpPr>
        <p:spPr>
          <a:xfrm>
            <a:off x="708915" y="4822817"/>
            <a:ext cx="5100000" cy="240000"/>
          </a:xfrm>
          <a:prstGeom prst="rect">
            <a:avLst/>
          </a:prstGeom>
          <a:noFill/>
          <a:ln>
            <a:noFill/>
          </a:ln>
        </p:spPr>
        <p:txBody>
          <a:bodyPr wrap="square" anchor="t">
            <a:spAutoFit/>
          </a:bodyPr>
          <a:lstStyle/>
          <a:p>
            <a:pPr algn="l"/>
            <a:r>
              <a:rPr sz="1000" b="0">
                <a:ea typeface="Noto Sans CJK SC"/>
                <a:cs typeface="Noto Sans CJK SC"/>
              </a:rPr>
              <a:t>Risk Control</a:t>
            </a:r>
          </a:p>
        </p:txBody>
      </p:sp>
      <p:sp>
        <p:nvSpPr>
          <p:cNvPr id="124" name="TextBox 123">
            <a:extLst>
              <a:ext uri="{FF2B5EF4-FFF2-40B4-BE49-F238E27FC236}">
                <a16:creationId xmlns:a16="http://schemas.microsoft.com/office/drawing/2014/main" id="{D99C7927-3057-11CC-634E-CFE50E406577}"/>
              </a:ext>
            </a:extLst>
          </p:cNvPr>
          <p:cNvSpPr txBox="1"/>
          <p:nvPr/>
        </p:nvSpPr>
        <p:spPr>
          <a:xfrm>
            <a:off x="708915" y="5062817"/>
            <a:ext cx="5100000" cy="460000"/>
          </a:xfrm>
          <a:prstGeom prst="rect">
            <a:avLst/>
          </a:prstGeom>
          <a:noFill/>
          <a:ln>
            <a:noFill/>
          </a:ln>
        </p:spPr>
        <p:txBody>
          <a:bodyPr wrap="square" anchor="t">
            <a:spAutoFit/>
          </a:bodyPr>
          <a:lstStyle/>
          <a:p>
            <a:pPr algn="l"/>
            <a:r>
              <a:rPr sz="1100" b="0">
                <a:ea typeface="Noto Sans CJK SC"/>
                <a:cs typeface="Noto Sans CJK SC"/>
              </a:rPr>
              <a:t>建立风险识别、风险评估、信息披露和内部控制机制，避免过度杠杆、虚假宣传及不当销售。</a:t>
            </a:r>
          </a:p>
        </p:txBody>
      </p:sp>
      <p:sp>
        <p:nvSpPr>
          <p:cNvPr id="126" name="Rounded Rectangle 26">
            <a:extLst>
              <a:ext uri="{FF2B5EF4-FFF2-40B4-BE49-F238E27FC236}">
                <a16:creationId xmlns:a16="http://schemas.microsoft.com/office/drawing/2014/main" id="{086F4E59-F382-35B8-3118-EE5A1F2073AA}"/>
              </a:ext>
            </a:extLst>
          </p:cNvPr>
          <p:cNvSpPr/>
          <p:nvPr/>
        </p:nvSpPr>
        <p:spPr>
          <a:xfrm>
            <a:off x="6080315" y="4442817"/>
            <a:ext cx="5400000" cy="1100000"/>
          </a:xfrm>
          <a:prstGeom prst="roundRect">
            <a:avLst>
              <a:gd name="adj" fmla="val 6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a:extLst>
              <a:ext uri="{FF2B5EF4-FFF2-40B4-BE49-F238E27FC236}">
                <a16:creationId xmlns:a16="http://schemas.microsoft.com/office/drawing/2014/main" id="{D81944E4-A2DD-AFB0-A921-28407C9B83AB}"/>
              </a:ext>
            </a:extLst>
          </p:cNvPr>
          <p:cNvSpPr/>
          <p:nvPr/>
        </p:nvSpPr>
        <p:spPr>
          <a:xfrm>
            <a:off x="6080315" y="4442817"/>
            <a:ext cx="73000" cy="110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a:extLst>
              <a:ext uri="{FF2B5EF4-FFF2-40B4-BE49-F238E27FC236}">
                <a16:creationId xmlns:a16="http://schemas.microsoft.com/office/drawing/2014/main" id="{4A27CDB8-B7AD-DD60-2779-652E9F3F3983}"/>
              </a:ext>
            </a:extLst>
          </p:cNvPr>
          <p:cNvSpPr txBox="1"/>
          <p:nvPr/>
        </p:nvSpPr>
        <p:spPr>
          <a:xfrm>
            <a:off x="6308915" y="4534257"/>
            <a:ext cx="5100000" cy="320000"/>
          </a:xfrm>
          <a:prstGeom prst="rect">
            <a:avLst/>
          </a:prstGeom>
          <a:noFill/>
          <a:ln>
            <a:noFill/>
          </a:ln>
        </p:spPr>
        <p:txBody>
          <a:bodyPr wrap="square" anchor="t">
            <a:spAutoFit/>
          </a:bodyPr>
          <a:lstStyle/>
          <a:p>
            <a:pPr algn="l"/>
            <a:r>
              <a:rPr sz="1600" b="1">
                <a:ea typeface="Noto Sans CJK SC"/>
                <a:cs typeface="Noto Sans CJK SC"/>
              </a:rPr>
              <a:t>04 ｜ 透明负责</a:t>
            </a:r>
          </a:p>
        </p:txBody>
      </p:sp>
      <p:sp>
        <p:nvSpPr>
          <p:cNvPr id="132" name="TextBox 131">
            <a:extLst>
              <a:ext uri="{FF2B5EF4-FFF2-40B4-BE49-F238E27FC236}">
                <a16:creationId xmlns:a16="http://schemas.microsoft.com/office/drawing/2014/main" id="{FA20F6B3-7228-6832-7AAB-2144D094C7F8}"/>
              </a:ext>
            </a:extLst>
          </p:cNvPr>
          <p:cNvSpPr txBox="1"/>
          <p:nvPr/>
        </p:nvSpPr>
        <p:spPr>
          <a:xfrm>
            <a:off x="6308915" y="4822817"/>
            <a:ext cx="5100000" cy="240000"/>
          </a:xfrm>
          <a:prstGeom prst="rect">
            <a:avLst/>
          </a:prstGeom>
          <a:noFill/>
          <a:ln>
            <a:noFill/>
          </a:ln>
        </p:spPr>
        <p:txBody>
          <a:bodyPr wrap="square" anchor="t">
            <a:spAutoFit/>
          </a:bodyPr>
          <a:lstStyle/>
          <a:p>
            <a:pPr algn="l"/>
            <a:r>
              <a:rPr sz="1000" b="0">
                <a:ea typeface="Noto Sans CJK SC"/>
                <a:cs typeface="Noto Sans CJK SC"/>
              </a:rPr>
              <a:t>Transparency &amp; Accountability</a:t>
            </a:r>
          </a:p>
        </p:txBody>
      </p:sp>
      <p:sp>
        <p:nvSpPr>
          <p:cNvPr id="134" name="TextBox 133">
            <a:extLst>
              <a:ext uri="{FF2B5EF4-FFF2-40B4-BE49-F238E27FC236}">
                <a16:creationId xmlns:a16="http://schemas.microsoft.com/office/drawing/2014/main" id="{29B98726-1F19-3DB6-028F-43C135030E84}"/>
              </a:ext>
            </a:extLst>
          </p:cNvPr>
          <p:cNvSpPr txBox="1"/>
          <p:nvPr/>
        </p:nvSpPr>
        <p:spPr>
          <a:xfrm>
            <a:off x="6308915" y="5062817"/>
            <a:ext cx="5100000" cy="460000"/>
          </a:xfrm>
          <a:prstGeom prst="rect">
            <a:avLst/>
          </a:prstGeom>
          <a:noFill/>
          <a:ln>
            <a:noFill/>
          </a:ln>
        </p:spPr>
        <p:txBody>
          <a:bodyPr wrap="square" anchor="t">
            <a:spAutoFit/>
          </a:bodyPr>
          <a:lstStyle/>
          <a:p>
            <a:pPr algn="l"/>
            <a:r>
              <a:rPr sz="1100" b="0">
                <a:ea typeface="Noto Sans CJK SC"/>
                <a:cs typeface="Noto Sans CJK SC"/>
              </a:rPr>
              <a:t>坚持真实、准确、透明的信息披露，不承诺收益、不保证回报，不以历史业绩代表未来表现。</a:t>
            </a:r>
          </a:p>
        </p:txBody>
      </p:sp>
      <p:sp>
        <p:nvSpPr>
          <p:cNvPr id="136" name="TextBox 135">
            <a:extLst>
              <a:ext uri="{FF2B5EF4-FFF2-40B4-BE49-F238E27FC236}">
                <a16:creationId xmlns:a16="http://schemas.microsoft.com/office/drawing/2014/main" id="{1B39788B-D42A-4557-4AAA-88459A096F22}"/>
              </a:ext>
            </a:extLst>
          </p:cNvPr>
          <p:cNvSpPr txBox="1"/>
          <p:nvPr/>
        </p:nvSpPr>
        <p:spPr>
          <a:xfrm>
            <a:off x="594360" y="6236208"/>
            <a:ext cx="11018520" cy="320040"/>
          </a:xfrm>
          <a:prstGeom prst="rect">
            <a:avLst/>
          </a:prstGeom>
          <a:noFill/>
          <a:ln>
            <a:noFill/>
          </a:ln>
        </p:spPr>
        <p:txBody>
          <a:bodyPr wrap="square" anchor="t">
            <a:spAutoFit/>
          </a:bodyPr>
          <a:lstStyle/>
          <a:p>
            <a:pPr algn="l"/>
            <a:r>
              <a:rPr sz="1333" b="0">
                <a:ea typeface="Noto Sans CJK SC"/>
                <a:cs typeface="Noto Sans CJK SC"/>
              </a:rPr>
              <a:t>道一（江苏）资产管理有限公司  ·  2026  ·  内部资料，仅供合作评估使用</a:t>
            </a:r>
          </a:p>
        </p:txBody>
      </p:sp>
    </p:spTree>
    <p:extLst>
      <p:ext uri="{BB962C8B-B14F-4D97-AF65-F5344CB8AC3E}">
        <p14:creationId xmlns:p14="http://schemas.microsoft.com/office/powerpoint/2010/main" val="3519174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00" y="-24934"/>
            <a:ext cx="121920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594360" y="566928"/>
            <a:ext cx="91440" cy="4114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520000"/>
            <a:ext cx="11163748" cy="600164"/>
          </a:xfrm>
          <a:prstGeom prst="rect">
            <a:avLst/>
          </a:prstGeom>
          <a:noFill/>
          <a:ln>
            <a:noFill/>
          </a:ln>
        </p:spPr>
        <p:txBody>
          <a:bodyPr wrap="square" anchor="t">
            <a:spAutoFit/>
          </a:bodyPr>
          <a:lstStyle/>
          <a:p>
            <a:pPr algn="l"/>
            <a:r>
              <a:rPr lang="zh-CN" altLang="en-US" sz="3300" b="1" dirty="0">
                <a:ea typeface="Noto Sans CJK SC"/>
                <a:cs typeface="Noto Sans CJK SC"/>
              </a:rPr>
              <a:t>合规原则</a:t>
            </a:r>
            <a:endParaRPr sz="3300" b="1" dirty="0">
              <a:ea typeface="Noto Sans CJK SC"/>
              <a:cs typeface="Noto Sans CJK SC"/>
            </a:endParaRPr>
          </a:p>
        </p:txBody>
      </p:sp>
      <p:sp>
        <p:nvSpPr>
          <p:cNvPr id="5" name="TextBox 4"/>
          <p:cNvSpPr txBox="1"/>
          <p:nvPr/>
        </p:nvSpPr>
        <p:spPr>
          <a:xfrm>
            <a:off x="594360" y="1000000"/>
            <a:ext cx="11000000" cy="307777"/>
          </a:xfrm>
          <a:prstGeom prst="rect">
            <a:avLst/>
          </a:prstGeom>
          <a:noFill/>
          <a:ln>
            <a:noFill/>
          </a:ln>
        </p:spPr>
        <p:txBody>
          <a:bodyPr wrap="square" anchor="t">
            <a:spAutoFit/>
          </a:bodyPr>
          <a:lstStyle/>
          <a:p>
            <a:pPr algn="l"/>
            <a:r>
              <a:rPr lang="en-US" altLang="zh-CN" sz="1400" b="0" dirty="0">
                <a:ea typeface="Noto Sans CJK SC"/>
                <a:cs typeface="Noto Sans CJK SC"/>
              </a:rPr>
              <a:t>Compliance Principle</a:t>
            </a:r>
            <a:endParaRPr sz="1400" b="0" dirty="0">
              <a:ea typeface="Noto Sans CJK SC"/>
              <a:cs typeface="Noto Sans CJK SC"/>
            </a:endParaRPr>
          </a:p>
        </p:txBody>
      </p:sp>
      <p:sp>
        <p:nvSpPr>
          <p:cNvPr id="6" name="Rectangle 5"/>
          <p:cNvSpPr/>
          <p:nvPr/>
        </p:nvSpPr>
        <p:spPr>
          <a:xfrm>
            <a:off x="594360" y="1350000"/>
            <a:ext cx="914400" cy="41148"/>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7373840"/>
            <a:ext cx="12191695" cy="11887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00000"/>
            <a:ext cx="11018520" cy="340000"/>
          </a:xfrm>
          <a:prstGeom prst="rect">
            <a:avLst/>
          </a:prstGeom>
          <a:noFill/>
          <a:ln>
            <a:noFill/>
          </a:ln>
        </p:spPr>
        <p:txBody>
          <a:bodyPr wrap="square" anchor="t">
            <a:spAutoFit/>
          </a:bodyPr>
          <a:lstStyle/>
          <a:p>
            <a:pPr algn="l"/>
            <a:r>
              <a:rPr sz="1700" b="1">
                <a:ea typeface="Noto Sans CJK SC"/>
                <a:cs typeface="Noto Sans CJK SC"/>
              </a:rPr>
              <a:t>我们不仅要求联盟自身合规，更希望推动联盟成员共同建立可持续的合规生态。</a:t>
            </a:r>
          </a:p>
        </p:txBody>
      </p:sp>
      <p:sp>
        <p:nvSpPr>
          <p:cNvPr id="9" name="TextBox 8"/>
          <p:cNvSpPr txBox="1"/>
          <p:nvPr/>
        </p:nvSpPr>
        <p:spPr>
          <a:xfrm>
            <a:off x="594360" y="1930000"/>
            <a:ext cx="11018520" cy="300000"/>
          </a:xfrm>
          <a:prstGeom prst="rect">
            <a:avLst/>
          </a:prstGeom>
          <a:noFill/>
          <a:ln>
            <a:noFill/>
          </a:ln>
        </p:spPr>
        <p:txBody>
          <a:bodyPr wrap="square" anchor="t">
            <a:spAutoFit/>
          </a:bodyPr>
          <a:lstStyle/>
          <a:p>
            <a:pPr algn="l"/>
            <a:r>
              <a:rPr sz="1400" b="1">
                <a:ea typeface="Noto Sans CJK SC"/>
                <a:cs typeface="Noto Sans CJK SC"/>
              </a:rPr>
              <a:t>合规生态闭环  /  Compliance Loop</a:t>
            </a:r>
          </a:p>
        </p:txBody>
      </p:sp>
      <p:sp>
        <p:nvSpPr>
          <p:cNvPr id="10" name="Rounded Rectangle 9"/>
          <p:cNvSpPr/>
          <p:nvPr/>
        </p:nvSpPr>
        <p:spPr>
          <a:xfrm>
            <a:off x="621000" y="2200000"/>
            <a:ext cx="2640000" cy="1650000"/>
          </a:xfrm>
          <a:prstGeom prst="roundRect">
            <a:avLst>
              <a:gd name="adj" fmla="val 8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681000" y="2330000"/>
            <a:ext cx="520000" cy="52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ea typeface="Noto Sans CJK SC"/>
                <a:cs typeface="Noto Sans CJK SC"/>
              </a:rPr>
              <a:t>01</a:t>
            </a:r>
          </a:p>
        </p:txBody>
      </p:sp>
      <p:sp>
        <p:nvSpPr>
          <p:cNvPr id="12" name="TextBox 11"/>
          <p:cNvSpPr txBox="1"/>
          <p:nvPr/>
        </p:nvSpPr>
        <p:spPr>
          <a:xfrm>
            <a:off x="621000" y="2880000"/>
            <a:ext cx="2640000" cy="300000"/>
          </a:xfrm>
          <a:prstGeom prst="rect">
            <a:avLst/>
          </a:prstGeom>
          <a:noFill/>
          <a:ln>
            <a:noFill/>
          </a:ln>
        </p:spPr>
        <p:txBody>
          <a:bodyPr wrap="square" anchor="t">
            <a:spAutoFit/>
          </a:bodyPr>
          <a:lstStyle/>
          <a:p>
            <a:pPr algn="ctr"/>
            <a:r>
              <a:rPr sz="1500" b="1">
                <a:ea typeface="Noto Sans CJK SC"/>
                <a:cs typeface="Noto Sans CJK SC"/>
              </a:rPr>
              <a:t>合规准入</a:t>
            </a:r>
          </a:p>
        </p:txBody>
      </p:sp>
      <p:sp>
        <p:nvSpPr>
          <p:cNvPr id="13" name="TextBox 12"/>
          <p:cNvSpPr txBox="1"/>
          <p:nvPr/>
        </p:nvSpPr>
        <p:spPr>
          <a:xfrm>
            <a:off x="621000" y="3160000"/>
            <a:ext cx="2640000" cy="220000"/>
          </a:xfrm>
          <a:prstGeom prst="rect">
            <a:avLst/>
          </a:prstGeom>
          <a:noFill/>
          <a:ln>
            <a:noFill/>
          </a:ln>
        </p:spPr>
        <p:txBody>
          <a:bodyPr wrap="square" anchor="t">
            <a:spAutoFit/>
          </a:bodyPr>
          <a:lstStyle/>
          <a:p>
            <a:pPr algn="ctr"/>
            <a:r>
              <a:rPr sz="1000" b="0">
                <a:ea typeface="Noto Sans CJK SC"/>
                <a:cs typeface="Noto Sans CJK SC"/>
              </a:rPr>
              <a:t>Onboarding</a:t>
            </a:r>
          </a:p>
        </p:txBody>
      </p:sp>
      <p:sp>
        <p:nvSpPr>
          <p:cNvPr id="14" name="TextBox 13"/>
          <p:cNvSpPr txBox="1"/>
          <p:nvPr/>
        </p:nvSpPr>
        <p:spPr>
          <a:xfrm>
            <a:off x="771000" y="3350000"/>
            <a:ext cx="2340000" cy="500000"/>
          </a:xfrm>
          <a:prstGeom prst="rect">
            <a:avLst/>
          </a:prstGeom>
          <a:noFill/>
          <a:ln>
            <a:noFill/>
          </a:ln>
        </p:spPr>
        <p:txBody>
          <a:bodyPr wrap="square" anchor="t">
            <a:spAutoFit/>
          </a:bodyPr>
          <a:lstStyle/>
          <a:p>
            <a:pPr algn="ctr"/>
            <a:r>
              <a:rPr sz="1000" b="0" dirty="0">
                <a:ea typeface="Noto Sans CJK SC"/>
                <a:cs typeface="Noto Sans CJK SC"/>
              </a:rPr>
              <a:t>成员及合作机构进行主体、业务及资质审查。</a:t>
            </a:r>
          </a:p>
        </p:txBody>
      </p:sp>
      <p:sp>
        <p:nvSpPr>
          <p:cNvPr id="15" name="Right Arrow 14"/>
          <p:cNvSpPr/>
          <p:nvPr/>
        </p:nvSpPr>
        <p:spPr>
          <a:xfrm>
            <a:off x="3271000" y="2760000"/>
            <a:ext cx="90000" cy="180000"/>
          </a:xfrm>
          <a:prstGeom prst="right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91000" y="2200000"/>
            <a:ext cx="2640000" cy="1650000"/>
          </a:xfrm>
          <a:prstGeom prst="roundRect">
            <a:avLst>
              <a:gd name="adj" fmla="val 8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451000" y="2330000"/>
            <a:ext cx="520000" cy="52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ea typeface="Noto Sans CJK SC"/>
                <a:cs typeface="Noto Sans CJK SC"/>
              </a:rPr>
              <a:t>02</a:t>
            </a:r>
          </a:p>
        </p:txBody>
      </p:sp>
      <p:sp>
        <p:nvSpPr>
          <p:cNvPr id="18" name="TextBox 17"/>
          <p:cNvSpPr txBox="1"/>
          <p:nvPr/>
        </p:nvSpPr>
        <p:spPr>
          <a:xfrm>
            <a:off x="3391000" y="2880000"/>
            <a:ext cx="2640000" cy="300000"/>
          </a:xfrm>
          <a:prstGeom prst="rect">
            <a:avLst/>
          </a:prstGeom>
          <a:noFill/>
          <a:ln>
            <a:noFill/>
          </a:ln>
        </p:spPr>
        <p:txBody>
          <a:bodyPr wrap="square" anchor="t">
            <a:spAutoFit/>
          </a:bodyPr>
          <a:lstStyle/>
          <a:p>
            <a:pPr algn="ctr"/>
            <a:r>
              <a:rPr sz="1500" b="1">
                <a:ea typeface="Noto Sans CJK SC"/>
                <a:cs typeface="Noto Sans CJK SC"/>
              </a:rPr>
              <a:t>合规运营</a:t>
            </a:r>
          </a:p>
        </p:txBody>
      </p:sp>
      <p:sp>
        <p:nvSpPr>
          <p:cNvPr id="19" name="TextBox 18"/>
          <p:cNvSpPr txBox="1"/>
          <p:nvPr/>
        </p:nvSpPr>
        <p:spPr>
          <a:xfrm>
            <a:off x="3391000" y="3160000"/>
            <a:ext cx="2640000" cy="220000"/>
          </a:xfrm>
          <a:prstGeom prst="rect">
            <a:avLst/>
          </a:prstGeom>
          <a:noFill/>
          <a:ln>
            <a:noFill/>
          </a:ln>
        </p:spPr>
        <p:txBody>
          <a:bodyPr wrap="square" anchor="t">
            <a:spAutoFit/>
          </a:bodyPr>
          <a:lstStyle/>
          <a:p>
            <a:pPr algn="ctr"/>
            <a:r>
              <a:rPr sz="1000" b="0">
                <a:ea typeface="Noto Sans CJK SC"/>
                <a:cs typeface="Noto Sans CJK SC"/>
              </a:rPr>
              <a:t>Operations</a:t>
            </a:r>
          </a:p>
        </p:txBody>
      </p:sp>
      <p:sp>
        <p:nvSpPr>
          <p:cNvPr id="20" name="TextBox 19"/>
          <p:cNvSpPr txBox="1"/>
          <p:nvPr/>
        </p:nvSpPr>
        <p:spPr>
          <a:xfrm>
            <a:off x="3541000" y="3350000"/>
            <a:ext cx="2340000" cy="500000"/>
          </a:xfrm>
          <a:prstGeom prst="rect">
            <a:avLst/>
          </a:prstGeom>
          <a:noFill/>
          <a:ln>
            <a:noFill/>
          </a:ln>
        </p:spPr>
        <p:txBody>
          <a:bodyPr wrap="square" anchor="t">
            <a:spAutoFit/>
          </a:bodyPr>
          <a:lstStyle/>
          <a:p>
            <a:pPr algn="ctr"/>
            <a:r>
              <a:rPr sz="1000" b="0">
                <a:ea typeface="Noto Sans CJK SC"/>
                <a:cs typeface="Noto Sans CJK SC"/>
              </a:rPr>
              <a:t>建立内部制度、业务流程、数据管理及风控机制。</a:t>
            </a:r>
          </a:p>
        </p:txBody>
      </p:sp>
      <p:sp>
        <p:nvSpPr>
          <p:cNvPr id="21" name="Right Arrow 20"/>
          <p:cNvSpPr/>
          <p:nvPr/>
        </p:nvSpPr>
        <p:spPr>
          <a:xfrm>
            <a:off x="6041000" y="2760000"/>
            <a:ext cx="90000" cy="180000"/>
          </a:xfrm>
          <a:prstGeom prst="right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161000" y="2200000"/>
            <a:ext cx="2640000" cy="1650000"/>
          </a:xfrm>
          <a:prstGeom prst="roundRect">
            <a:avLst>
              <a:gd name="adj" fmla="val 8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221000" y="2330000"/>
            <a:ext cx="520000" cy="52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ea typeface="Noto Sans CJK SC"/>
                <a:cs typeface="Noto Sans CJK SC"/>
              </a:rPr>
              <a:t>03</a:t>
            </a:r>
          </a:p>
        </p:txBody>
      </p:sp>
      <p:sp>
        <p:nvSpPr>
          <p:cNvPr id="24" name="TextBox 23"/>
          <p:cNvSpPr txBox="1"/>
          <p:nvPr/>
        </p:nvSpPr>
        <p:spPr>
          <a:xfrm>
            <a:off x="6161000" y="2880000"/>
            <a:ext cx="2640000" cy="300000"/>
          </a:xfrm>
          <a:prstGeom prst="rect">
            <a:avLst/>
          </a:prstGeom>
          <a:noFill/>
          <a:ln>
            <a:noFill/>
          </a:ln>
        </p:spPr>
        <p:txBody>
          <a:bodyPr wrap="square" anchor="t">
            <a:spAutoFit/>
          </a:bodyPr>
          <a:lstStyle/>
          <a:p>
            <a:pPr algn="ctr"/>
            <a:r>
              <a:rPr sz="1500" b="1">
                <a:ea typeface="Noto Sans CJK SC"/>
                <a:cs typeface="Noto Sans CJK SC"/>
              </a:rPr>
              <a:t>合规披露</a:t>
            </a:r>
          </a:p>
        </p:txBody>
      </p:sp>
      <p:sp>
        <p:nvSpPr>
          <p:cNvPr id="25" name="TextBox 24"/>
          <p:cNvSpPr txBox="1"/>
          <p:nvPr/>
        </p:nvSpPr>
        <p:spPr>
          <a:xfrm>
            <a:off x="6161000" y="3160000"/>
            <a:ext cx="2640000" cy="220000"/>
          </a:xfrm>
          <a:prstGeom prst="rect">
            <a:avLst/>
          </a:prstGeom>
          <a:noFill/>
          <a:ln>
            <a:noFill/>
          </a:ln>
        </p:spPr>
        <p:txBody>
          <a:bodyPr wrap="square" anchor="t">
            <a:spAutoFit/>
          </a:bodyPr>
          <a:lstStyle/>
          <a:p>
            <a:pPr algn="ctr"/>
            <a:r>
              <a:rPr sz="1000" b="0">
                <a:ea typeface="Noto Sans CJK SC"/>
                <a:cs typeface="Noto Sans CJK SC"/>
              </a:rPr>
              <a:t>Disclosure</a:t>
            </a:r>
          </a:p>
        </p:txBody>
      </p:sp>
      <p:sp>
        <p:nvSpPr>
          <p:cNvPr id="26" name="TextBox 25"/>
          <p:cNvSpPr txBox="1"/>
          <p:nvPr/>
        </p:nvSpPr>
        <p:spPr>
          <a:xfrm>
            <a:off x="6311000" y="3350000"/>
            <a:ext cx="2340000" cy="500000"/>
          </a:xfrm>
          <a:prstGeom prst="rect">
            <a:avLst/>
          </a:prstGeom>
          <a:noFill/>
          <a:ln>
            <a:noFill/>
          </a:ln>
        </p:spPr>
        <p:txBody>
          <a:bodyPr wrap="square" anchor="t">
            <a:spAutoFit/>
          </a:bodyPr>
          <a:lstStyle/>
          <a:p>
            <a:pPr algn="ctr"/>
            <a:r>
              <a:rPr sz="1000" b="0">
                <a:ea typeface="Noto Sans CJK SC"/>
                <a:cs typeface="Noto Sans CJK SC"/>
              </a:rPr>
              <a:t>对产品性质、风险因素、费用及利益冲突清晰说明。</a:t>
            </a:r>
          </a:p>
        </p:txBody>
      </p:sp>
      <p:sp>
        <p:nvSpPr>
          <p:cNvPr id="27" name="Right Arrow 26"/>
          <p:cNvSpPr/>
          <p:nvPr/>
        </p:nvSpPr>
        <p:spPr>
          <a:xfrm>
            <a:off x="8811000" y="2760000"/>
            <a:ext cx="90000" cy="180000"/>
          </a:xfrm>
          <a:prstGeom prst="right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31000" y="2200000"/>
            <a:ext cx="2640000" cy="1650000"/>
          </a:xfrm>
          <a:prstGeom prst="roundRect">
            <a:avLst>
              <a:gd name="adj" fmla="val 8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991000" y="2330000"/>
            <a:ext cx="520000" cy="52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ea typeface="Noto Sans CJK SC"/>
                <a:cs typeface="Noto Sans CJK SC"/>
              </a:rPr>
              <a:t>04</a:t>
            </a:r>
          </a:p>
        </p:txBody>
      </p:sp>
      <p:sp>
        <p:nvSpPr>
          <p:cNvPr id="30" name="TextBox 29"/>
          <p:cNvSpPr txBox="1"/>
          <p:nvPr/>
        </p:nvSpPr>
        <p:spPr>
          <a:xfrm>
            <a:off x="8931000" y="2880000"/>
            <a:ext cx="2640000" cy="300000"/>
          </a:xfrm>
          <a:prstGeom prst="rect">
            <a:avLst/>
          </a:prstGeom>
          <a:noFill/>
          <a:ln>
            <a:noFill/>
          </a:ln>
        </p:spPr>
        <p:txBody>
          <a:bodyPr wrap="square" anchor="t">
            <a:spAutoFit/>
          </a:bodyPr>
          <a:lstStyle/>
          <a:p>
            <a:pPr algn="ctr"/>
            <a:r>
              <a:rPr sz="1500" b="1">
                <a:ea typeface="Noto Sans CJK SC"/>
                <a:cs typeface="Noto Sans CJK SC"/>
              </a:rPr>
              <a:t>持续监督</a:t>
            </a:r>
          </a:p>
        </p:txBody>
      </p:sp>
      <p:sp>
        <p:nvSpPr>
          <p:cNvPr id="31" name="TextBox 30"/>
          <p:cNvSpPr txBox="1"/>
          <p:nvPr/>
        </p:nvSpPr>
        <p:spPr>
          <a:xfrm>
            <a:off x="8931000" y="3160000"/>
            <a:ext cx="2640000" cy="220000"/>
          </a:xfrm>
          <a:prstGeom prst="rect">
            <a:avLst/>
          </a:prstGeom>
          <a:noFill/>
          <a:ln>
            <a:noFill/>
          </a:ln>
        </p:spPr>
        <p:txBody>
          <a:bodyPr wrap="square" anchor="t">
            <a:spAutoFit/>
          </a:bodyPr>
          <a:lstStyle/>
          <a:p>
            <a:pPr algn="ctr"/>
            <a:r>
              <a:rPr sz="1000" b="0">
                <a:ea typeface="Noto Sans CJK SC"/>
                <a:cs typeface="Noto Sans CJK SC"/>
              </a:rPr>
              <a:t>Continuous Review</a:t>
            </a:r>
          </a:p>
        </p:txBody>
      </p:sp>
      <p:sp>
        <p:nvSpPr>
          <p:cNvPr id="32" name="TextBox 31"/>
          <p:cNvSpPr txBox="1"/>
          <p:nvPr/>
        </p:nvSpPr>
        <p:spPr>
          <a:xfrm>
            <a:off x="9081000" y="3350000"/>
            <a:ext cx="2340000" cy="500000"/>
          </a:xfrm>
          <a:prstGeom prst="rect">
            <a:avLst/>
          </a:prstGeom>
          <a:noFill/>
          <a:ln>
            <a:noFill/>
          </a:ln>
        </p:spPr>
        <p:txBody>
          <a:bodyPr wrap="square" anchor="t">
            <a:spAutoFit/>
          </a:bodyPr>
          <a:lstStyle/>
          <a:p>
            <a:pPr algn="ctr"/>
            <a:r>
              <a:rPr sz="1000" b="0">
                <a:ea typeface="Noto Sans CJK SC"/>
                <a:cs typeface="Noto Sans CJK SC"/>
              </a:rPr>
              <a:t>随业务与监管变化持续评估、更新制度。</a:t>
            </a:r>
          </a:p>
        </p:txBody>
      </p:sp>
      <p:sp>
        <p:nvSpPr>
          <p:cNvPr id="33" name="TextBox 32"/>
          <p:cNvSpPr txBox="1"/>
          <p:nvPr/>
        </p:nvSpPr>
        <p:spPr>
          <a:xfrm>
            <a:off x="594360" y="3964254"/>
            <a:ext cx="11018520" cy="300000"/>
          </a:xfrm>
          <a:prstGeom prst="rect">
            <a:avLst/>
          </a:prstGeom>
          <a:noFill/>
          <a:ln>
            <a:noFill/>
          </a:ln>
        </p:spPr>
        <p:txBody>
          <a:bodyPr wrap="square" anchor="t">
            <a:spAutoFit/>
          </a:bodyPr>
          <a:lstStyle/>
          <a:p>
            <a:pPr algn="l"/>
            <a:r>
              <a:rPr sz="1400" b="1">
                <a:ea typeface="Noto Sans CJK SC"/>
                <a:cs typeface="Noto Sans CJK SC"/>
              </a:rPr>
              <a:t>联盟六项承诺  /  Six Alliance Commitments</a:t>
            </a:r>
          </a:p>
        </p:txBody>
      </p:sp>
      <p:sp>
        <p:nvSpPr>
          <p:cNvPr id="34" name="Rounded Rectangle 33"/>
          <p:cNvSpPr/>
          <p:nvPr/>
        </p:nvSpPr>
        <p:spPr>
          <a:xfrm>
            <a:off x="594360" y="4464712"/>
            <a:ext cx="3650000" cy="610000"/>
          </a:xfrm>
          <a:prstGeom prst="roundRect">
            <a:avLst>
              <a:gd name="adj" fmla="val 5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94360" y="4464712"/>
            <a:ext cx="60000" cy="61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684360" y="4603196"/>
            <a:ext cx="340000" cy="34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ea typeface="Noto Sans CJK SC"/>
                <a:cs typeface="Noto Sans CJK SC"/>
              </a:rPr>
              <a:t>01</a:t>
            </a:r>
          </a:p>
        </p:txBody>
      </p:sp>
      <p:sp>
        <p:nvSpPr>
          <p:cNvPr id="37" name="TextBox 36"/>
          <p:cNvSpPr txBox="1"/>
          <p:nvPr/>
        </p:nvSpPr>
        <p:spPr>
          <a:xfrm>
            <a:off x="734360" y="4544712"/>
            <a:ext cx="3050000" cy="260000"/>
          </a:xfrm>
          <a:prstGeom prst="rect">
            <a:avLst/>
          </a:prstGeom>
          <a:noFill/>
          <a:ln>
            <a:noFill/>
          </a:ln>
        </p:spPr>
        <p:txBody>
          <a:bodyPr wrap="square" anchor="t">
            <a:spAutoFit/>
          </a:bodyPr>
          <a:lstStyle/>
          <a:p>
            <a:pPr algn="l"/>
            <a:r>
              <a:rPr sz="1200" b="1">
                <a:ea typeface="Noto Sans CJK SC"/>
                <a:cs typeface="Noto Sans CJK SC"/>
              </a:rPr>
              <a:t>不以 "AI 量化" 之名承诺收益</a:t>
            </a:r>
          </a:p>
        </p:txBody>
      </p:sp>
      <p:sp>
        <p:nvSpPr>
          <p:cNvPr id="38" name="TextBox 37"/>
          <p:cNvSpPr txBox="1"/>
          <p:nvPr/>
        </p:nvSpPr>
        <p:spPr>
          <a:xfrm>
            <a:off x="734360" y="4804712"/>
            <a:ext cx="3510000" cy="240000"/>
          </a:xfrm>
          <a:prstGeom prst="rect">
            <a:avLst/>
          </a:prstGeom>
          <a:noFill/>
          <a:ln>
            <a:noFill/>
          </a:ln>
        </p:spPr>
        <p:txBody>
          <a:bodyPr wrap="square" anchor="t">
            <a:spAutoFit/>
          </a:bodyPr>
          <a:lstStyle/>
          <a:p>
            <a:pPr algn="l"/>
            <a:r>
              <a:rPr sz="900" b="0">
                <a:ea typeface="Noto Sans CJK SC"/>
                <a:cs typeface="Noto Sans CJK SC"/>
              </a:rPr>
              <a:t>No yield promises under AI Quant</a:t>
            </a:r>
          </a:p>
        </p:txBody>
      </p:sp>
      <p:sp>
        <p:nvSpPr>
          <p:cNvPr id="39" name="Rounded Rectangle 38"/>
          <p:cNvSpPr/>
          <p:nvPr/>
        </p:nvSpPr>
        <p:spPr>
          <a:xfrm>
            <a:off x="4394360" y="4464712"/>
            <a:ext cx="3650000" cy="610000"/>
          </a:xfrm>
          <a:prstGeom prst="roundRect">
            <a:avLst>
              <a:gd name="adj" fmla="val 5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394360" y="4464712"/>
            <a:ext cx="60000" cy="61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484360" y="4624712"/>
            <a:ext cx="340000" cy="34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ea typeface="Noto Sans CJK SC"/>
                <a:cs typeface="Noto Sans CJK SC"/>
              </a:rPr>
              <a:t>02</a:t>
            </a:r>
          </a:p>
        </p:txBody>
      </p:sp>
      <p:sp>
        <p:nvSpPr>
          <p:cNvPr id="42" name="TextBox 41"/>
          <p:cNvSpPr txBox="1"/>
          <p:nvPr/>
        </p:nvSpPr>
        <p:spPr>
          <a:xfrm>
            <a:off x="4534360" y="4544712"/>
            <a:ext cx="3050000" cy="260000"/>
          </a:xfrm>
          <a:prstGeom prst="rect">
            <a:avLst/>
          </a:prstGeom>
          <a:noFill/>
          <a:ln>
            <a:noFill/>
          </a:ln>
        </p:spPr>
        <p:txBody>
          <a:bodyPr wrap="square" anchor="t">
            <a:spAutoFit/>
          </a:bodyPr>
          <a:lstStyle/>
          <a:p>
            <a:pPr algn="l"/>
            <a:r>
              <a:rPr sz="1200" b="1">
                <a:ea typeface="Noto Sans CJK SC"/>
                <a:cs typeface="Noto Sans CJK SC"/>
              </a:rPr>
              <a:t>不以 "联盟" 之名进行非法集资</a:t>
            </a:r>
          </a:p>
        </p:txBody>
      </p:sp>
      <p:sp>
        <p:nvSpPr>
          <p:cNvPr id="43" name="TextBox 42"/>
          <p:cNvSpPr txBox="1"/>
          <p:nvPr/>
        </p:nvSpPr>
        <p:spPr>
          <a:xfrm>
            <a:off x="4534360" y="4804712"/>
            <a:ext cx="3510000" cy="240000"/>
          </a:xfrm>
          <a:prstGeom prst="rect">
            <a:avLst/>
          </a:prstGeom>
          <a:noFill/>
          <a:ln>
            <a:noFill/>
          </a:ln>
        </p:spPr>
        <p:txBody>
          <a:bodyPr wrap="square" anchor="t">
            <a:spAutoFit/>
          </a:bodyPr>
          <a:lstStyle/>
          <a:p>
            <a:pPr algn="l"/>
            <a:r>
              <a:rPr sz="900" b="0">
                <a:ea typeface="Noto Sans CJK SC"/>
                <a:cs typeface="Noto Sans CJK SC"/>
              </a:rPr>
              <a:t>No illegal fundraising under the Alliance</a:t>
            </a:r>
          </a:p>
        </p:txBody>
      </p:sp>
      <p:sp>
        <p:nvSpPr>
          <p:cNvPr id="44" name="Rounded Rectangle 43"/>
          <p:cNvSpPr/>
          <p:nvPr/>
        </p:nvSpPr>
        <p:spPr>
          <a:xfrm>
            <a:off x="8194360" y="4464712"/>
            <a:ext cx="3650000" cy="610000"/>
          </a:xfrm>
          <a:prstGeom prst="roundRect">
            <a:avLst>
              <a:gd name="adj" fmla="val 5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194360" y="4464712"/>
            <a:ext cx="60000" cy="61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284360" y="4624712"/>
            <a:ext cx="340000" cy="34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ea typeface="Noto Sans CJK SC"/>
                <a:cs typeface="Noto Sans CJK SC"/>
              </a:rPr>
              <a:t>03</a:t>
            </a:r>
          </a:p>
        </p:txBody>
      </p:sp>
      <p:sp>
        <p:nvSpPr>
          <p:cNvPr id="47" name="TextBox 46"/>
          <p:cNvSpPr txBox="1"/>
          <p:nvPr/>
        </p:nvSpPr>
        <p:spPr>
          <a:xfrm>
            <a:off x="8334360" y="4544712"/>
            <a:ext cx="3050000" cy="260000"/>
          </a:xfrm>
          <a:prstGeom prst="rect">
            <a:avLst/>
          </a:prstGeom>
          <a:noFill/>
          <a:ln>
            <a:noFill/>
          </a:ln>
        </p:spPr>
        <p:txBody>
          <a:bodyPr wrap="square" anchor="t">
            <a:spAutoFit/>
          </a:bodyPr>
          <a:lstStyle/>
          <a:p>
            <a:pPr algn="l"/>
            <a:r>
              <a:rPr sz="1200" b="1">
                <a:ea typeface="Noto Sans CJK SC"/>
                <a:cs typeface="Noto Sans CJK SC"/>
              </a:rPr>
              <a:t>不以技术服务之名规避金融监管</a:t>
            </a:r>
          </a:p>
        </p:txBody>
      </p:sp>
      <p:sp>
        <p:nvSpPr>
          <p:cNvPr id="48" name="TextBox 47"/>
          <p:cNvSpPr txBox="1"/>
          <p:nvPr/>
        </p:nvSpPr>
        <p:spPr>
          <a:xfrm>
            <a:off x="8334360" y="4804712"/>
            <a:ext cx="3510000" cy="240000"/>
          </a:xfrm>
          <a:prstGeom prst="rect">
            <a:avLst/>
          </a:prstGeom>
          <a:noFill/>
          <a:ln>
            <a:noFill/>
          </a:ln>
        </p:spPr>
        <p:txBody>
          <a:bodyPr wrap="square" anchor="t">
            <a:spAutoFit/>
          </a:bodyPr>
          <a:lstStyle/>
          <a:p>
            <a:pPr algn="l"/>
            <a:r>
              <a:rPr sz="900" b="0">
                <a:ea typeface="Noto Sans CJK SC"/>
                <a:cs typeface="Noto Sans CJK SC"/>
              </a:rPr>
              <a:t>No circumvention of financial regulation</a:t>
            </a:r>
          </a:p>
        </p:txBody>
      </p:sp>
      <p:sp>
        <p:nvSpPr>
          <p:cNvPr id="49" name="Rounded Rectangle 48"/>
          <p:cNvSpPr/>
          <p:nvPr/>
        </p:nvSpPr>
        <p:spPr>
          <a:xfrm>
            <a:off x="594360" y="5104712"/>
            <a:ext cx="3650000" cy="610000"/>
          </a:xfrm>
          <a:prstGeom prst="roundRect">
            <a:avLst>
              <a:gd name="adj" fmla="val 5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94360" y="5104712"/>
            <a:ext cx="60000" cy="61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3684360" y="5264712"/>
            <a:ext cx="340000" cy="34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ea typeface="Noto Sans CJK SC"/>
                <a:cs typeface="Noto Sans CJK SC"/>
              </a:rPr>
              <a:t>04</a:t>
            </a:r>
          </a:p>
        </p:txBody>
      </p:sp>
      <p:sp>
        <p:nvSpPr>
          <p:cNvPr id="52" name="TextBox 51"/>
          <p:cNvSpPr txBox="1"/>
          <p:nvPr/>
        </p:nvSpPr>
        <p:spPr>
          <a:xfrm>
            <a:off x="734360" y="5184712"/>
            <a:ext cx="3050000" cy="260000"/>
          </a:xfrm>
          <a:prstGeom prst="rect">
            <a:avLst/>
          </a:prstGeom>
          <a:noFill/>
          <a:ln>
            <a:noFill/>
          </a:ln>
        </p:spPr>
        <p:txBody>
          <a:bodyPr wrap="square" anchor="t">
            <a:spAutoFit/>
          </a:bodyPr>
          <a:lstStyle/>
          <a:p>
            <a:pPr algn="l"/>
            <a:r>
              <a:rPr sz="1200" b="1">
                <a:ea typeface="Noto Sans CJK SC"/>
                <a:cs typeface="Noto Sans CJK SC"/>
              </a:rPr>
              <a:t>不以历史业绩误导投资者</a:t>
            </a:r>
          </a:p>
        </p:txBody>
      </p:sp>
      <p:sp>
        <p:nvSpPr>
          <p:cNvPr id="53" name="TextBox 52"/>
          <p:cNvSpPr txBox="1"/>
          <p:nvPr/>
        </p:nvSpPr>
        <p:spPr>
          <a:xfrm>
            <a:off x="734360" y="5444712"/>
            <a:ext cx="3510000" cy="240000"/>
          </a:xfrm>
          <a:prstGeom prst="rect">
            <a:avLst/>
          </a:prstGeom>
          <a:noFill/>
          <a:ln>
            <a:noFill/>
          </a:ln>
        </p:spPr>
        <p:txBody>
          <a:bodyPr wrap="square" anchor="t">
            <a:spAutoFit/>
          </a:bodyPr>
          <a:lstStyle/>
          <a:p>
            <a:pPr algn="l"/>
            <a:r>
              <a:rPr sz="900" b="0">
                <a:ea typeface="Noto Sans CJK SC"/>
                <a:cs typeface="Noto Sans CJK SC"/>
              </a:rPr>
              <a:t>No misrepresentation of historical performance</a:t>
            </a:r>
          </a:p>
        </p:txBody>
      </p:sp>
      <p:sp>
        <p:nvSpPr>
          <p:cNvPr id="54" name="Rounded Rectangle 53"/>
          <p:cNvSpPr/>
          <p:nvPr/>
        </p:nvSpPr>
        <p:spPr>
          <a:xfrm>
            <a:off x="4394360" y="5104712"/>
            <a:ext cx="3650000" cy="610000"/>
          </a:xfrm>
          <a:prstGeom prst="roundRect">
            <a:avLst>
              <a:gd name="adj" fmla="val 5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394360" y="5104712"/>
            <a:ext cx="60000" cy="61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484360" y="5264712"/>
            <a:ext cx="340000" cy="34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ea typeface="Noto Sans CJK SC"/>
                <a:cs typeface="Noto Sans CJK SC"/>
              </a:rPr>
              <a:t>05</a:t>
            </a:r>
          </a:p>
        </p:txBody>
      </p:sp>
      <p:sp>
        <p:nvSpPr>
          <p:cNvPr id="57" name="TextBox 56"/>
          <p:cNvSpPr txBox="1"/>
          <p:nvPr/>
        </p:nvSpPr>
        <p:spPr>
          <a:xfrm>
            <a:off x="4534360" y="5184712"/>
            <a:ext cx="3050000" cy="260000"/>
          </a:xfrm>
          <a:prstGeom prst="rect">
            <a:avLst/>
          </a:prstGeom>
          <a:noFill/>
          <a:ln>
            <a:noFill/>
          </a:ln>
        </p:spPr>
        <p:txBody>
          <a:bodyPr wrap="square" anchor="t">
            <a:spAutoFit/>
          </a:bodyPr>
          <a:lstStyle/>
          <a:p>
            <a:pPr algn="l"/>
            <a:r>
              <a:rPr sz="1200" b="1">
                <a:ea typeface="Noto Sans CJK SC"/>
                <a:cs typeface="Noto Sans CJK SC"/>
              </a:rPr>
              <a:t>坚持真实、准确、完整的信息披露</a:t>
            </a:r>
          </a:p>
        </p:txBody>
      </p:sp>
      <p:sp>
        <p:nvSpPr>
          <p:cNvPr id="58" name="TextBox 57"/>
          <p:cNvSpPr txBox="1"/>
          <p:nvPr/>
        </p:nvSpPr>
        <p:spPr>
          <a:xfrm>
            <a:off x="4534360" y="5444712"/>
            <a:ext cx="3510000" cy="240000"/>
          </a:xfrm>
          <a:prstGeom prst="rect">
            <a:avLst/>
          </a:prstGeom>
          <a:noFill/>
          <a:ln>
            <a:noFill/>
          </a:ln>
        </p:spPr>
        <p:txBody>
          <a:bodyPr wrap="square" anchor="t">
            <a:spAutoFit/>
          </a:bodyPr>
          <a:lstStyle/>
          <a:p>
            <a:pPr algn="l"/>
            <a:r>
              <a:rPr sz="900" b="0">
                <a:ea typeface="Noto Sans CJK SC"/>
                <a:cs typeface="Noto Sans CJK SC"/>
              </a:rPr>
              <a:t>Truthful, accurate and complete disclosure</a:t>
            </a:r>
          </a:p>
        </p:txBody>
      </p:sp>
      <p:sp>
        <p:nvSpPr>
          <p:cNvPr id="59" name="Rounded Rectangle 58"/>
          <p:cNvSpPr/>
          <p:nvPr/>
        </p:nvSpPr>
        <p:spPr>
          <a:xfrm>
            <a:off x="8194360" y="5104712"/>
            <a:ext cx="3650000" cy="610000"/>
          </a:xfrm>
          <a:prstGeom prst="roundRect">
            <a:avLst>
              <a:gd name="adj" fmla="val 5000"/>
            </a:avLst>
          </a:prstGeom>
          <a:solidFill>
            <a:schemeClr val="bg1"/>
          </a:solidFill>
          <a:ln w="9525">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194360" y="5104712"/>
            <a:ext cx="60000" cy="610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1284360" y="5264712"/>
            <a:ext cx="340000" cy="340000"/>
          </a:xfrm>
          <a:prstGeom prst="ellipse">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ea typeface="Noto Sans CJK SC"/>
                <a:cs typeface="Noto Sans CJK SC"/>
              </a:rPr>
              <a:t>06</a:t>
            </a:r>
          </a:p>
        </p:txBody>
      </p:sp>
      <p:sp>
        <p:nvSpPr>
          <p:cNvPr id="62" name="TextBox 61"/>
          <p:cNvSpPr txBox="1"/>
          <p:nvPr/>
        </p:nvSpPr>
        <p:spPr>
          <a:xfrm>
            <a:off x="8334360" y="5184712"/>
            <a:ext cx="3050000" cy="260000"/>
          </a:xfrm>
          <a:prstGeom prst="rect">
            <a:avLst/>
          </a:prstGeom>
          <a:noFill/>
          <a:ln>
            <a:noFill/>
          </a:ln>
        </p:spPr>
        <p:txBody>
          <a:bodyPr wrap="square" anchor="t">
            <a:spAutoFit/>
          </a:bodyPr>
          <a:lstStyle/>
          <a:p>
            <a:pPr algn="l"/>
            <a:r>
              <a:rPr sz="1200" b="1">
                <a:ea typeface="Noto Sans CJK SC"/>
                <a:cs typeface="Noto Sans CJK SC"/>
              </a:rPr>
              <a:t>坚持持续合规评估与制度更新</a:t>
            </a:r>
          </a:p>
        </p:txBody>
      </p:sp>
      <p:sp>
        <p:nvSpPr>
          <p:cNvPr id="63" name="TextBox 62"/>
          <p:cNvSpPr txBox="1"/>
          <p:nvPr/>
        </p:nvSpPr>
        <p:spPr>
          <a:xfrm>
            <a:off x="8334360" y="5444712"/>
            <a:ext cx="3510000" cy="240000"/>
          </a:xfrm>
          <a:prstGeom prst="rect">
            <a:avLst/>
          </a:prstGeom>
          <a:noFill/>
          <a:ln>
            <a:noFill/>
          </a:ln>
        </p:spPr>
        <p:txBody>
          <a:bodyPr wrap="square" anchor="t">
            <a:spAutoFit/>
          </a:bodyPr>
          <a:lstStyle/>
          <a:p>
            <a:pPr algn="l"/>
            <a:r>
              <a:rPr sz="900" b="0">
                <a:ea typeface="Noto Sans CJK SC"/>
                <a:cs typeface="Noto Sans CJK SC"/>
              </a:rPr>
              <a:t>Continuous compliance review and updates</a:t>
            </a:r>
          </a:p>
        </p:txBody>
      </p:sp>
      <p:sp>
        <p:nvSpPr>
          <p:cNvPr id="66" name="TextBox 65"/>
          <p:cNvSpPr txBox="1"/>
          <p:nvPr/>
        </p:nvSpPr>
        <p:spPr>
          <a:xfrm>
            <a:off x="594360" y="6870920"/>
            <a:ext cx="11018520" cy="320040"/>
          </a:xfrm>
          <a:prstGeom prst="rect">
            <a:avLst/>
          </a:prstGeom>
          <a:noFill/>
          <a:ln>
            <a:noFill/>
          </a:ln>
        </p:spPr>
        <p:txBody>
          <a:bodyPr wrap="square" anchor="t">
            <a:spAutoFit/>
          </a:bodyPr>
          <a:lstStyle/>
          <a:p>
            <a:pPr algn="l"/>
            <a:r>
              <a:rPr sz="1333" b="0">
                <a:ea typeface="Noto Sans CJK SC"/>
                <a:cs typeface="Noto Sans CJK SC"/>
              </a:rPr>
              <a:t>道一（江苏）资产管理有限公司  ·  2026  ·  内部资料，仅供合作评估使用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64</TotalTime>
  <Words>2552</Words>
  <Application>Microsoft Office PowerPoint</Application>
  <PresentationFormat>Widescreen</PresentationFormat>
  <Paragraphs>508</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Noto Sans CJK SC</vt:lpstr>
      <vt:lpstr>Noto Sans SC Black</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Jiang Ding</dc:creator>
  <cp:keywords/>
  <dc:description>generated using python-pptx</dc:description>
  <cp:lastModifiedBy>yu sun</cp:lastModifiedBy>
  <cp:revision>12</cp:revision>
  <dcterms:created xsi:type="dcterms:W3CDTF">2013-01-27T09:14:16Z</dcterms:created>
  <dcterms:modified xsi:type="dcterms:W3CDTF">2026-09-06T20:07:05Z</dcterms:modified>
  <cp:category/>
</cp:coreProperties>
</file>